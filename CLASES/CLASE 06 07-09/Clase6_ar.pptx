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webp&amp;w=1920&amp;q=75"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5"/>
  </p:notesMasterIdLst>
  <p:sldIdLst>
    <p:sldId id="256" r:id="rId2"/>
    <p:sldId id="258" r:id="rId3"/>
    <p:sldId id="285" r:id="rId4"/>
    <p:sldId id="288" r:id="rId5"/>
    <p:sldId id="259" r:id="rId6"/>
    <p:sldId id="286" r:id="rId7"/>
    <p:sldId id="287" r:id="rId8"/>
    <p:sldId id="289" r:id="rId9"/>
    <p:sldId id="290" r:id="rId10"/>
    <p:sldId id="291" r:id="rId11"/>
    <p:sldId id="292" r:id="rId12"/>
    <p:sldId id="293" r:id="rId13"/>
    <p:sldId id="260" r:id="rId14"/>
    <p:sldId id="299" r:id="rId15"/>
    <p:sldId id="294" r:id="rId16"/>
    <p:sldId id="298" r:id="rId17"/>
    <p:sldId id="262" r:id="rId18"/>
    <p:sldId id="263" r:id="rId19"/>
    <p:sldId id="295" r:id="rId20"/>
    <p:sldId id="296" r:id="rId21"/>
    <p:sldId id="297" r:id="rId22"/>
    <p:sldId id="301" r:id="rId23"/>
    <p:sldId id="307" r:id="rId24"/>
    <p:sldId id="318" r:id="rId25"/>
    <p:sldId id="308" r:id="rId26"/>
    <p:sldId id="309" r:id="rId27"/>
    <p:sldId id="310" r:id="rId28"/>
    <p:sldId id="311" r:id="rId29"/>
    <p:sldId id="261" r:id="rId30"/>
    <p:sldId id="312" r:id="rId31"/>
    <p:sldId id="320" r:id="rId32"/>
    <p:sldId id="319" r:id="rId33"/>
    <p:sldId id="313" r:id="rId34"/>
    <p:sldId id="314" r:id="rId35"/>
    <p:sldId id="315" r:id="rId36"/>
    <p:sldId id="316" r:id="rId37"/>
    <p:sldId id="317" r:id="rId38"/>
    <p:sldId id="322" r:id="rId39"/>
    <p:sldId id="328" r:id="rId40"/>
    <p:sldId id="323" r:id="rId41"/>
    <p:sldId id="324" r:id="rId42"/>
    <p:sldId id="325" r:id="rId43"/>
    <p:sldId id="326" r:id="rId44"/>
    <p:sldId id="327" r:id="rId45"/>
    <p:sldId id="329" r:id="rId46"/>
    <p:sldId id="335" r:id="rId47"/>
    <p:sldId id="330" r:id="rId48"/>
    <p:sldId id="331" r:id="rId49"/>
    <p:sldId id="332" r:id="rId50"/>
    <p:sldId id="333" r:id="rId51"/>
    <p:sldId id="334" r:id="rId52"/>
    <p:sldId id="302" r:id="rId53"/>
    <p:sldId id="284" r:id="rId54"/>
    <p:sldId id="303" r:id="rId55"/>
    <p:sldId id="304" r:id="rId56"/>
    <p:sldId id="267" r:id="rId57"/>
    <p:sldId id="268" r:id="rId58"/>
    <p:sldId id="266" r:id="rId59"/>
    <p:sldId id="279" r:id="rId60"/>
    <p:sldId id="280" r:id="rId61"/>
    <p:sldId id="336" r:id="rId62"/>
    <p:sldId id="337" r:id="rId63"/>
    <p:sldId id="281" r:id="rId6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0" d="100"/>
          <a:sy n="60" d="100"/>
        </p:scale>
        <p:origin x="96" y="4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54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E90E6-529B-7282-C4FD-6CFF574966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B0D529-EDB9-C3BC-58E8-F6EAA251C0E8}"/>
              </a:ext>
            </a:extLst>
          </p:cNvPr>
          <p:cNvSpPr>
            <a:spLocks noGrp="1" noRot="1" noChangeAspect="1"/>
          </p:cNvSpPr>
          <p:nvPr>
            <p:ph type="sldImg"/>
          </p:nvPr>
        </p:nvSpPr>
        <p:spPr/>
        <p:txBody>
          <a:bodyPr/>
          <a:lstStyle/>
          <a:p>
            <a:endParaRPr lang="es-AR"/>
          </a:p>
        </p:txBody>
      </p:sp>
      <p:sp>
        <p:nvSpPr>
          <p:cNvPr id="3" name="Notes Placeholder 2">
            <a:extLst>
              <a:ext uri="{FF2B5EF4-FFF2-40B4-BE49-F238E27FC236}">
                <a16:creationId xmlns:a16="http://schemas.microsoft.com/office/drawing/2014/main" id="{0CC49DF1-DB8D-0B88-8160-94452EC0F4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25A595-ED64-77FC-B156-5A33FF9CB2F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54443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3106-73C4-7AA0-09D1-5E2703AF4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22415-BA72-159B-B9BB-C5117E2FEFD9}"/>
              </a:ext>
            </a:extLst>
          </p:cNvPr>
          <p:cNvSpPr>
            <a:spLocks noGrp="1" noRot="1" noChangeAspect="1"/>
          </p:cNvSpPr>
          <p:nvPr>
            <p:ph type="sldImg"/>
          </p:nvPr>
        </p:nvSpPr>
        <p:spPr/>
        <p:txBody>
          <a:bodyPr/>
          <a:lstStyle/>
          <a:p>
            <a:endParaRPr lang="es-AR"/>
          </a:p>
        </p:txBody>
      </p:sp>
      <p:sp>
        <p:nvSpPr>
          <p:cNvPr id="3" name="Notes Placeholder 2">
            <a:extLst>
              <a:ext uri="{FF2B5EF4-FFF2-40B4-BE49-F238E27FC236}">
                <a16:creationId xmlns:a16="http://schemas.microsoft.com/office/drawing/2014/main" id="{D6A20571-9ECD-58D8-7E85-031375855D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F7DC99-CAE4-2E67-3CEF-6DEB9586D7C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1299049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3E22E-1D24-30FB-9B6D-0B1285BD2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F73B0-53B8-4481-D871-F50F43C15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D6FC50-C4CA-6A8D-E6E5-5972CE7906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59CE88-BF68-53F7-64F7-A0A9DF76062E}"/>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840327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249A4-D8B4-DE68-4B63-AA6DE33A9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20BDA-EA54-451F-D051-9C8A61A7AF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07E46E-B162-54ED-CBE2-25A77118D3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D9EA9A-8B26-7BF7-3440-69829E060CC4}"/>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2776708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9019E-EC50-1A6F-85DE-3C15C8D8A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591F2-9224-BDE3-0017-93C761DFBA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A91DE9-AEFA-2FBF-5DD6-0C70675969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2372CD-2B70-CA6B-041E-3A1D21B6C960}"/>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5097383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FF06E-A9FB-6637-7F9D-6D34B11D85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2B589-1768-C195-60AB-17C48F81E6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93F5E-C1A8-6448-E522-3100156B24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36394F-AA5E-E63B-92B9-7BEBBDEB21B7}"/>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547456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437EA-5A14-69E9-272C-100A78659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753D7-34BB-0DCD-F064-2B01732B5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42B81-C5A1-2844-F447-E4243C3EB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C090DB-8D41-5F8C-BEC9-0B08BD39490F}"/>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2670793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F72B5-FC37-CAC2-AABB-B808F366E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1CA04-BFA7-8D51-0346-6CA7AEF1D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0CFF7-34CA-DEA9-9307-4AF3C31042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F44F94-640F-8C30-2055-4C223D63356C}"/>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421092031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99D53-0305-0943-1570-0C543EA33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34D94-F57D-16C3-9E5F-26CB46D68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CADAF-0EAB-7EB0-BCD2-FB3510B108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678A47-1708-6624-7F21-51B3296A8051}"/>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29683952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4.png"/><Relationship Id="rId4"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5.png"/><Relationship Id="rId4"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6.png"/><Relationship Id="rId4"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7.png"/><Relationship Id="rId4"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8.png"/><Relationship Id="rId4"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hyperlink" Target="https://n9.cl/tgifc" TargetMode="External"/><Relationship Id="rId2" Type="http://schemas.openxmlformats.org/officeDocument/2006/relationships/image" Target="../media/image9.webp&amp;w=1920&amp;q=75"/><Relationship Id="rId1" Type="http://schemas.openxmlformats.org/officeDocument/2006/relationships/slideLayout" Target="../slideLayouts/slideLayout1.xml"/><Relationship Id="rId4" Type="http://schemas.openxmlformats.org/officeDocument/2006/relationships/hyperlink" Target="https://claude.ai/code/artifact/cec673f2-6263-46ae-a05a-b16f6326cc07"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8.mp4"/><Relationship Id="rId1" Type="http://schemas.microsoft.com/office/2007/relationships/media" Target="../media/media8.mp4"/><Relationship Id="rId4" Type="http://schemas.openxmlformats.org/officeDocument/2006/relationships/image" Target="../media/image10.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263876"/>
          </a:solidFill>
          <a:ln/>
        </p:spPr>
        <p:txBody>
          <a:bodyPr/>
          <a:lstStyle/>
          <a:p>
            <a:endParaRPr lang="es-AR"/>
          </a:p>
        </p:txBody>
      </p:sp>
      <p:sp>
        <p:nvSpPr>
          <p:cNvPr id="3" name="Shape 1"/>
          <p:cNvSpPr/>
          <p:nvPr/>
        </p:nvSpPr>
        <p:spPr>
          <a:xfrm>
            <a:off x="-1828800" y="4114800"/>
            <a:ext cx="4572000" cy="4572000"/>
          </a:xfrm>
          <a:prstGeom prst="ellipse">
            <a:avLst/>
          </a:prstGeom>
          <a:solidFill>
            <a:srgbClr val="182253"/>
          </a:solidFill>
          <a:ln/>
        </p:spPr>
        <p:txBody>
          <a:bodyPr/>
          <a:lstStyle/>
          <a:p>
            <a:endParaRPr lang="es-AR"/>
          </a:p>
        </p:txBody>
      </p:sp>
      <p:sp>
        <p:nvSpPr>
          <p:cNvPr id="4" name="Text 2"/>
          <p:cNvSpPr txBox="1"/>
          <p:nvPr/>
        </p:nvSpPr>
        <p:spPr>
          <a:xfrm>
            <a:off x="640080" y="914400"/>
            <a:ext cx="10058400" cy="365760"/>
          </a:xfrm>
          <a:prstGeom prst="rect">
            <a:avLst/>
          </a:prstGeom>
          <a:noFill/>
          <a:ln/>
        </p:spPr>
        <p:txBody>
          <a:bodyPr wrap="square" lIns="0" tIns="0" rIns="0" bIns="0"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ALGORITMOS Y ESTRUCTURAS DE DATOS II  —  3.4.229</a:t>
            </a:r>
            <a:endParaRPr lang="en-US" sz="1400" dirty="0"/>
          </a:p>
        </p:txBody>
      </p:sp>
      <p:sp>
        <p:nvSpPr>
          <p:cNvPr id="5" name="Text 3"/>
          <p:cNvSpPr txBox="1"/>
          <p:nvPr/>
        </p:nvSpPr>
        <p:spPr>
          <a:xfrm>
            <a:off x="640080" y="1371600"/>
            <a:ext cx="10058400" cy="9144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Clase 6</a:t>
            </a:r>
            <a:endParaRPr lang="en-US" sz="5400" dirty="0"/>
          </a:p>
        </p:txBody>
      </p:sp>
      <p:sp>
        <p:nvSpPr>
          <p:cNvPr id="6" name="Text 4"/>
          <p:cNvSpPr txBox="1"/>
          <p:nvPr/>
        </p:nvSpPr>
        <p:spPr>
          <a:xfrm>
            <a:off x="640080" y="2377440"/>
            <a:ext cx="9784080" cy="1005840"/>
          </a:xfrm>
          <a:prstGeom prst="rect">
            <a:avLst/>
          </a:prstGeom>
          <a:noFill/>
          <a:ln/>
        </p:spPr>
        <p:txBody>
          <a:bodyPr wrap="square" lIns="0" tIns="0" rIns="0" bIns="0" rtlCol="0" anchor="t"/>
          <a:lstStyle/>
          <a:p>
            <a:pPr marL="0" indent="0">
              <a:buNone/>
            </a:pPr>
            <a:r>
              <a:rPr lang="en-US" sz="2000" dirty="0">
                <a:solidFill>
                  <a:srgbClr val="CADCFC"/>
                </a:solidFill>
                <a:latin typeface="Calibri" pitchFamily="34" charset="0"/>
                <a:ea typeface="Calibri" pitchFamily="34" charset="-122"/>
                <a:cs typeface="Calibri" pitchFamily="34" charset="-120"/>
              </a:rPr>
              <a:t>Ejercitación: clase de repaso previa al 1er Parcial</a:t>
            </a:r>
            <a:endParaRPr lang="en-US" sz="2000" dirty="0"/>
          </a:p>
          <a:p>
            <a:pPr marL="0" indent="0">
              <a:buNone/>
            </a:pPr>
            <a:r>
              <a:rPr lang="en-US" sz="2000" dirty="0">
                <a:solidFill>
                  <a:srgbClr val="CADCFC"/>
                </a:solidFill>
                <a:latin typeface="Calibri" pitchFamily="34" charset="0"/>
                <a:ea typeface="Calibri" pitchFamily="34" charset="-122"/>
                <a:cs typeface="Calibri" pitchFamily="34" charset="-120"/>
              </a:rPr>
              <a:t>Repaso integrador de las Unidades I a IV</a:t>
            </a:r>
            <a:endParaRPr lang="en-US" sz="2000" dirty="0"/>
          </a:p>
        </p:txBody>
      </p:sp>
      <p:sp>
        <p:nvSpPr>
          <p:cNvPr id="7" name="Shape 5"/>
          <p:cNvSpPr/>
          <p:nvPr/>
        </p:nvSpPr>
        <p:spPr>
          <a:xfrm>
            <a:off x="640080" y="3657600"/>
            <a:ext cx="2377440" cy="365760"/>
          </a:xfrm>
          <a:prstGeom prst="roundRect">
            <a:avLst>
              <a:gd name="adj" fmla="val 20000"/>
            </a:avLst>
          </a:prstGeom>
          <a:solidFill>
            <a:srgbClr val="E8A33D"/>
          </a:solidFill>
          <a:ln/>
        </p:spPr>
        <p:txBody>
          <a:bodyPr/>
          <a:lstStyle/>
          <a:p>
            <a:endParaRPr lang="es-AR"/>
          </a:p>
        </p:txBody>
      </p:sp>
      <p:sp>
        <p:nvSpPr>
          <p:cNvPr id="8" name="Text 6"/>
          <p:cNvSpPr txBox="1"/>
          <p:nvPr/>
        </p:nvSpPr>
        <p:spPr>
          <a:xfrm>
            <a:off x="640080" y="3657600"/>
            <a:ext cx="23774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DURACIÓN: 4 HORAS</a:t>
            </a:r>
            <a:endParaRPr lang="en-US" sz="1200" dirty="0"/>
          </a:p>
        </p:txBody>
      </p:sp>
      <p:sp>
        <p:nvSpPr>
          <p:cNvPr id="9" name="Shape 7"/>
          <p:cNvSpPr/>
          <p:nvPr/>
        </p:nvSpPr>
        <p:spPr>
          <a:xfrm>
            <a:off x="3200400" y="3657600"/>
            <a:ext cx="1737360" cy="365760"/>
          </a:xfrm>
          <a:prstGeom prst="roundRect">
            <a:avLst>
              <a:gd name="adj" fmla="val 20000"/>
            </a:avLst>
          </a:prstGeom>
          <a:solidFill>
            <a:srgbClr val="3A4A9E"/>
          </a:solidFill>
          <a:ln/>
        </p:spPr>
        <p:txBody>
          <a:bodyPr/>
          <a:lstStyle/>
          <a:p>
            <a:endParaRPr lang="es-AR"/>
          </a:p>
        </p:txBody>
      </p:sp>
      <p:sp>
        <p:nvSpPr>
          <p:cNvPr id="10" name="Text 8"/>
          <p:cNvSpPr txBox="1"/>
          <p:nvPr/>
        </p:nvSpPr>
        <p:spPr>
          <a:xfrm>
            <a:off x="3200400" y="365760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UNIDADES I-IV</a:t>
            </a:r>
            <a:endParaRPr lang="en-US" sz="1200" dirty="0"/>
          </a:p>
        </p:txBody>
      </p:sp>
      <p:sp>
        <p:nvSpPr>
          <p:cNvPr id="11" name="Text 9"/>
          <p:cNvSpPr txBox="1"/>
          <p:nvPr/>
        </p:nvSpPr>
        <p:spPr>
          <a:xfrm>
            <a:off x="640080" y="6035040"/>
            <a:ext cx="731520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Docente: Maximiliano Coedo</a:t>
            </a:r>
            <a:endParaRPr lang="en-US" sz="1300" dirty="0"/>
          </a:p>
        </p:txBody>
      </p:sp>
      <p:sp>
        <p:nvSpPr>
          <p:cNvPr id="12" name="Text 10"/>
          <p:cNvSpPr txBox="1"/>
          <p:nvPr/>
        </p:nvSpPr>
        <p:spPr>
          <a:xfrm>
            <a:off x="640080" y="6355080"/>
            <a:ext cx="7315200" cy="365760"/>
          </a:xfrm>
          <a:prstGeom prst="rect">
            <a:avLst/>
          </a:prstGeom>
          <a:noFill/>
          <a:ln/>
        </p:spPr>
        <p:txBody>
          <a:bodyPr wrap="square" lIns="0" tIns="0" rIns="0" bIns="0" rtlCol="0" anchor="ctr"/>
          <a:lstStyle/>
          <a:p>
            <a:pPr marL="0" indent="0">
              <a:buNone/>
            </a:pPr>
            <a:r>
              <a:rPr lang="en-US" sz="1200" dirty="0">
                <a:solidFill>
                  <a:srgbClr val="8C9BD6"/>
                </a:solidFill>
                <a:latin typeface="Calibri" pitchFamily="34" charset="0"/>
                <a:ea typeface="Calibri" pitchFamily="34" charset="-122"/>
                <a:cs typeface="Calibri" pitchFamily="34" charset="-120"/>
              </a:rPr>
              <a:t>FAIN — UADE  |  2do Cuatrimestre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114800" cy="4114800"/>
          </a:xfrm>
          <a:prstGeom prst="ellipse">
            <a:avLst/>
          </a:prstGeom>
          <a:solidFill>
            <a:srgbClr val="263876"/>
          </a:solidFill>
          <a:ln/>
        </p:spPr>
        <p:txBody>
          <a:bodyPr/>
          <a:lstStyle/>
          <a:p>
            <a:endParaRPr lang="es-AR"/>
          </a:p>
        </p:txBody>
      </p:sp>
      <p:sp>
        <p:nvSpPr>
          <p:cNvPr id="3" name="Text 1"/>
          <p:cNvSpPr txBox="1"/>
          <p:nvPr/>
        </p:nvSpPr>
        <p:spPr>
          <a:xfrm>
            <a:off x="731520" y="2468880"/>
            <a:ext cx="7315200" cy="365760"/>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BLOQUE 1</a:t>
            </a:r>
            <a:endParaRPr lang="en-US" sz="1400" dirty="0"/>
          </a:p>
        </p:txBody>
      </p:sp>
      <p:sp>
        <p:nvSpPr>
          <p:cNvPr id="4" name="Text 2"/>
          <p:cNvSpPr txBox="1"/>
          <p:nvPr/>
        </p:nvSpPr>
        <p:spPr>
          <a:xfrm>
            <a:off x="731520" y="2834640"/>
            <a:ext cx="10058400" cy="12801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Repaso general: Unidades I a IV</a:t>
            </a:r>
            <a:endParaRPr lang="en-US" sz="3400" dirty="0"/>
          </a:p>
        </p:txBody>
      </p:sp>
      <p:sp>
        <p:nvSpPr>
          <p:cNvPr id="5" name="Text 3"/>
          <p:cNvSpPr txBox="1"/>
          <p:nvPr/>
        </p:nvSpPr>
        <p:spPr>
          <a:xfrm>
            <a:off x="457200" y="6537960"/>
            <a:ext cx="8229600" cy="274320"/>
          </a:xfrm>
          <a:prstGeom prst="rect">
            <a:avLst/>
          </a:prstGeom>
          <a:noFill/>
          <a:ln/>
        </p:spPr>
        <p:txBody>
          <a:bodyPr wrap="square" lIns="0" tIns="0" rIns="0" bIns="0" rtlCol="0" anchor="ctr"/>
          <a:lstStyle/>
          <a:p>
            <a:pPr marL="0" indent="0" algn="l">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6" name="Text 4"/>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2</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Los tres componentes de un TDA</a:t>
            </a:r>
            <a:endParaRPr lang="es-AR" sz="3000" noProof="0" dirty="0"/>
          </a:p>
        </p:txBody>
      </p:sp>
      <p:sp>
        <p:nvSpPr>
          <p:cNvPr id="4" name="Shape 2"/>
          <p:cNvSpPr/>
          <p:nvPr/>
        </p:nvSpPr>
        <p:spPr>
          <a:xfrm>
            <a:off x="548640" y="1554480"/>
            <a:ext cx="10881360" cy="1234440"/>
          </a:xfrm>
          <a:prstGeom prst="roundRect">
            <a:avLst>
              <a:gd name="adj" fmla="val 7407"/>
            </a:avLst>
          </a:prstGeom>
          <a:solidFill>
            <a:srgbClr val="F5F7FC"/>
          </a:solidFill>
          <a:ln w="12700">
            <a:solidFill>
              <a:srgbClr val="CADCFC"/>
            </a:solidFill>
            <a:prstDash val="solid"/>
          </a:ln>
        </p:spPr>
        <p:txBody>
          <a:bodyPr/>
          <a:lstStyle/>
          <a:p>
            <a:endParaRPr lang="es-AR" noProof="0" dirty="0"/>
          </a:p>
        </p:txBody>
      </p:sp>
      <p:sp>
        <p:nvSpPr>
          <p:cNvPr id="5" name="Shape 3"/>
          <p:cNvSpPr/>
          <p:nvPr/>
        </p:nvSpPr>
        <p:spPr>
          <a:xfrm>
            <a:off x="548640" y="1554480"/>
            <a:ext cx="137160" cy="1234440"/>
          </a:xfrm>
          <a:prstGeom prst="roundRect">
            <a:avLst/>
          </a:prstGeom>
          <a:solidFill>
            <a:srgbClr val="F5F7FC"/>
          </a:solidFill>
          <a:ln/>
        </p:spPr>
        <p:txBody>
          <a:bodyPr/>
          <a:lstStyle/>
          <a:p>
            <a:endParaRPr lang="es-AR" noProof="0" dirty="0"/>
          </a:p>
        </p:txBody>
      </p:sp>
      <p:sp>
        <p:nvSpPr>
          <p:cNvPr id="6" name="Text 4"/>
          <p:cNvSpPr/>
          <p:nvPr/>
        </p:nvSpPr>
        <p:spPr>
          <a:xfrm>
            <a:off x="914400" y="1691640"/>
            <a:ext cx="2743200" cy="914400"/>
          </a:xfrm>
          <a:prstGeom prst="rect">
            <a:avLst/>
          </a:prstGeom>
          <a:noFill/>
          <a:ln/>
        </p:spPr>
        <p:txBody>
          <a:bodyPr wrap="square" rtlCol="0" anchor="ctr"/>
          <a:lstStyle/>
          <a:p>
            <a:pPr marL="0" indent="0">
              <a:buNone/>
            </a:pPr>
            <a:r>
              <a:rPr lang="es-AR" sz="1900" b="1" noProof="0" dirty="0">
                <a:solidFill>
                  <a:srgbClr val="1E2761"/>
                </a:solidFill>
                <a:latin typeface="Cambria" pitchFamily="34" charset="0"/>
                <a:ea typeface="Cambria" pitchFamily="34" charset="-122"/>
                <a:cs typeface="Cambria" pitchFamily="34" charset="-120"/>
              </a:rPr>
              <a:t>Datos</a:t>
            </a:r>
            <a:endParaRPr lang="es-AR" sz="1900" noProof="0" dirty="0"/>
          </a:p>
        </p:txBody>
      </p:sp>
      <p:sp>
        <p:nvSpPr>
          <p:cNvPr id="7" name="Text 5"/>
          <p:cNvSpPr/>
          <p:nvPr/>
        </p:nvSpPr>
        <p:spPr>
          <a:xfrm>
            <a:off x="3840480" y="1691640"/>
            <a:ext cx="7315200" cy="914400"/>
          </a:xfrm>
          <a:prstGeom prst="rect">
            <a:avLst/>
          </a:prstGeom>
          <a:noFill/>
          <a:ln/>
        </p:spPr>
        <p:txBody>
          <a:bodyPr wrap="square" rtlCol="0" anchor="ctr"/>
          <a:lstStyle/>
          <a:p>
            <a:pPr marL="0" indent="0">
              <a:buNone/>
            </a:pPr>
            <a:r>
              <a:rPr lang="es-AR" sz="1450" noProof="0" dirty="0">
                <a:solidFill>
                  <a:srgbClr val="1C1C2A"/>
                </a:solidFill>
                <a:latin typeface="Calibri" pitchFamily="34" charset="0"/>
                <a:ea typeface="Calibri" pitchFamily="34" charset="-122"/>
                <a:cs typeface="Calibri" pitchFamily="34" charset="-120"/>
              </a:rPr>
              <a:t>La información que representa el TDA (por ejemplo, una colección de elementos con cierto orden).</a:t>
            </a:r>
            <a:endParaRPr lang="es-AR" sz="1450" noProof="0" dirty="0"/>
          </a:p>
        </p:txBody>
      </p:sp>
      <p:sp>
        <p:nvSpPr>
          <p:cNvPr id="8" name="Shape 6"/>
          <p:cNvSpPr/>
          <p:nvPr/>
        </p:nvSpPr>
        <p:spPr>
          <a:xfrm>
            <a:off x="548640" y="2971800"/>
            <a:ext cx="10881360" cy="1234440"/>
          </a:xfrm>
          <a:prstGeom prst="roundRect">
            <a:avLst>
              <a:gd name="adj" fmla="val 7407"/>
            </a:avLst>
          </a:prstGeom>
          <a:solidFill>
            <a:srgbClr val="F5F7FC"/>
          </a:solidFill>
          <a:ln w="12700">
            <a:solidFill>
              <a:srgbClr val="CADCFC"/>
            </a:solidFill>
            <a:prstDash val="solid"/>
          </a:ln>
        </p:spPr>
        <p:txBody>
          <a:bodyPr/>
          <a:lstStyle/>
          <a:p>
            <a:endParaRPr lang="es-AR" noProof="0" dirty="0"/>
          </a:p>
        </p:txBody>
      </p:sp>
      <p:sp>
        <p:nvSpPr>
          <p:cNvPr id="9" name="Shape 7"/>
          <p:cNvSpPr/>
          <p:nvPr/>
        </p:nvSpPr>
        <p:spPr>
          <a:xfrm>
            <a:off x="548640" y="2971800"/>
            <a:ext cx="137160" cy="1234440"/>
          </a:xfrm>
          <a:prstGeom prst="roundRect">
            <a:avLst/>
          </a:prstGeom>
          <a:solidFill>
            <a:srgbClr val="F5F7FC"/>
          </a:solidFill>
          <a:ln/>
        </p:spPr>
        <p:txBody>
          <a:bodyPr/>
          <a:lstStyle/>
          <a:p>
            <a:endParaRPr lang="es-AR" noProof="0" dirty="0"/>
          </a:p>
        </p:txBody>
      </p:sp>
      <p:sp>
        <p:nvSpPr>
          <p:cNvPr id="10" name="Text 8"/>
          <p:cNvSpPr/>
          <p:nvPr/>
        </p:nvSpPr>
        <p:spPr>
          <a:xfrm>
            <a:off x="914400" y="3108960"/>
            <a:ext cx="2743200" cy="914400"/>
          </a:xfrm>
          <a:prstGeom prst="rect">
            <a:avLst/>
          </a:prstGeom>
          <a:noFill/>
          <a:ln/>
        </p:spPr>
        <p:txBody>
          <a:bodyPr wrap="square" rtlCol="0" anchor="ctr"/>
          <a:lstStyle/>
          <a:p>
            <a:pPr marL="0" indent="0">
              <a:buNone/>
            </a:pPr>
            <a:r>
              <a:rPr lang="es-AR" sz="1900" b="1" noProof="0" dirty="0">
                <a:solidFill>
                  <a:srgbClr val="1E2761"/>
                </a:solidFill>
                <a:latin typeface="Cambria" pitchFamily="34" charset="0"/>
                <a:ea typeface="Cambria" pitchFamily="34" charset="-122"/>
                <a:cs typeface="Cambria" pitchFamily="34" charset="-120"/>
              </a:rPr>
              <a:t>Operaciones</a:t>
            </a:r>
            <a:endParaRPr lang="es-AR" sz="1900" noProof="0" dirty="0"/>
          </a:p>
        </p:txBody>
      </p:sp>
      <p:sp>
        <p:nvSpPr>
          <p:cNvPr id="11" name="Text 9"/>
          <p:cNvSpPr/>
          <p:nvPr/>
        </p:nvSpPr>
        <p:spPr>
          <a:xfrm>
            <a:off x="3840480" y="3108960"/>
            <a:ext cx="7315200" cy="914400"/>
          </a:xfrm>
          <a:prstGeom prst="rect">
            <a:avLst/>
          </a:prstGeom>
          <a:noFill/>
          <a:ln/>
        </p:spPr>
        <p:txBody>
          <a:bodyPr wrap="square" rtlCol="0" anchor="ctr"/>
          <a:lstStyle/>
          <a:p>
            <a:pPr marL="0" indent="0">
              <a:buNone/>
            </a:pPr>
            <a:r>
              <a:rPr lang="es-AR" sz="1450" noProof="0" dirty="0">
                <a:solidFill>
                  <a:srgbClr val="1C1C2A"/>
                </a:solidFill>
                <a:latin typeface="Calibri" pitchFamily="34" charset="0"/>
                <a:ea typeface="Calibri" pitchFamily="34" charset="-122"/>
                <a:cs typeface="Calibri" pitchFamily="34" charset="-120"/>
              </a:rPr>
              <a:t>Las acciones válidas sobre esos datos: crear, insertar, eliminar, consultar, etc.</a:t>
            </a:r>
            <a:endParaRPr lang="es-AR" sz="1450" noProof="0" dirty="0"/>
          </a:p>
        </p:txBody>
      </p:sp>
      <p:sp>
        <p:nvSpPr>
          <p:cNvPr id="12" name="Shape 10"/>
          <p:cNvSpPr/>
          <p:nvPr/>
        </p:nvSpPr>
        <p:spPr>
          <a:xfrm>
            <a:off x="548640" y="4389120"/>
            <a:ext cx="10881360" cy="1234440"/>
          </a:xfrm>
          <a:prstGeom prst="roundRect">
            <a:avLst>
              <a:gd name="adj" fmla="val 7407"/>
            </a:avLst>
          </a:prstGeom>
          <a:solidFill>
            <a:srgbClr val="F5F7FC"/>
          </a:solidFill>
          <a:ln w="12700">
            <a:solidFill>
              <a:srgbClr val="CADCFC"/>
            </a:solidFill>
            <a:prstDash val="solid"/>
          </a:ln>
        </p:spPr>
        <p:txBody>
          <a:bodyPr/>
          <a:lstStyle/>
          <a:p>
            <a:endParaRPr lang="es-AR" noProof="0" dirty="0"/>
          </a:p>
        </p:txBody>
      </p:sp>
      <p:sp>
        <p:nvSpPr>
          <p:cNvPr id="13" name="Shape 11"/>
          <p:cNvSpPr/>
          <p:nvPr/>
        </p:nvSpPr>
        <p:spPr>
          <a:xfrm>
            <a:off x="548640" y="4389120"/>
            <a:ext cx="137160" cy="1234440"/>
          </a:xfrm>
          <a:prstGeom prst="roundRect">
            <a:avLst/>
          </a:prstGeom>
          <a:solidFill>
            <a:srgbClr val="F5F7FC"/>
          </a:solidFill>
          <a:ln/>
        </p:spPr>
        <p:txBody>
          <a:bodyPr/>
          <a:lstStyle/>
          <a:p>
            <a:endParaRPr lang="es-AR" noProof="0" dirty="0"/>
          </a:p>
        </p:txBody>
      </p:sp>
      <p:sp>
        <p:nvSpPr>
          <p:cNvPr id="14" name="Text 12"/>
          <p:cNvSpPr/>
          <p:nvPr/>
        </p:nvSpPr>
        <p:spPr>
          <a:xfrm>
            <a:off x="914400" y="4526280"/>
            <a:ext cx="2743200" cy="914400"/>
          </a:xfrm>
          <a:prstGeom prst="rect">
            <a:avLst/>
          </a:prstGeom>
          <a:noFill/>
          <a:ln/>
        </p:spPr>
        <p:txBody>
          <a:bodyPr wrap="square" rtlCol="0" anchor="ctr"/>
          <a:lstStyle/>
          <a:p>
            <a:pPr marL="0" indent="0">
              <a:buNone/>
            </a:pPr>
            <a:r>
              <a:rPr lang="es-AR" sz="1900" b="1" noProof="0" dirty="0">
                <a:solidFill>
                  <a:srgbClr val="1E2761"/>
                </a:solidFill>
                <a:latin typeface="Cambria" pitchFamily="34" charset="0"/>
                <a:ea typeface="Cambria" pitchFamily="34" charset="-122"/>
                <a:cs typeface="Cambria" pitchFamily="34" charset="-120"/>
              </a:rPr>
              <a:t>Encapsulamiento</a:t>
            </a:r>
            <a:endParaRPr lang="es-AR" sz="1900" noProof="0" dirty="0"/>
          </a:p>
        </p:txBody>
      </p:sp>
      <p:sp>
        <p:nvSpPr>
          <p:cNvPr id="15" name="Text 13"/>
          <p:cNvSpPr/>
          <p:nvPr/>
        </p:nvSpPr>
        <p:spPr>
          <a:xfrm>
            <a:off x="3840480" y="4526280"/>
            <a:ext cx="7315200" cy="914400"/>
          </a:xfrm>
          <a:prstGeom prst="rect">
            <a:avLst/>
          </a:prstGeom>
          <a:noFill/>
          <a:ln/>
        </p:spPr>
        <p:txBody>
          <a:bodyPr wrap="square" rtlCol="0" anchor="ctr"/>
          <a:lstStyle/>
          <a:p>
            <a:pPr marL="0" indent="0">
              <a:buNone/>
            </a:pPr>
            <a:r>
              <a:rPr lang="es-AR" sz="1450" noProof="0" dirty="0">
                <a:solidFill>
                  <a:srgbClr val="1C1C2A"/>
                </a:solidFill>
                <a:latin typeface="Calibri" pitchFamily="34" charset="0"/>
                <a:ea typeface="Calibri" pitchFamily="34" charset="-122"/>
                <a:cs typeface="Calibri" pitchFamily="34" charset="-120"/>
              </a:rPr>
              <a:t>El usuario del TDA no conoce (ni necesita conocer) la estructura interna.</a:t>
            </a:r>
            <a:endParaRPr lang="es-AR" sz="1450" noProof="0" dirty="0"/>
          </a:p>
        </p:txBody>
      </p:sp>
      <p:sp>
        <p:nvSpPr>
          <p:cNvPr id="16" name="Text 14"/>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17" name="Text 15"/>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3</a:t>
            </a:r>
            <a:endParaRPr lang="es-AR" sz="10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3</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¿Cómo especificamos un TDA?</a:t>
            </a:r>
            <a:endParaRPr lang="es-AR" sz="3000" noProof="0" dirty="0"/>
          </a:p>
        </p:txBody>
      </p:sp>
      <p:sp>
        <p:nvSpPr>
          <p:cNvPr id="4" name="Shape 2"/>
          <p:cNvSpPr/>
          <p:nvPr/>
        </p:nvSpPr>
        <p:spPr>
          <a:xfrm>
            <a:off x="548640" y="1554480"/>
            <a:ext cx="5120640" cy="1051560"/>
          </a:xfrm>
          <a:prstGeom prst="roundRect">
            <a:avLst>
              <a:gd name="adj" fmla="val 8696"/>
            </a:avLst>
          </a:prstGeom>
          <a:solidFill>
            <a:srgbClr val="F5F7FC"/>
          </a:solidFill>
          <a:ln w="12700">
            <a:solidFill>
              <a:srgbClr val="CADCFC"/>
            </a:solidFill>
            <a:prstDash val="solid"/>
          </a:ln>
        </p:spPr>
        <p:txBody>
          <a:bodyPr/>
          <a:lstStyle/>
          <a:p>
            <a:endParaRPr lang="es-AR" noProof="0" dirty="0"/>
          </a:p>
        </p:txBody>
      </p:sp>
      <p:sp>
        <p:nvSpPr>
          <p:cNvPr id="5" name="Shape 3"/>
          <p:cNvSpPr/>
          <p:nvPr/>
        </p:nvSpPr>
        <p:spPr>
          <a:xfrm>
            <a:off x="777240" y="1737360"/>
            <a:ext cx="640080" cy="365760"/>
          </a:xfrm>
          <a:prstGeom prst="roundRect">
            <a:avLst>
              <a:gd name="adj" fmla="val 50000"/>
            </a:avLst>
          </a:prstGeom>
          <a:solidFill>
            <a:srgbClr val="1E2761"/>
          </a:solidFill>
          <a:ln/>
        </p:spPr>
        <p:txBody>
          <a:bodyPr/>
          <a:lstStyle/>
          <a:p>
            <a:endParaRPr lang="es-AR" noProof="0" dirty="0"/>
          </a:p>
        </p:txBody>
      </p:sp>
      <p:sp>
        <p:nvSpPr>
          <p:cNvPr id="6" name="Text 4"/>
          <p:cNvSpPr/>
          <p:nvPr/>
        </p:nvSpPr>
        <p:spPr>
          <a:xfrm>
            <a:off x="777240" y="1737360"/>
            <a:ext cx="64008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1</a:t>
            </a:r>
            <a:endParaRPr lang="es-AR" sz="1200" noProof="0" dirty="0"/>
          </a:p>
        </p:txBody>
      </p:sp>
      <p:sp>
        <p:nvSpPr>
          <p:cNvPr id="7" name="Text 5"/>
          <p:cNvSpPr/>
          <p:nvPr/>
        </p:nvSpPr>
        <p:spPr>
          <a:xfrm>
            <a:off x="1600200" y="1645920"/>
            <a:ext cx="3931920" cy="365760"/>
          </a:xfrm>
          <a:prstGeom prst="rect">
            <a:avLst/>
          </a:prstGeom>
          <a:noFill/>
          <a:ln/>
        </p:spPr>
        <p:txBody>
          <a:bodyPr wrap="square" rtlCol="0" anchor="ctr"/>
          <a:lstStyle/>
          <a:p>
            <a:pPr marL="0" indent="0">
              <a:buNone/>
            </a:pPr>
            <a:r>
              <a:rPr lang="es-AR" sz="1500" b="1" noProof="0" dirty="0">
                <a:solidFill>
                  <a:srgbClr val="1E2761"/>
                </a:solidFill>
                <a:latin typeface="Calibri" pitchFamily="34" charset="0"/>
                <a:ea typeface="Calibri" pitchFamily="34" charset="-122"/>
                <a:cs typeface="Calibri" pitchFamily="34" charset="-120"/>
              </a:rPr>
              <a:t>Dominio</a:t>
            </a:r>
            <a:endParaRPr lang="es-AR" sz="1500" noProof="0" dirty="0"/>
          </a:p>
        </p:txBody>
      </p:sp>
      <p:sp>
        <p:nvSpPr>
          <p:cNvPr id="8" name="Text 6"/>
          <p:cNvSpPr/>
          <p:nvPr/>
        </p:nvSpPr>
        <p:spPr>
          <a:xfrm>
            <a:off x="1600200" y="2011680"/>
            <a:ext cx="3931920" cy="50292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Qué representa el conjunto de valores del TDA.</a:t>
            </a:r>
            <a:endParaRPr lang="es-AR" sz="1150" noProof="0" dirty="0"/>
          </a:p>
        </p:txBody>
      </p:sp>
      <p:sp>
        <p:nvSpPr>
          <p:cNvPr id="9" name="Shape 7"/>
          <p:cNvSpPr/>
          <p:nvPr/>
        </p:nvSpPr>
        <p:spPr>
          <a:xfrm>
            <a:off x="548640" y="2743200"/>
            <a:ext cx="5120640" cy="1051560"/>
          </a:xfrm>
          <a:prstGeom prst="roundRect">
            <a:avLst>
              <a:gd name="adj" fmla="val 8696"/>
            </a:avLst>
          </a:prstGeom>
          <a:solidFill>
            <a:srgbClr val="F5F7FC"/>
          </a:solidFill>
          <a:ln w="12700">
            <a:solidFill>
              <a:srgbClr val="CADCFC"/>
            </a:solidFill>
            <a:prstDash val="solid"/>
          </a:ln>
        </p:spPr>
        <p:txBody>
          <a:bodyPr/>
          <a:lstStyle/>
          <a:p>
            <a:endParaRPr lang="es-AR" noProof="0" dirty="0"/>
          </a:p>
        </p:txBody>
      </p:sp>
      <p:sp>
        <p:nvSpPr>
          <p:cNvPr id="10" name="Shape 8"/>
          <p:cNvSpPr/>
          <p:nvPr/>
        </p:nvSpPr>
        <p:spPr>
          <a:xfrm>
            <a:off x="777240" y="2926080"/>
            <a:ext cx="640080" cy="365760"/>
          </a:xfrm>
          <a:prstGeom prst="roundRect">
            <a:avLst>
              <a:gd name="adj" fmla="val 50000"/>
            </a:avLst>
          </a:prstGeom>
          <a:solidFill>
            <a:srgbClr val="1E2761"/>
          </a:solidFill>
          <a:ln/>
        </p:spPr>
        <p:txBody>
          <a:bodyPr/>
          <a:lstStyle/>
          <a:p>
            <a:endParaRPr lang="es-AR" noProof="0" dirty="0"/>
          </a:p>
        </p:txBody>
      </p:sp>
      <p:sp>
        <p:nvSpPr>
          <p:cNvPr id="11" name="Text 9"/>
          <p:cNvSpPr/>
          <p:nvPr/>
        </p:nvSpPr>
        <p:spPr>
          <a:xfrm>
            <a:off x="777240" y="2926080"/>
            <a:ext cx="64008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2</a:t>
            </a:r>
            <a:endParaRPr lang="es-AR" sz="1200" noProof="0" dirty="0"/>
          </a:p>
        </p:txBody>
      </p:sp>
      <p:sp>
        <p:nvSpPr>
          <p:cNvPr id="12" name="Text 10"/>
          <p:cNvSpPr/>
          <p:nvPr/>
        </p:nvSpPr>
        <p:spPr>
          <a:xfrm>
            <a:off x="1600200" y="2834640"/>
            <a:ext cx="3931920" cy="365760"/>
          </a:xfrm>
          <a:prstGeom prst="rect">
            <a:avLst/>
          </a:prstGeom>
          <a:noFill/>
          <a:ln/>
        </p:spPr>
        <p:txBody>
          <a:bodyPr wrap="square" rtlCol="0" anchor="ctr"/>
          <a:lstStyle/>
          <a:p>
            <a:pPr marL="0" indent="0">
              <a:buNone/>
            </a:pPr>
            <a:r>
              <a:rPr lang="es-AR" sz="1500" b="1" noProof="0" dirty="0">
                <a:solidFill>
                  <a:srgbClr val="1E2761"/>
                </a:solidFill>
                <a:latin typeface="Calibri" pitchFamily="34" charset="0"/>
                <a:ea typeface="Calibri" pitchFamily="34" charset="-122"/>
                <a:cs typeface="Calibri" pitchFamily="34" charset="-120"/>
              </a:rPr>
              <a:t>Operaciones</a:t>
            </a:r>
            <a:endParaRPr lang="es-AR" sz="1500" noProof="0" dirty="0"/>
          </a:p>
        </p:txBody>
      </p:sp>
      <p:sp>
        <p:nvSpPr>
          <p:cNvPr id="13" name="Text 11"/>
          <p:cNvSpPr/>
          <p:nvPr/>
        </p:nvSpPr>
        <p:spPr>
          <a:xfrm>
            <a:off x="1600200" y="3200400"/>
            <a:ext cx="3931920" cy="50292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Firma: nombre + parámetros + qué devuelve.</a:t>
            </a:r>
            <a:endParaRPr lang="es-AR" sz="1150" noProof="0" dirty="0"/>
          </a:p>
        </p:txBody>
      </p:sp>
      <p:sp>
        <p:nvSpPr>
          <p:cNvPr id="14" name="Shape 12"/>
          <p:cNvSpPr/>
          <p:nvPr/>
        </p:nvSpPr>
        <p:spPr>
          <a:xfrm>
            <a:off x="548640" y="3931920"/>
            <a:ext cx="5120640" cy="1051560"/>
          </a:xfrm>
          <a:prstGeom prst="roundRect">
            <a:avLst>
              <a:gd name="adj" fmla="val 8696"/>
            </a:avLst>
          </a:prstGeom>
          <a:solidFill>
            <a:srgbClr val="F5F7FC"/>
          </a:solidFill>
          <a:ln w="12700">
            <a:solidFill>
              <a:srgbClr val="CADCFC"/>
            </a:solidFill>
            <a:prstDash val="solid"/>
          </a:ln>
        </p:spPr>
        <p:txBody>
          <a:bodyPr/>
          <a:lstStyle/>
          <a:p>
            <a:endParaRPr lang="es-AR" noProof="0" dirty="0"/>
          </a:p>
        </p:txBody>
      </p:sp>
      <p:sp>
        <p:nvSpPr>
          <p:cNvPr id="15" name="Shape 13"/>
          <p:cNvSpPr/>
          <p:nvPr/>
        </p:nvSpPr>
        <p:spPr>
          <a:xfrm>
            <a:off x="777240" y="4114800"/>
            <a:ext cx="640080" cy="365760"/>
          </a:xfrm>
          <a:prstGeom prst="roundRect">
            <a:avLst>
              <a:gd name="adj" fmla="val 50000"/>
            </a:avLst>
          </a:prstGeom>
          <a:solidFill>
            <a:srgbClr val="1E2761"/>
          </a:solidFill>
          <a:ln/>
        </p:spPr>
        <p:txBody>
          <a:bodyPr/>
          <a:lstStyle/>
          <a:p>
            <a:endParaRPr lang="es-AR" noProof="0" dirty="0"/>
          </a:p>
        </p:txBody>
      </p:sp>
      <p:sp>
        <p:nvSpPr>
          <p:cNvPr id="16" name="Text 14"/>
          <p:cNvSpPr/>
          <p:nvPr/>
        </p:nvSpPr>
        <p:spPr>
          <a:xfrm>
            <a:off x="777240" y="4114800"/>
            <a:ext cx="64008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3</a:t>
            </a:r>
            <a:endParaRPr lang="es-AR" sz="1200" noProof="0" dirty="0"/>
          </a:p>
        </p:txBody>
      </p:sp>
      <p:sp>
        <p:nvSpPr>
          <p:cNvPr id="17" name="Text 15"/>
          <p:cNvSpPr/>
          <p:nvPr/>
        </p:nvSpPr>
        <p:spPr>
          <a:xfrm>
            <a:off x="1600200" y="4023360"/>
            <a:ext cx="3931920" cy="365760"/>
          </a:xfrm>
          <a:prstGeom prst="rect">
            <a:avLst/>
          </a:prstGeom>
          <a:noFill/>
          <a:ln/>
        </p:spPr>
        <p:txBody>
          <a:bodyPr wrap="square" rtlCol="0" anchor="ctr"/>
          <a:lstStyle/>
          <a:p>
            <a:pPr marL="0" indent="0">
              <a:buNone/>
            </a:pPr>
            <a:r>
              <a:rPr lang="es-AR" sz="1500" b="1" noProof="0" dirty="0">
                <a:solidFill>
                  <a:srgbClr val="1E2761"/>
                </a:solidFill>
                <a:latin typeface="Calibri" pitchFamily="34" charset="0"/>
                <a:ea typeface="Calibri" pitchFamily="34" charset="-122"/>
                <a:cs typeface="Calibri" pitchFamily="34" charset="-120"/>
              </a:rPr>
              <a:t>Precondiciones</a:t>
            </a:r>
            <a:endParaRPr lang="es-AR" sz="1500" noProof="0" dirty="0"/>
          </a:p>
        </p:txBody>
      </p:sp>
      <p:sp>
        <p:nvSpPr>
          <p:cNvPr id="18" name="Text 16"/>
          <p:cNvSpPr/>
          <p:nvPr/>
        </p:nvSpPr>
        <p:spPr>
          <a:xfrm>
            <a:off x="1600200" y="4389120"/>
            <a:ext cx="3931920" cy="50292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Qué debe cumplirse ANTES de ejecutar la operación.</a:t>
            </a:r>
            <a:endParaRPr lang="es-AR" sz="1150" noProof="0" dirty="0"/>
          </a:p>
        </p:txBody>
      </p:sp>
      <p:sp>
        <p:nvSpPr>
          <p:cNvPr id="19" name="Shape 17"/>
          <p:cNvSpPr/>
          <p:nvPr/>
        </p:nvSpPr>
        <p:spPr>
          <a:xfrm>
            <a:off x="548640" y="5120640"/>
            <a:ext cx="5120640" cy="1051560"/>
          </a:xfrm>
          <a:prstGeom prst="roundRect">
            <a:avLst>
              <a:gd name="adj" fmla="val 8696"/>
            </a:avLst>
          </a:prstGeom>
          <a:solidFill>
            <a:srgbClr val="F5F7FC"/>
          </a:solidFill>
          <a:ln w="12700">
            <a:solidFill>
              <a:srgbClr val="CADCFC"/>
            </a:solidFill>
            <a:prstDash val="solid"/>
          </a:ln>
        </p:spPr>
        <p:txBody>
          <a:bodyPr/>
          <a:lstStyle/>
          <a:p>
            <a:endParaRPr lang="es-AR" noProof="0" dirty="0"/>
          </a:p>
        </p:txBody>
      </p:sp>
      <p:sp>
        <p:nvSpPr>
          <p:cNvPr id="20" name="Shape 18"/>
          <p:cNvSpPr/>
          <p:nvPr/>
        </p:nvSpPr>
        <p:spPr>
          <a:xfrm>
            <a:off x="777240" y="5303520"/>
            <a:ext cx="640080" cy="365760"/>
          </a:xfrm>
          <a:prstGeom prst="roundRect">
            <a:avLst>
              <a:gd name="adj" fmla="val 50000"/>
            </a:avLst>
          </a:prstGeom>
          <a:solidFill>
            <a:srgbClr val="1E2761"/>
          </a:solidFill>
          <a:ln/>
        </p:spPr>
        <p:txBody>
          <a:bodyPr/>
          <a:lstStyle/>
          <a:p>
            <a:endParaRPr lang="es-AR" noProof="0" dirty="0"/>
          </a:p>
        </p:txBody>
      </p:sp>
      <p:sp>
        <p:nvSpPr>
          <p:cNvPr id="21" name="Text 19"/>
          <p:cNvSpPr/>
          <p:nvPr/>
        </p:nvSpPr>
        <p:spPr>
          <a:xfrm>
            <a:off x="777240" y="5303520"/>
            <a:ext cx="64008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4</a:t>
            </a:r>
            <a:endParaRPr lang="es-AR" sz="1200" noProof="0" dirty="0"/>
          </a:p>
        </p:txBody>
      </p:sp>
      <p:sp>
        <p:nvSpPr>
          <p:cNvPr id="22" name="Text 20"/>
          <p:cNvSpPr/>
          <p:nvPr/>
        </p:nvSpPr>
        <p:spPr>
          <a:xfrm>
            <a:off x="1600200" y="5212080"/>
            <a:ext cx="3931920" cy="365760"/>
          </a:xfrm>
          <a:prstGeom prst="rect">
            <a:avLst/>
          </a:prstGeom>
          <a:noFill/>
          <a:ln/>
        </p:spPr>
        <p:txBody>
          <a:bodyPr wrap="square" rtlCol="0" anchor="ctr"/>
          <a:lstStyle/>
          <a:p>
            <a:pPr marL="0" indent="0">
              <a:buNone/>
            </a:pPr>
            <a:r>
              <a:rPr lang="es-AR" sz="1500" b="1" noProof="0" dirty="0">
                <a:solidFill>
                  <a:srgbClr val="1E2761"/>
                </a:solidFill>
                <a:latin typeface="Calibri" pitchFamily="34" charset="0"/>
                <a:ea typeface="Calibri" pitchFamily="34" charset="-122"/>
                <a:cs typeface="Calibri" pitchFamily="34" charset="-120"/>
              </a:rPr>
              <a:t>Postcondiciones</a:t>
            </a:r>
            <a:endParaRPr lang="es-AR" sz="1500" noProof="0" dirty="0"/>
          </a:p>
        </p:txBody>
      </p:sp>
      <p:sp>
        <p:nvSpPr>
          <p:cNvPr id="23" name="Text 21"/>
          <p:cNvSpPr/>
          <p:nvPr/>
        </p:nvSpPr>
        <p:spPr>
          <a:xfrm>
            <a:off x="1600200" y="5577840"/>
            <a:ext cx="3931920" cy="50292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Qué garantiza el TDA DESPUÉS de ejecutar la operación.</a:t>
            </a:r>
            <a:endParaRPr lang="es-AR" sz="1150" noProof="0" dirty="0"/>
          </a:p>
        </p:txBody>
      </p:sp>
      <p:sp>
        <p:nvSpPr>
          <p:cNvPr id="24" name="Text 22"/>
          <p:cNvSpPr/>
          <p:nvPr/>
        </p:nvSpPr>
        <p:spPr>
          <a:xfrm>
            <a:off x="6035040" y="1737360"/>
            <a:ext cx="5577840" cy="1280160"/>
          </a:xfrm>
          <a:prstGeom prst="rect">
            <a:avLst/>
          </a:prstGeom>
          <a:noFill/>
          <a:ln/>
        </p:spPr>
        <p:txBody>
          <a:bodyPr wrap="square" rtlCol="0" anchor="t"/>
          <a:lstStyle/>
          <a:p>
            <a:pPr marL="0" indent="0">
              <a:buNone/>
            </a:pPr>
            <a:r>
              <a:rPr lang="es-AR" sz="1500" noProof="0" dirty="0">
                <a:solidFill>
                  <a:srgbClr val="1C1C2A"/>
                </a:solidFill>
                <a:latin typeface="Calibri" pitchFamily="34" charset="0"/>
                <a:ea typeface="Calibri" pitchFamily="34" charset="-122"/>
                <a:cs typeface="Calibri" pitchFamily="34" charset="-120"/>
              </a:rPr>
              <a:t>Con estos cuatro elementos alcanza para describir COMPLETAMENTE el comportamiento de una operación, sin decir una palabra sobre cómo se implementa.</a:t>
            </a:r>
            <a:endParaRPr lang="es-AR" sz="1500" noProof="0" dirty="0"/>
          </a:p>
        </p:txBody>
      </p:sp>
      <p:sp>
        <p:nvSpPr>
          <p:cNvPr id="25" name="Shape 23"/>
          <p:cNvSpPr/>
          <p:nvPr/>
        </p:nvSpPr>
        <p:spPr>
          <a:xfrm>
            <a:off x="6035040" y="3200400"/>
            <a:ext cx="5577840" cy="2468880"/>
          </a:xfrm>
          <a:prstGeom prst="roundRect">
            <a:avLst>
              <a:gd name="adj" fmla="val 3704"/>
            </a:avLst>
          </a:prstGeom>
          <a:solidFill>
            <a:srgbClr val="1E2761"/>
          </a:solidFill>
          <a:ln/>
        </p:spPr>
        <p:txBody>
          <a:bodyPr/>
          <a:lstStyle/>
          <a:p>
            <a:endParaRPr lang="es-AR" noProof="0" dirty="0"/>
          </a:p>
        </p:txBody>
      </p:sp>
      <p:sp>
        <p:nvSpPr>
          <p:cNvPr id="26" name="Text 24"/>
          <p:cNvSpPr/>
          <p:nvPr/>
        </p:nvSpPr>
        <p:spPr>
          <a:xfrm>
            <a:off x="6309360" y="3383280"/>
            <a:ext cx="5029200" cy="365760"/>
          </a:xfrm>
          <a:prstGeom prst="rect">
            <a:avLst/>
          </a:prstGeom>
          <a:noFill/>
          <a:ln/>
        </p:spPr>
        <p:txBody>
          <a:bodyPr wrap="square" rtlCol="0" anchor="ctr"/>
          <a:lstStyle/>
          <a:p>
            <a:pPr marL="0" indent="0">
              <a:buNone/>
            </a:pPr>
            <a:r>
              <a:rPr lang="es-AR" sz="1300" b="1" noProof="0" dirty="0">
                <a:solidFill>
                  <a:srgbClr val="E8A33D"/>
                </a:solidFill>
                <a:latin typeface="Calibri" pitchFamily="34" charset="0"/>
                <a:ea typeface="Calibri" pitchFamily="34" charset="-122"/>
                <a:cs typeface="Calibri" pitchFamily="34" charset="-120"/>
              </a:rPr>
              <a:t>Formato general</a:t>
            </a:r>
            <a:endParaRPr lang="es-AR" sz="1300" noProof="0" dirty="0"/>
          </a:p>
        </p:txBody>
      </p:sp>
      <p:sp>
        <p:nvSpPr>
          <p:cNvPr id="27" name="Text 25"/>
          <p:cNvSpPr/>
          <p:nvPr/>
        </p:nvSpPr>
        <p:spPr>
          <a:xfrm>
            <a:off x="6309360" y="3794760"/>
            <a:ext cx="5029200" cy="1737360"/>
          </a:xfrm>
          <a:prstGeom prst="rect">
            <a:avLst/>
          </a:prstGeom>
          <a:noFill/>
          <a:ln/>
        </p:spPr>
        <p:txBody>
          <a:bodyPr wrap="square" rtlCol="0" anchor="t"/>
          <a:lstStyle/>
          <a:p>
            <a:pPr marL="0" indent="0">
              <a:buNone/>
            </a:pPr>
            <a:r>
              <a:rPr lang="es-AR" sz="1300" noProof="0" dirty="0" err="1">
                <a:solidFill>
                  <a:srgbClr val="FFFFFF"/>
                </a:solidFill>
                <a:latin typeface="Courier New" pitchFamily="34" charset="0"/>
                <a:ea typeface="Courier New" pitchFamily="34" charset="-122"/>
                <a:cs typeface="Courier New" pitchFamily="34" charset="-120"/>
              </a:rPr>
              <a:t>operacion</a:t>
            </a:r>
            <a:r>
              <a:rPr lang="es-AR" sz="1300" noProof="0" dirty="0">
                <a:solidFill>
                  <a:srgbClr val="FFFFFF"/>
                </a:solidFill>
                <a:latin typeface="Courier New" pitchFamily="34" charset="0"/>
                <a:ea typeface="Courier New" pitchFamily="34" charset="-122"/>
                <a:cs typeface="Courier New" pitchFamily="34" charset="-120"/>
              </a:rPr>
              <a:t>(parámetros) → </a:t>
            </a:r>
            <a:r>
              <a:rPr lang="es-AR" sz="1300" noProof="0" dirty="0" err="1">
                <a:solidFill>
                  <a:srgbClr val="FFFFFF"/>
                </a:solidFill>
                <a:latin typeface="Courier New" pitchFamily="34" charset="0"/>
                <a:ea typeface="Courier New" pitchFamily="34" charset="-122"/>
                <a:cs typeface="Courier New" pitchFamily="34" charset="-120"/>
              </a:rPr>
              <a:t>tipoRetorno</a:t>
            </a:r>
            <a:endParaRPr lang="es-AR" sz="1300" noProof="0" dirty="0"/>
          </a:p>
          <a:p>
            <a:pPr marL="0" indent="0">
              <a:buNone/>
            </a:pPr>
            <a:r>
              <a:rPr lang="es-AR" sz="1300" noProof="0" dirty="0">
                <a:solidFill>
                  <a:srgbClr val="FFFFFF"/>
                </a:solidFill>
                <a:latin typeface="Courier New" pitchFamily="34" charset="0"/>
                <a:ea typeface="Courier New" pitchFamily="34" charset="-122"/>
                <a:cs typeface="Courier New" pitchFamily="34" charset="-120"/>
              </a:rPr>
              <a:t>  pre: &lt;condición requerida&gt;</a:t>
            </a:r>
            <a:endParaRPr lang="es-AR" sz="1300" noProof="0" dirty="0"/>
          </a:p>
          <a:p>
            <a:pPr marL="0" indent="0">
              <a:buNone/>
            </a:pPr>
            <a:r>
              <a:rPr lang="es-AR" sz="1300" noProof="0" dirty="0">
                <a:solidFill>
                  <a:srgbClr val="FFFFFF"/>
                </a:solidFill>
                <a:latin typeface="Courier New" pitchFamily="34" charset="0"/>
                <a:ea typeface="Courier New" pitchFamily="34" charset="-122"/>
                <a:cs typeface="Courier New" pitchFamily="34" charset="-120"/>
              </a:rPr>
              <a:t>  post: &lt;qué garantiza el resultado&gt;</a:t>
            </a:r>
            <a:endParaRPr lang="es-AR" sz="1300" noProof="0" dirty="0"/>
          </a:p>
        </p:txBody>
      </p:sp>
      <p:sp>
        <p:nvSpPr>
          <p:cNvPr id="28" name="Text 26"/>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29" name="Text 27"/>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4</a:t>
            </a:r>
            <a:endParaRPr lang="es-AR" sz="10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marL="0" indent="0" algn="l">
              <a:buNone/>
            </a:pPr>
            <a:r>
              <a:rPr lang="en-US" sz="1300" b="1" kern="0" spc="200" dirty="0">
                <a:solidFill>
                  <a:srgbClr val="E8A33D"/>
                </a:solidFill>
                <a:latin typeface="Calibri" pitchFamily="34" charset="0"/>
                <a:ea typeface="Calibri" pitchFamily="34" charset="-122"/>
                <a:cs typeface="Calibri" pitchFamily="34" charset="-120"/>
              </a:rPr>
              <a:t>BLOQUE 4</a:t>
            </a:r>
            <a:endParaRPr lang="en-US" sz="1300" dirty="0"/>
          </a:p>
        </p:txBody>
      </p:sp>
      <p:sp>
        <p:nvSpPr>
          <p:cNvPr id="3" name="Text 1"/>
          <p:cNvSpPr txBox="1"/>
          <p:nvPr/>
        </p:nvSpPr>
        <p:spPr>
          <a:xfrm>
            <a:off x="548640" y="621792"/>
            <a:ext cx="1097280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TDA: especificación y notación (repaso)</a:t>
            </a:r>
            <a:endParaRPr lang="en-US" sz="3000" dirty="0"/>
          </a:p>
        </p:txBody>
      </p:sp>
      <p:sp>
        <p:nvSpPr>
          <p:cNvPr id="4" name="Shape 2"/>
          <p:cNvSpPr/>
          <p:nvPr/>
        </p:nvSpPr>
        <p:spPr>
          <a:xfrm>
            <a:off x="548640" y="1463040"/>
            <a:ext cx="6949440" cy="5029200"/>
          </a:xfrm>
          <a:prstGeom prst="roundRect">
            <a:avLst>
              <a:gd name="adj" fmla="val 364"/>
            </a:avLst>
          </a:prstGeom>
          <a:solidFill>
            <a:srgbClr val="F4F6FB"/>
          </a:solidFill>
          <a:ln w="12700">
            <a:solidFill>
              <a:srgbClr val="CADCFC"/>
            </a:solidFill>
            <a:prstDash val="solid"/>
          </a:ln>
        </p:spPr>
        <p:txBody>
          <a:bodyPr/>
          <a:lstStyle/>
          <a:p>
            <a:endParaRPr lang="es-AR"/>
          </a:p>
        </p:txBody>
      </p:sp>
      <p:sp>
        <p:nvSpPr>
          <p:cNvPr id="5" name="Text 3"/>
          <p:cNvSpPr txBox="1"/>
          <p:nvPr/>
        </p:nvSpPr>
        <p:spPr>
          <a:xfrm>
            <a:off x="777240" y="1600200"/>
            <a:ext cx="6492240" cy="4754880"/>
          </a:xfrm>
          <a:prstGeom prst="rect">
            <a:avLst/>
          </a:prstGeom>
          <a:noFill/>
          <a:ln/>
        </p:spPr>
        <p:txBody>
          <a:bodyPr wrap="square" lIns="0" tIns="0" rIns="0" bIns="0" rtlCol="0" anchor="t"/>
          <a:lstStyle/>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Toda especificacion de un TDA tiene:</a:t>
            </a:r>
            <a:endParaRPr lang="en-US" sz="1350" dirty="0"/>
          </a:p>
          <a:p>
            <a:pPr marL="0" indent="0">
              <a:lnSpc>
                <a:spcPct val="115000"/>
              </a:lnSpc>
              <a:buNone/>
            </a:pP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1) Dominio</a:t>
            </a: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   Que es un valor del tipo</a:t>
            </a: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   (ej: Pila = secuencia LIFO de elementos)</a:t>
            </a:r>
            <a:endParaRPr lang="en-US" sz="1350" dirty="0"/>
          </a:p>
          <a:p>
            <a:pPr marL="0" indent="0">
              <a:lnSpc>
                <a:spcPct val="115000"/>
              </a:lnSpc>
              <a:buNone/>
            </a:pP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2) Operaciones</a:t>
            </a: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   signatura: nombre(parametros) -&gt; Tipo</a:t>
            </a:r>
            <a:endParaRPr lang="en-US" sz="1350" dirty="0"/>
          </a:p>
          <a:p>
            <a:pPr marL="0" indent="0">
              <a:lnSpc>
                <a:spcPct val="115000"/>
              </a:lnSpc>
              <a:buNone/>
            </a:pP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3) Precondicion (pre)</a:t>
            </a: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   que debe cumplirse ANTES de aplicarla</a:t>
            </a:r>
            <a:endParaRPr lang="en-US" sz="1350" dirty="0"/>
          </a:p>
          <a:p>
            <a:pPr marL="0" indent="0">
              <a:lnSpc>
                <a:spcPct val="115000"/>
              </a:lnSpc>
              <a:buNone/>
            </a:pP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4) Postcondicion (post)</a:t>
            </a: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   que es cierto DESPUES de aplicarla</a:t>
            </a:r>
            <a:endParaRPr lang="en-US" sz="1350" dirty="0"/>
          </a:p>
          <a:p>
            <a:pPr marL="0" indent="0">
              <a:lnSpc>
                <a:spcPct val="115000"/>
              </a:lnSpc>
              <a:buNone/>
            </a:pP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Ejemplo (TDA Pila, Clase 2):</a:t>
            </a: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  desapilar(p: Pila) -&gt; Pila</a:t>
            </a: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    pre:  p no esta vacia</a:t>
            </a:r>
            <a:endParaRPr lang="en-US" sz="1350" dirty="0"/>
          </a:p>
          <a:p>
            <a:pPr marL="0" indent="0">
              <a:lnSpc>
                <a:spcPct val="115000"/>
              </a:lnSpc>
              <a:buNone/>
            </a:pPr>
            <a:r>
              <a:rPr lang="en-US" sz="1350" dirty="0">
                <a:solidFill>
                  <a:srgbClr val="1C1C2A"/>
                </a:solidFill>
                <a:latin typeface="Courier New" pitchFamily="34" charset="0"/>
                <a:ea typeface="Courier New" pitchFamily="34" charset="-122"/>
                <a:cs typeface="Courier New" pitchFamily="34" charset="-120"/>
              </a:rPr>
              <a:t>    post: se elimina el elemento del tope de p</a:t>
            </a:r>
            <a:endParaRPr lang="en-US" sz="1350" dirty="0"/>
          </a:p>
        </p:txBody>
      </p:sp>
      <p:sp>
        <p:nvSpPr>
          <p:cNvPr id="6" name="Shape 4"/>
          <p:cNvSpPr/>
          <p:nvPr/>
        </p:nvSpPr>
        <p:spPr>
          <a:xfrm>
            <a:off x="7680960" y="1463040"/>
            <a:ext cx="3931920" cy="5029200"/>
          </a:xfrm>
          <a:prstGeom prst="roundRect">
            <a:avLst>
              <a:gd name="adj" fmla="val 698"/>
            </a:avLst>
          </a:prstGeom>
          <a:solidFill>
            <a:srgbClr val="F5F7FC"/>
          </a:solidFill>
          <a:ln w="12700">
            <a:solidFill>
              <a:srgbClr val="CADCFC"/>
            </a:solidFill>
            <a:prstDash val="solid"/>
          </a:ln>
        </p:spPr>
        <p:txBody>
          <a:bodyPr/>
          <a:lstStyle/>
          <a:p>
            <a:endParaRPr lang="es-AR"/>
          </a:p>
        </p:txBody>
      </p:sp>
      <p:sp>
        <p:nvSpPr>
          <p:cNvPr id="7" name="Text 5"/>
          <p:cNvSpPr txBox="1"/>
          <p:nvPr/>
        </p:nvSpPr>
        <p:spPr>
          <a:xfrm>
            <a:off x="7909560" y="1645920"/>
            <a:ext cx="347472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Detalle</a:t>
            </a:r>
            <a:endParaRPr lang="en-US" sz="1300" dirty="0"/>
          </a:p>
        </p:txBody>
      </p:sp>
      <p:sp>
        <p:nvSpPr>
          <p:cNvPr id="8" name="Text 6"/>
          <p:cNvSpPr txBox="1"/>
          <p:nvPr/>
        </p:nvSpPr>
        <p:spPr>
          <a:xfrm>
            <a:off x="7909560" y="2103120"/>
            <a:ext cx="3474720" cy="4206240"/>
          </a:xfrm>
          <a:prstGeom prst="rect">
            <a:avLst/>
          </a:prstGeom>
          <a:noFill/>
          <a:ln/>
        </p:spPr>
        <p:txBody>
          <a:bodyPr wrap="square" lIns="0" tIns="0" rIns="0" bIns="0" rtlCol="0" anchor="t"/>
          <a:lstStyle/>
          <a:p>
            <a:pPr marL="0" indent="0">
              <a:lnSpc>
                <a:spcPct val="120000"/>
              </a:lnSpc>
              <a:buNone/>
            </a:pPr>
            <a:r>
              <a:rPr lang="en-US" sz="1250" b="1" dirty="0">
                <a:solidFill>
                  <a:srgbClr val="1E2761"/>
                </a:solidFill>
                <a:latin typeface="Calibri" pitchFamily="34" charset="0"/>
                <a:ea typeface="Calibri" pitchFamily="34" charset="-122"/>
                <a:cs typeface="Calibri" pitchFamily="34" charset="-120"/>
              </a:rPr>
              <a:t>Por qué importa: </a:t>
            </a:r>
            <a:r>
              <a:rPr lang="en-US" sz="1250" dirty="0">
                <a:solidFill>
                  <a:srgbClr val="1C1C2A"/>
                </a:solidFill>
                <a:latin typeface="Calibri" pitchFamily="34" charset="0"/>
                <a:ea typeface="Calibri" pitchFamily="34" charset="-122"/>
                <a:cs typeface="Calibri" pitchFamily="34" charset="-120"/>
              </a:rPr>
              <a:t> la especificación NO dice CÓMO se implementa — eso es una decisión aparte (estática o dinámica).</a:t>
            </a:r>
            <a:endParaRPr lang="en-US" sz="1250" dirty="0"/>
          </a:p>
          <a:p>
            <a:pPr marL="0" indent="0">
              <a:lnSpc>
                <a:spcPct val="120000"/>
              </a:lnSpc>
              <a:buNone/>
            </a:pPr>
            <a:endParaRPr lang="en-US" sz="1250" dirty="0"/>
          </a:p>
          <a:p>
            <a:pPr marL="0" indent="0">
              <a:lnSpc>
                <a:spcPct val="120000"/>
              </a:lnSpc>
              <a:buNone/>
            </a:pPr>
            <a:r>
              <a:rPr lang="en-US" sz="1250" b="1" dirty="0">
                <a:solidFill>
                  <a:srgbClr val="1E2761"/>
                </a:solidFill>
                <a:latin typeface="Calibri" pitchFamily="34" charset="0"/>
                <a:ea typeface="Calibri" pitchFamily="34" charset="-122"/>
                <a:cs typeface="Calibri" pitchFamily="34" charset="-120"/>
              </a:rPr>
              <a:t>Pre sin cumplir: </a:t>
            </a:r>
            <a:r>
              <a:rPr lang="en-US" sz="1250" dirty="0">
                <a:solidFill>
                  <a:srgbClr val="1C1C2A"/>
                </a:solidFill>
                <a:latin typeface="Calibri" pitchFamily="34" charset="0"/>
                <a:ea typeface="Calibri" pitchFamily="34" charset="-122"/>
                <a:cs typeface="Calibri" pitchFamily="34" charset="-120"/>
              </a:rPr>
              <a:t> la operación queda INDEFINIDA (por eso el código valida con excepciones).</a:t>
            </a:r>
            <a:endParaRPr lang="en-US" sz="1250" dirty="0"/>
          </a:p>
          <a:p>
            <a:pPr marL="0" indent="0">
              <a:lnSpc>
                <a:spcPct val="120000"/>
              </a:lnSpc>
              <a:buNone/>
            </a:pPr>
            <a:endParaRPr lang="en-US" sz="1250" dirty="0"/>
          </a:p>
          <a:p>
            <a:pPr marL="0" indent="0">
              <a:lnSpc>
                <a:spcPct val="120000"/>
              </a:lnSpc>
              <a:buNone/>
            </a:pPr>
            <a:r>
              <a:rPr lang="en-US" sz="1250" b="1" dirty="0">
                <a:solidFill>
                  <a:srgbClr val="1E2761"/>
                </a:solidFill>
                <a:latin typeface="Calibri" pitchFamily="34" charset="0"/>
                <a:ea typeface="Calibri" pitchFamily="34" charset="-122"/>
                <a:cs typeface="Calibri" pitchFamily="34" charset="-120"/>
              </a:rPr>
              <a:t>En el parcial: </a:t>
            </a:r>
            <a:r>
              <a:rPr lang="en-US" sz="1250" dirty="0">
                <a:solidFill>
                  <a:srgbClr val="1C1C2A"/>
                </a:solidFill>
                <a:latin typeface="Calibri" pitchFamily="34" charset="0"/>
                <a:ea typeface="Calibri" pitchFamily="34" charset="-122"/>
                <a:cs typeface="Calibri" pitchFamily="34" charset="-120"/>
              </a:rPr>
              <a:t> completar el Pre/Post de una operación nueva es un tipo de ejercicio típico (ver el simulacro de hoy).</a:t>
            </a:r>
            <a:endParaRPr lang="en-US" sz="1250" dirty="0"/>
          </a:p>
          <a:p>
            <a:pPr marL="0" indent="0">
              <a:lnSpc>
                <a:spcPct val="120000"/>
              </a:lnSpc>
              <a:buNone/>
            </a:pPr>
            <a:endParaRPr lang="en-US" sz="1250" dirty="0"/>
          </a:p>
        </p:txBody>
      </p:sp>
      <p:sp>
        <p:nvSpPr>
          <p:cNvPr id="9" name="Text 7"/>
          <p:cNvSpPr txBox="1"/>
          <p:nvPr/>
        </p:nvSpPr>
        <p:spPr>
          <a:xfrm>
            <a:off x="457200" y="6537960"/>
            <a:ext cx="8229600" cy="274320"/>
          </a:xfrm>
          <a:prstGeom prst="rect">
            <a:avLst/>
          </a:prstGeom>
          <a:noFill/>
          <a:ln/>
        </p:spPr>
        <p:txBody>
          <a:bodyPr wrap="square" lIns="0" tIns="0" rIns="0" bIns="0" rtlCol="0" anchor="ctr"/>
          <a:lstStyle/>
          <a:p>
            <a:pPr marL="0" indent="0" algn="l">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0" name="Text 8"/>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5</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Los tres componentes de un TDA, en código</a:t>
            </a:r>
            <a:endParaRPr lang="es-AR" sz="3000" noProof="0" dirty="0"/>
          </a:p>
        </p:txBody>
      </p:sp>
      <p:sp>
        <p:nvSpPr>
          <p:cNvPr id="4" name="Shape 2"/>
          <p:cNvSpPr/>
          <p:nvPr/>
        </p:nvSpPr>
        <p:spPr>
          <a:xfrm>
            <a:off x="548640" y="1463040"/>
            <a:ext cx="6949440" cy="5029200"/>
          </a:xfrm>
          <a:prstGeom prst="roundRect">
            <a:avLst>
              <a:gd name="adj" fmla="val 1455"/>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00200"/>
            <a:ext cx="6492240" cy="4754880"/>
          </a:xfrm>
          <a:prstGeom prst="rect">
            <a:avLst/>
          </a:prstGeom>
          <a:noFill/>
          <a:ln/>
        </p:spPr>
        <p:txBody>
          <a:bodyPr/>
          <a:lstStyle/>
          <a:p>
            <a:pPr marL="0" indent="0">
              <a:lnSpc>
                <a:spcPct val="115000"/>
              </a:lnSpc>
              <a:buNone/>
            </a:pP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class</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PilaArray</a:t>
            </a: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endParaRPr lang="es-AR" sz="1350" noProof="0" dirty="0">
              <a:solidFill>
                <a:srgbClr val="1C1C2A"/>
              </a:solidFill>
              <a:latin typeface="Courier New" pitchFamily="34" charset="0"/>
              <a:ea typeface="Courier New" pitchFamily="34" charset="-122"/>
              <a:cs typeface="Courier New" pitchFamily="34" charset="-120"/>
            </a:endParaRPr>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private</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Object</a:t>
            </a:r>
            <a:r>
              <a:rPr lang="es-AR" sz="1350" noProof="0" dirty="0">
                <a:solidFill>
                  <a:srgbClr val="1C1C2A"/>
                </a:solidFill>
                <a:latin typeface="Courier New" pitchFamily="34" charset="0"/>
                <a:ea typeface="Courier New" pitchFamily="34" charset="-122"/>
                <a:cs typeface="Courier New" pitchFamily="34" charset="-120"/>
              </a:rPr>
              <a:t>[] datos;</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private</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int</a:t>
            </a:r>
            <a:r>
              <a:rPr lang="es-AR" sz="1350" noProof="0" dirty="0">
                <a:solidFill>
                  <a:srgbClr val="1C1C2A"/>
                </a:solidFill>
                <a:latin typeface="Courier New" pitchFamily="34" charset="0"/>
                <a:ea typeface="Courier New" pitchFamily="34" charset="-122"/>
                <a:cs typeface="Courier New" pitchFamily="34" charset="-120"/>
              </a:rPr>
              <a:t> tope;</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PilarArray</a:t>
            </a:r>
            <a:r>
              <a:rPr lang="es-AR" sz="1350" noProof="0" dirty="0">
                <a:solidFill>
                  <a:srgbClr val="1C1C2A"/>
                </a:solidFill>
                <a:latin typeface="Courier New" pitchFamily="34" charset="0"/>
                <a:ea typeface="Courier New" pitchFamily="34" charset="-122"/>
                <a:cs typeface="Courier New" pitchFamily="34" charset="-120"/>
              </a:rPr>
              <a:t>(</a:t>
            </a:r>
            <a:r>
              <a:rPr lang="es-AR" sz="1350" noProof="0" dirty="0" err="1">
                <a:solidFill>
                  <a:srgbClr val="1C1C2A"/>
                </a:solidFill>
                <a:latin typeface="Courier New" pitchFamily="34" charset="0"/>
                <a:ea typeface="Courier New" pitchFamily="34" charset="-122"/>
                <a:cs typeface="Courier New" pitchFamily="34" charset="-120"/>
              </a:rPr>
              <a:t>int</a:t>
            </a:r>
            <a:r>
              <a:rPr lang="es-AR" sz="1350" noProof="0" dirty="0">
                <a:solidFill>
                  <a:srgbClr val="1C1C2A"/>
                </a:solidFill>
                <a:latin typeface="Courier New" pitchFamily="34" charset="0"/>
                <a:ea typeface="Courier New" pitchFamily="34" charset="-122"/>
                <a:cs typeface="Courier New" pitchFamily="34" charset="-120"/>
              </a:rPr>
              <a:t> capacidad) {</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datos = new </a:t>
            </a:r>
            <a:r>
              <a:rPr lang="es-AR" sz="1350" noProof="0" dirty="0" err="1">
                <a:solidFill>
                  <a:srgbClr val="1C1C2A"/>
                </a:solidFill>
                <a:latin typeface="Courier New" pitchFamily="34" charset="0"/>
                <a:ea typeface="Courier New" pitchFamily="34" charset="-122"/>
                <a:cs typeface="Courier New" pitchFamily="34" charset="-120"/>
              </a:rPr>
              <a:t>Object</a:t>
            </a:r>
            <a:r>
              <a:rPr lang="es-AR" sz="1350" noProof="0" dirty="0">
                <a:solidFill>
                  <a:srgbClr val="1C1C2A"/>
                </a:solidFill>
                <a:latin typeface="Courier New" pitchFamily="34" charset="0"/>
                <a:ea typeface="Courier New" pitchFamily="34" charset="-122"/>
                <a:cs typeface="Courier New" pitchFamily="34" charset="-120"/>
              </a:rPr>
              <a:t>[capacidad];</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tope = -1;</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void</a:t>
            </a:r>
            <a:r>
              <a:rPr lang="es-AR" sz="1350" noProof="0" dirty="0">
                <a:solidFill>
                  <a:srgbClr val="1C1C2A"/>
                </a:solidFill>
                <a:latin typeface="Courier New" pitchFamily="34" charset="0"/>
                <a:ea typeface="Courier New" pitchFamily="34" charset="-122"/>
                <a:cs typeface="Courier New" pitchFamily="34" charset="-120"/>
              </a:rPr>
              <a:t> apilar(</a:t>
            </a:r>
            <a:r>
              <a:rPr lang="es-AR" sz="1350" noProof="0" dirty="0" err="1">
                <a:solidFill>
                  <a:srgbClr val="1C1C2A"/>
                </a:solidFill>
                <a:latin typeface="Courier New" pitchFamily="34" charset="0"/>
                <a:ea typeface="Courier New" pitchFamily="34" charset="-122"/>
                <a:cs typeface="Courier New" pitchFamily="34" charset="-120"/>
              </a:rPr>
              <a:t>Object</a:t>
            </a:r>
            <a:r>
              <a:rPr lang="es-AR" sz="1350" noProof="0" dirty="0">
                <a:solidFill>
                  <a:srgbClr val="1C1C2A"/>
                </a:solidFill>
                <a:latin typeface="Courier New" pitchFamily="34" charset="0"/>
                <a:ea typeface="Courier New" pitchFamily="34" charset="-122"/>
                <a:cs typeface="Courier New" pitchFamily="34" charset="-120"/>
              </a:rPr>
              <a:t> x) {</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datos[++tope] = x;</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Object</a:t>
            </a:r>
            <a:r>
              <a:rPr lang="es-AR" sz="1350" noProof="0" dirty="0">
                <a:solidFill>
                  <a:srgbClr val="1C1C2A"/>
                </a:solidFill>
                <a:latin typeface="Courier New" pitchFamily="34" charset="0"/>
                <a:ea typeface="Courier New" pitchFamily="34" charset="-122"/>
                <a:cs typeface="Courier New" pitchFamily="34" charset="-120"/>
              </a:rPr>
              <a:t> tope()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return</a:t>
            </a:r>
            <a:r>
              <a:rPr lang="es-AR" sz="1350" noProof="0" dirty="0">
                <a:solidFill>
                  <a:srgbClr val="1C1C2A"/>
                </a:solidFill>
                <a:latin typeface="Courier New" pitchFamily="34" charset="0"/>
                <a:ea typeface="Courier New" pitchFamily="34" charset="-122"/>
                <a:cs typeface="Courier New" pitchFamily="34" charset="-120"/>
              </a:rPr>
              <a:t> datos[tope];</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boolean</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esVacia</a:t>
            </a: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return</a:t>
            </a:r>
            <a:r>
              <a:rPr lang="es-AR" sz="1350" noProof="0" dirty="0">
                <a:solidFill>
                  <a:srgbClr val="1C1C2A"/>
                </a:solidFill>
                <a:latin typeface="Courier New" pitchFamily="34" charset="0"/>
                <a:ea typeface="Courier New" pitchFamily="34" charset="-122"/>
                <a:cs typeface="Courier New" pitchFamily="34" charset="-120"/>
              </a:rPr>
              <a:t> tope == -1;</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a:t>
            </a:r>
            <a:endParaRPr lang="es-AR" sz="1350" noProof="0" dirty="0"/>
          </a:p>
        </p:txBody>
      </p:sp>
      <p:sp>
        <p:nvSpPr>
          <p:cNvPr id="6" name="Shape 4"/>
          <p:cNvSpPr/>
          <p:nvPr/>
        </p:nvSpPr>
        <p:spPr>
          <a:xfrm>
            <a:off x="7680960" y="1463040"/>
            <a:ext cx="3931920" cy="5029200"/>
          </a:xfrm>
          <a:prstGeom prst="roundRect">
            <a:avLst>
              <a:gd name="adj" fmla="val 2326"/>
            </a:avLst>
          </a:prstGeom>
          <a:solidFill>
            <a:srgbClr val="F5F7FC"/>
          </a:solidFill>
          <a:ln w="12700">
            <a:solidFill>
              <a:srgbClr val="CADCFC"/>
            </a:solidFill>
            <a:prstDash val="solid"/>
          </a:ln>
        </p:spPr>
        <p:txBody>
          <a:bodyPr/>
          <a:lstStyle/>
          <a:p>
            <a:endParaRPr lang="es-AR" noProof="0" dirty="0"/>
          </a:p>
        </p:txBody>
      </p:sp>
      <p:sp>
        <p:nvSpPr>
          <p:cNvPr id="7" name="Text 5"/>
          <p:cNvSpPr/>
          <p:nvPr/>
        </p:nvSpPr>
        <p:spPr>
          <a:xfrm>
            <a:off x="7909560" y="1645920"/>
            <a:ext cx="3474720" cy="365760"/>
          </a:xfrm>
          <a:prstGeom prst="rect">
            <a:avLst/>
          </a:prstGeom>
          <a:noFill/>
          <a:ln/>
        </p:spPr>
        <p:txBody>
          <a:bodyPr wrap="square" rtlCol="0" anchor="ctr"/>
          <a:lstStyle/>
          <a:p>
            <a:pPr marL="0" indent="0">
              <a:buNone/>
            </a:pPr>
            <a:r>
              <a:rPr lang="es-AR" sz="1300" b="1" noProof="0" dirty="0">
                <a:solidFill>
                  <a:srgbClr val="1E2761"/>
                </a:solidFill>
                <a:latin typeface="Calibri" pitchFamily="34" charset="0"/>
                <a:ea typeface="Calibri" pitchFamily="34" charset="-122"/>
                <a:cs typeface="Calibri" pitchFamily="34" charset="-120"/>
              </a:rPr>
              <a:t>Detalle</a:t>
            </a:r>
            <a:endParaRPr lang="es-AR" sz="1300" noProof="0" dirty="0"/>
          </a:p>
        </p:txBody>
      </p:sp>
      <p:sp>
        <p:nvSpPr>
          <p:cNvPr id="8" name="Text 6"/>
          <p:cNvSpPr/>
          <p:nvPr/>
        </p:nvSpPr>
        <p:spPr>
          <a:xfrm>
            <a:off x="7909560" y="2103120"/>
            <a:ext cx="3474720" cy="4206240"/>
          </a:xfrm>
          <a:prstGeom prst="rect">
            <a:avLst/>
          </a:prstGeom>
          <a:noFill/>
          <a:ln/>
        </p:spPr>
        <p:txBody>
          <a:bodyPr/>
          <a:lstStyle/>
          <a:p>
            <a:pPr marL="0" indent="0">
              <a:buNone/>
            </a:pPr>
            <a:r>
              <a:rPr lang="es-AR" sz="1250" b="1" noProof="0" dirty="0">
                <a:solidFill>
                  <a:srgbClr val="1E2761"/>
                </a:solidFill>
                <a:latin typeface="Calibri" pitchFamily="34" charset="0"/>
                <a:ea typeface="Calibri" pitchFamily="34" charset="-122"/>
                <a:cs typeface="Calibri" pitchFamily="34" charset="-120"/>
              </a:rPr>
              <a:t>Datos: </a:t>
            </a:r>
            <a:r>
              <a:rPr lang="es-AR" sz="1250" noProof="0" dirty="0">
                <a:solidFill>
                  <a:srgbClr val="1C1C2A"/>
                </a:solidFill>
                <a:latin typeface="Calibri" pitchFamily="34" charset="0"/>
                <a:ea typeface="Calibri" pitchFamily="34" charset="-122"/>
                <a:cs typeface="Calibri" pitchFamily="34" charset="-120"/>
              </a:rPr>
              <a:t>el array datos y el índice tope guardan la información de la Pila.
</a:t>
            </a:r>
            <a:r>
              <a:rPr lang="es-AR" sz="1250" b="1" noProof="0" dirty="0">
                <a:solidFill>
                  <a:srgbClr val="1E2761"/>
                </a:solidFill>
                <a:latin typeface="Calibri" pitchFamily="34" charset="0"/>
                <a:ea typeface="Calibri" pitchFamily="34" charset="-122"/>
                <a:cs typeface="Calibri" pitchFamily="34" charset="-120"/>
              </a:rPr>
              <a:t>Operaciones: </a:t>
            </a:r>
            <a:r>
              <a:rPr lang="es-AR" sz="1250" noProof="0" dirty="0">
                <a:solidFill>
                  <a:srgbClr val="1C1C2A"/>
                </a:solidFill>
                <a:latin typeface="Calibri" pitchFamily="34" charset="0"/>
                <a:ea typeface="Calibri" pitchFamily="34" charset="-122"/>
                <a:cs typeface="Calibri" pitchFamily="34" charset="-120"/>
              </a:rPr>
              <a:t>apilar(), tope(), </a:t>
            </a:r>
            <a:r>
              <a:rPr lang="es-AR" sz="1250" noProof="0" dirty="0" err="1">
                <a:solidFill>
                  <a:srgbClr val="1C1C2A"/>
                </a:solidFill>
                <a:latin typeface="Calibri" pitchFamily="34" charset="0"/>
                <a:ea typeface="Calibri" pitchFamily="34" charset="-122"/>
                <a:cs typeface="Calibri" pitchFamily="34" charset="-120"/>
              </a:rPr>
              <a:t>esVacia</a:t>
            </a:r>
            <a:r>
              <a:rPr lang="es-AR" sz="1250" noProof="0" dirty="0">
                <a:solidFill>
                  <a:srgbClr val="1C1C2A"/>
                </a:solidFill>
                <a:latin typeface="Calibri" pitchFamily="34" charset="0"/>
                <a:ea typeface="Calibri" pitchFamily="34" charset="-122"/>
                <a:cs typeface="Calibri" pitchFamily="34" charset="-120"/>
              </a:rPr>
              <a:t>() son la única forma válida de tocar esos datos.
</a:t>
            </a:r>
            <a:r>
              <a:rPr lang="es-AR" sz="1250" b="1" noProof="0" dirty="0">
                <a:solidFill>
                  <a:srgbClr val="1E2761"/>
                </a:solidFill>
                <a:latin typeface="Calibri" pitchFamily="34" charset="0"/>
                <a:ea typeface="Calibri" pitchFamily="34" charset="-122"/>
                <a:cs typeface="Calibri" pitchFamily="34" charset="-120"/>
              </a:rPr>
              <a:t>Encapsulamiento: </a:t>
            </a:r>
            <a:r>
              <a:rPr lang="es-AR" sz="1250" noProof="0" dirty="0" err="1">
                <a:solidFill>
                  <a:srgbClr val="1C1C2A"/>
                </a:solidFill>
                <a:latin typeface="Calibri" pitchFamily="34" charset="0"/>
                <a:ea typeface="Calibri" pitchFamily="34" charset="-122"/>
                <a:cs typeface="Calibri" pitchFamily="34" charset="-120"/>
              </a:rPr>
              <a:t>private</a:t>
            </a:r>
            <a:r>
              <a:rPr lang="es-AR" sz="1250" noProof="0" dirty="0">
                <a:solidFill>
                  <a:srgbClr val="1C1C2A"/>
                </a:solidFill>
                <a:latin typeface="Calibri" pitchFamily="34" charset="0"/>
                <a:ea typeface="Calibri" pitchFamily="34" charset="-122"/>
                <a:cs typeface="Calibri" pitchFamily="34" charset="-120"/>
              </a:rPr>
              <a:t> impide escribir </a:t>
            </a:r>
            <a:r>
              <a:rPr lang="es-AR" sz="1250" noProof="0" dirty="0" err="1">
                <a:solidFill>
                  <a:srgbClr val="1C1C2A"/>
                </a:solidFill>
                <a:latin typeface="Calibri" pitchFamily="34" charset="0"/>
                <a:ea typeface="Calibri" pitchFamily="34" charset="-122"/>
                <a:cs typeface="Calibri" pitchFamily="34" charset="-120"/>
              </a:rPr>
              <a:t>pila.datos</a:t>
            </a:r>
            <a:r>
              <a:rPr lang="es-AR" sz="1250" noProof="0" dirty="0">
                <a:solidFill>
                  <a:srgbClr val="1C1C2A"/>
                </a:solidFill>
                <a:latin typeface="Calibri" pitchFamily="34" charset="0"/>
                <a:ea typeface="Calibri" pitchFamily="34" charset="-122"/>
                <a:cs typeface="Calibri" pitchFamily="34" charset="-120"/>
              </a:rPr>
              <a:t>[0] = x desde afuera de la clase.</a:t>
            </a:r>
            <a:endParaRPr lang="es-AR" sz="1250" noProof="0" dirty="0"/>
          </a:p>
        </p:txBody>
      </p:sp>
      <p:sp>
        <p:nvSpPr>
          <p:cNvPr id="9" name="Text 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10" name="Text 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6</a:t>
            </a:r>
            <a:endParaRPr lang="es-AR" sz="10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5</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err="1">
                <a:solidFill>
                  <a:srgbClr val="1E2761"/>
                </a:solidFill>
                <a:latin typeface="Cambria" pitchFamily="34" charset="0"/>
                <a:ea typeface="Cambria" pitchFamily="34" charset="-122"/>
                <a:cs typeface="Cambria" pitchFamily="34" charset="-120"/>
              </a:rPr>
              <a:t>TDAs</a:t>
            </a:r>
            <a:r>
              <a:rPr lang="es-AR" sz="3000" b="1" noProof="0" dirty="0">
                <a:solidFill>
                  <a:srgbClr val="1E2761"/>
                </a:solidFill>
                <a:latin typeface="Cambria" pitchFamily="34" charset="0"/>
                <a:ea typeface="Cambria" pitchFamily="34" charset="-122"/>
                <a:cs typeface="Cambria" pitchFamily="34" charset="-120"/>
              </a:rPr>
              <a:t> que vimos</a:t>
            </a:r>
            <a:endParaRPr lang="es-AR" sz="3000" noProof="0" dirty="0"/>
          </a:p>
        </p:txBody>
      </p:sp>
      <p:sp>
        <p:nvSpPr>
          <p:cNvPr id="30" name="Text 28"/>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31" name="Text 29"/>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7</a:t>
            </a:r>
            <a:endParaRPr lang="es-AR" sz="1000" noProof="0" dirty="0"/>
          </a:p>
        </p:txBody>
      </p:sp>
      <p:pic>
        <p:nvPicPr>
          <p:cNvPr id="35" name="Imagen 34">
            <a:extLst>
              <a:ext uri="{FF2B5EF4-FFF2-40B4-BE49-F238E27FC236}">
                <a16:creationId xmlns:a16="http://schemas.microsoft.com/office/drawing/2014/main" id="{50690305-CFA2-C69E-6B90-21D50E6D7981}"/>
              </a:ext>
            </a:extLst>
          </p:cNvPr>
          <p:cNvPicPr>
            <a:picLocks noChangeAspect="1"/>
          </p:cNvPicPr>
          <p:nvPr/>
        </p:nvPicPr>
        <p:blipFill>
          <a:blip r:embed="rId3"/>
          <a:stretch>
            <a:fillRect/>
          </a:stretch>
        </p:blipFill>
        <p:spPr>
          <a:xfrm>
            <a:off x="548641" y="1432654"/>
            <a:ext cx="11437560" cy="43920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6</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Estructura básica de una clase en Java</a:t>
            </a:r>
            <a:endParaRPr lang="es-AR" sz="3000" noProof="0" dirty="0"/>
          </a:p>
        </p:txBody>
      </p:sp>
      <p:sp>
        <p:nvSpPr>
          <p:cNvPr id="4" name="Shape 2"/>
          <p:cNvSpPr/>
          <p:nvPr/>
        </p:nvSpPr>
        <p:spPr>
          <a:xfrm>
            <a:off x="548640" y="1463040"/>
            <a:ext cx="6309360" cy="5029200"/>
          </a:xfrm>
          <a:prstGeom prst="roundRect">
            <a:avLst>
              <a:gd name="adj" fmla="val 1455"/>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00200"/>
            <a:ext cx="5852160" cy="4754880"/>
          </a:xfrm>
          <a:prstGeom prst="rect">
            <a:avLst/>
          </a:prstGeom>
          <a:noFill/>
          <a:ln/>
        </p:spPr>
        <p:txBody>
          <a:bodyPr wrap="square" rtlCol="0" anchor="t"/>
          <a:lstStyle/>
          <a:p>
            <a:pPr marL="0" indent="0">
              <a:lnSpc>
                <a:spcPct val="115000"/>
              </a:lnSpc>
              <a:buNone/>
            </a:pP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class</a:t>
            </a:r>
            <a:r>
              <a:rPr lang="es-AR" sz="1300" noProof="0" dirty="0">
                <a:solidFill>
                  <a:srgbClr val="1C1C2A"/>
                </a:solidFill>
                <a:latin typeface="Courier New" pitchFamily="34" charset="0"/>
                <a:ea typeface="Courier New" pitchFamily="34" charset="-122"/>
                <a:cs typeface="Courier New" pitchFamily="34" charset="-120"/>
              </a:rPr>
              <a:t> Persona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private</a:t>
            </a:r>
            <a:r>
              <a:rPr lang="es-AR" sz="1300" noProof="0" dirty="0">
                <a:solidFill>
                  <a:srgbClr val="1C1C2A"/>
                </a:solidFill>
                <a:latin typeface="Courier New" pitchFamily="34" charset="0"/>
                <a:ea typeface="Courier New" pitchFamily="34" charset="-122"/>
                <a:cs typeface="Courier New" pitchFamily="34" charset="-120"/>
              </a:rPr>
              <a:t> String nombre;   // atributo privado</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private</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edad;</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Persona(String nombre,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edad)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this.nombre</a:t>
            </a:r>
            <a:r>
              <a:rPr lang="es-AR" sz="1300" noProof="0" dirty="0">
                <a:solidFill>
                  <a:srgbClr val="1C1C2A"/>
                </a:solidFill>
                <a:latin typeface="Courier New" pitchFamily="34" charset="0"/>
                <a:ea typeface="Courier New" pitchFamily="34" charset="-122"/>
                <a:cs typeface="Courier New" pitchFamily="34" charset="-120"/>
              </a:rPr>
              <a:t> = nombre;</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this.edad</a:t>
            </a:r>
            <a:r>
              <a:rPr lang="es-AR" sz="1300" noProof="0" dirty="0">
                <a:solidFill>
                  <a:srgbClr val="1C1C2A"/>
                </a:solidFill>
                <a:latin typeface="Courier New" pitchFamily="34" charset="0"/>
                <a:ea typeface="Courier New" pitchFamily="34" charset="-122"/>
                <a:cs typeface="Courier New" pitchFamily="34" charset="-120"/>
              </a:rPr>
              <a:t> = edad;</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String </a:t>
            </a:r>
            <a:r>
              <a:rPr lang="es-AR" sz="1300" noProof="0" dirty="0" err="1">
                <a:solidFill>
                  <a:srgbClr val="1C1C2A"/>
                </a:solidFill>
                <a:latin typeface="Courier New" pitchFamily="34" charset="0"/>
                <a:ea typeface="Courier New" pitchFamily="34" charset="-122"/>
                <a:cs typeface="Courier New" pitchFamily="34" charset="-120"/>
              </a:rPr>
              <a:t>getNombre</a:t>
            </a: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return</a:t>
            </a:r>
            <a:r>
              <a:rPr lang="es-AR" sz="1300" noProof="0" dirty="0">
                <a:solidFill>
                  <a:srgbClr val="1C1C2A"/>
                </a:solidFill>
                <a:latin typeface="Courier New" pitchFamily="34" charset="0"/>
                <a:ea typeface="Courier New" pitchFamily="34" charset="-122"/>
                <a:cs typeface="Courier New" pitchFamily="34" charset="-120"/>
              </a:rPr>
              <a:t> nombre;</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void</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cumplirAnios</a:t>
            </a: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edad++;</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a:t>
            </a:r>
            <a:endParaRPr lang="es-AR" sz="1300" noProof="0" dirty="0"/>
          </a:p>
        </p:txBody>
      </p:sp>
      <p:sp>
        <p:nvSpPr>
          <p:cNvPr id="6" name="Shape 4"/>
          <p:cNvSpPr/>
          <p:nvPr/>
        </p:nvSpPr>
        <p:spPr>
          <a:xfrm>
            <a:off x="7086600" y="1554480"/>
            <a:ext cx="4526280" cy="1051560"/>
          </a:xfrm>
          <a:prstGeom prst="roundRect">
            <a:avLst>
              <a:gd name="adj" fmla="val 6957"/>
            </a:avLst>
          </a:prstGeom>
          <a:solidFill>
            <a:srgbClr val="F5F7FC"/>
          </a:solidFill>
          <a:ln w="12700">
            <a:solidFill>
              <a:srgbClr val="CADCFC"/>
            </a:solidFill>
            <a:prstDash val="solid"/>
          </a:ln>
        </p:spPr>
        <p:txBody>
          <a:bodyPr/>
          <a:lstStyle/>
          <a:p>
            <a:endParaRPr lang="es-AR" noProof="0" dirty="0"/>
          </a:p>
        </p:txBody>
      </p:sp>
      <p:sp>
        <p:nvSpPr>
          <p:cNvPr id="7" name="Text 5"/>
          <p:cNvSpPr/>
          <p:nvPr/>
        </p:nvSpPr>
        <p:spPr>
          <a:xfrm>
            <a:off x="7315200" y="1627632"/>
            <a:ext cx="4023360" cy="320040"/>
          </a:xfrm>
          <a:prstGeom prst="rect">
            <a:avLst/>
          </a:prstGeom>
          <a:noFill/>
          <a:ln/>
        </p:spPr>
        <p:txBody>
          <a:bodyPr wrap="square" rtlCol="0" anchor="ctr"/>
          <a:lstStyle/>
          <a:p>
            <a:pPr marL="0" indent="0">
              <a:buNone/>
            </a:pPr>
            <a:r>
              <a:rPr lang="es-AR" sz="1300" b="1" noProof="0" dirty="0" err="1">
                <a:solidFill>
                  <a:srgbClr val="1E2761"/>
                </a:solidFill>
                <a:latin typeface="Courier New" pitchFamily="34" charset="0"/>
                <a:ea typeface="Courier New" pitchFamily="34" charset="-122"/>
                <a:cs typeface="Courier New" pitchFamily="34" charset="-120"/>
              </a:rPr>
              <a:t>class</a:t>
            </a:r>
            <a:endParaRPr lang="es-AR" sz="1300" noProof="0" dirty="0"/>
          </a:p>
        </p:txBody>
      </p:sp>
      <p:sp>
        <p:nvSpPr>
          <p:cNvPr id="8" name="Text 6"/>
          <p:cNvSpPr/>
          <p:nvPr/>
        </p:nvSpPr>
        <p:spPr>
          <a:xfrm>
            <a:off x="7315200" y="1938528"/>
            <a:ext cx="4023360" cy="59436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Define un nuevo tipo. El TDA se traduce en una clase Java.</a:t>
            </a:r>
            <a:endParaRPr lang="es-AR" sz="1150" noProof="0" dirty="0"/>
          </a:p>
        </p:txBody>
      </p:sp>
      <p:sp>
        <p:nvSpPr>
          <p:cNvPr id="9" name="Shape 7"/>
          <p:cNvSpPr/>
          <p:nvPr/>
        </p:nvSpPr>
        <p:spPr>
          <a:xfrm>
            <a:off x="7086600" y="2761488"/>
            <a:ext cx="4526280" cy="1051560"/>
          </a:xfrm>
          <a:prstGeom prst="roundRect">
            <a:avLst>
              <a:gd name="adj" fmla="val 6957"/>
            </a:avLst>
          </a:prstGeom>
          <a:solidFill>
            <a:srgbClr val="F5F7FC"/>
          </a:solidFill>
          <a:ln w="12700">
            <a:solidFill>
              <a:srgbClr val="CADCFC"/>
            </a:solidFill>
            <a:prstDash val="solid"/>
          </a:ln>
        </p:spPr>
        <p:txBody>
          <a:bodyPr/>
          <a:lstStyle/>
          <a:p>
            <a:endParaRPr lang="es-AR" noProof="0" dirty="0"/>
          </a:p>
        </p:txBody>
      </p:sp>
      <p:sp>
        <p:nvSpPr>
          <p:cNvPr id="10" name="Text 8"/>
          <p:cNvSpPr/>
          <p:nvPr/>
        </p:nvSpPr>
        <p:spPr>
          <a:xfrm>
            <a:off x="7315200" y="2834640"/>
            <a:ext cx="4023360" cy="320040"/>
          </a:xfrm>
          <a:prstGeom prst="rect">
            <a:avLst/>
          </a:prstGeom>
          <a:noFill/>
          <a:ln/>
        </p:spPr>
        <p:txBody>
          <a:bodyPr wrap="square" rtlCol="0" anchor="ctr"/>
          <a:lstStyle/>
          <a:p>
            <a:pPr marL="0" indent="0">
              <a:buNone/>
            </a:pPr>
            <a:r>
              <a:rPr lang="es-AR" sz="1300" b="1" noProof="0" dirty="0" err="1">
                <a:solidFill>
                  <a:srgbClr val="1E2761"/>
                </a:solidFill>
                <a:latin typeface="Courier New" pitchFamily="34" charset="0"/>
                <a:ea typeface="Courier New" pitchFamily="34" charset="-122"/>
                <a:cs typeface="Courier New" pitchFamily="34" charset="-120"/>
              </a:rPr>
              <a:t>private</a:t>
            </a:r>
            <a:endParaRPr lang="es-AR" sz="1300" noProof="0" dirty="0"/>
          </a:p>
        </p:txBody>
      </p:sp>
      <p:sp>
        <p:nvSpPr>
          <p:cNvPr id="11" name="Text 9"/>
          <p:cNvSpPr/>
          <p:nvPr/>
        </p:nvSpPr>
        <p:spPr>
          <a:xfrm>
            <a:off x="7315200" y="3145536"/>
            <a:ext cx="4023360" cy="59436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Encapsula el atributo — nadie de afuera lo toca directo.</a:t>
            </a:r>
            <a:endParaRPr lang="es-AR" sz="1150" noProof="0" dirty="0"/>
          </a:p>
        </p:txBody>
      </p:sp>
      <p:sp>
        <p:nvSpPr>
          <p:cNvPr id="12" name="Shape 10"/>
          <p:cNvSpPr/>
          <p:nvPr/>
        </p:nvSpPr>
        <p:spPr>
          <a:xfrm>
            <a:off x="7086600" y="3968496"/>
            <a:ext cx="4526280" cy="1051560"/>
          </a:xfrm>
          <a:prstGeom prst="roundRect">
            <a:avLst>
              <a:gd name="adj" fmla="val 6957"/>
            </a:avLst>
          </a:prstGeom>
          <a:solidFill>
            <a:srgbClr val="F5F7FC"/>
          </a:solidFill>
          <a:ln w="12700">
            <a:solidFill>
              <a:srgbClr val="CADCFC"/>
            </a:solidFill>
            <a:prstDash val="solid"/>
          </a:ln>
        </p:spPr>
        <p:txBody>
          <a:bodyPr/>
          <a:lstStyle/>
          <a:p>
            <a:endParaRPr lang="es-AR" noProof="0" dirty="0"/>
          </a:p>
        </p:txBody>
      </p:sp>
      <p:sp>
        <p:nvSpPr>
          <p:cNvPr id="13" name="Text 11"/>
          <p:cNvSpPr/>
          <p:nvPr/>
        </p:nvSpPr>
        <p:spPr>
          <a:xfrm>
            <a:off x="7315200" y="4041648"/>
            <a:ext cx="4023360" cy="32004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constructor</a:t>
            </a:r>
            <a:endParaRPr lang="es-AR" sz="1300" noProof="0" dirty="0"/>
          </a:p>
        </p:txBody>
      </p:sp>
      <p:sp>
        <p:nvSpPr>
          <p:cNvPr id="14" name="Text 12"/>
          <p:cNvSpPr/>
          <p:nvPr/>
        </p:nvSpPr>
        <p:spPr>
          <a:xfrm>
            <a:off x="7315200" y="4352544"/>
            <a:ext cx="4023360" cy="59436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Mismo nombre que la clase, sin tipo de retorno.</a:t>
            </a:r>
            <a:endParaRPr lang="es-AR" sz="1150" noProof="0" dirty="0"/>
          </a:p>
        </p:txBody>
      </p:sp>
      <p:sp>
        <p:nvSpPr>
          <p:cNvPr id="15" name="Shape 13"/>
          <p:cNvSpPr/>
          <p:nvPr/>
        </p:nvSpPr>
        <p:spPr>
          <a:xfrm>
            <a:off x="7086600" y="5175504"/>
            <a:ext cx="4526280" cy="1051560"/>
          </a:xfrm>
          <a:prstGeom prst="roundRect">
            <a:avLst>
              <a:gd name="adj" fmla="val 6957"/>
            </a:avLst>
          </a:prstGeom>
          <a:solidFill>
            <a:srgbClr val="F5F7FC"/>
          </a:solidFill>
          <a:ln w="12700">
            <a:solidFill>
              <a:srgbClr val="CADCFC"/>
            </a:solidFill>
            <a:prstDash val="solid"/>
          </a:ln>
        </p:spPr>
        <p:txBody>
          <a:bodyPr/>
          <a:lstStyle/>
          <a:p>
            <a:endParaRPr lang="es-AR" noProof="0" dirty="0"/>
          </a:p>
        </p:txBody>
      </p:sp>
      <p:sp>
        <p:nvSpPr>
          <p:cNvPr id="16" name="Text 14"/>
          <p:cNvSpPr/>
          <p:nvPr/>
        </p:nvSpPr>
        <p:spPr>
          <a:xfrm>
            <a:off x="7315200" y="5248656"/>
            <a:ext cx="4023360" cy="320040"/>
          </a:xfrm>
          <a:prstGeom prst="rect">
            <a:avLst/>
          </a:prstGeom>
          <a:noFill/>
          <a:ln/>
        </p:spPr>
        <p:txBody>
          <a:bodyPr wrap="square" rtlCol="0" anchor="ctr"/>
          <a:lstStyle/>
          <a:p>
            <a:pPr marL="0" indent="0">
              <a:buNone/>
            </a:pPr>
            <a:r>
              <a:rPr lang="es-AR" sz="1300" b="1" noProof="0" dirty="0" err="1">
                <a:solidFill>
                  <a:srgbClr val="1E2761"/>
                </a:solidFill>
                <a:latin typeface="Courier New" pitchFamily="34" charset="0"/>
                <a:ea typeface="Courier New" pitchFamily="34" charset="-122"/>
                <a:cs typeface="Courier New" pitchFamily="34" charset="-120"/>
              </a:rPr>
              <a:t>getNombre</a:t>
            </a:r>
            <a:r>
              <a:rPr lang="es-AR" sz="1300" b="1" noProof="0" dirty="0">
                <a:solidFill>
                  <a:srgbClr val="1E2761"/>
                </a:solidFill>
                <a:latin typeface="Courier New" pitchFamily="34" charset="0"/>
                <a:ea typeface="Courier New" pitchFamily="34" charset="-122"/>
                <a:cs typeface="Courier New" pitchFamily="34" charset="-120"/>
              </a:rPr>
              <a:t>()</a:t>
            </a:r>
            <a:endParaRPr lang="es-AR" sz="1300" noProof="0" dirty="0"/>
          </a:p>
        </p:txBody>
      </p:sp>
      <p:sp>
        <p:nvSpPr>
          <p:cNvPr id="17" name="Text 15"/>
          <p:cNvSpPr/>
          <p:nvPr/>
        </p:nvSpPr>
        <p:spPr>
          <a:xfrm>
            <a:off x="7315200" y="5559552"/>
            <a:ext cx="4023360" cy="59436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Método público: la única forma de leer el atributo desde afuera.</a:t>
            </a:r>
            <a:endParaRPr lang="es-AR" sz="1150" noProof="0" dirty="0"/>
          </a:p>
        </p:txBody>
      </p:sp>
      <p:sp>
        <p:nvSpPr>
          <p:cNvPr id="18" name="Text 16"/>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19" name="Text 17"/>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8</a:t>
            </a:r>
            <a:endParaRPr lang="es-AR" sz="10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6</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Modificadores de acceso</a:t>
            </a:r>
            <a:endParaRPr lang="es-AR" sz="3000" noProof="0" dirty="0"/>
          </a:p>
        </p:txBody>
      </p:sp>
      <p:sp>
        <p:nvSpPr>
          <p:cNvPr id="4" name="Shape 2"/>
          <p:cNvSpPr/>
          <p:nvPr/>
        </p:nvSpPr>
        <p:spPr>
          <a:xfrm>
            <a:off x="548640" y="1737360"/>
            <a:ext cx="3611880" cy="3840480"/>
          </a:xfrm>
          <a:prstGeom prst="roundRect">
            <a:avLst>
              <a:gd name="adj" fmla="val 2532"/>
            </a:avLst>
          </a:prstGeom>
          <a:solidFill>
            <a:srgbClr val="F5F7FC"/>
          </a:solidFill>
          <a:ln w="12700">
            <a:solidFill>
              <a:srgbClr val="CADCFC"/>
            </a:solidFill>
            <a:prstDash val="solid"/>
          </a:ln>
        </p:spPr>
        <p:txBody>
          <a:bodyPr/>
          <a:lstStyle/>
          <a:p>
            <a:endParaRPr lang="es-AR" noProof="0" dirty="0"/>
          </a:p>
        </p:txBody>
      </p:sp>
      <p:sp>
        <p:nvSpPr>
          <p:cNvPr id="5" name="Shape 3"/>
          <p:cNvSpPr/>
          <p:nvPr/>
        </p:nvSpPr>
        <p:spPr>
          <a:xfrm>
            <a:off x="822960" y="1965960"/>
            <a:ext cx="3063240" cy="502920"/>
          </a:xfrm>
          <a:prstGeom prst="roundRect">
            <a:avLst>
              <a:gd name="adj" fmla="val 10909"/>
            </a:avLst>
          </a:prstGeom>
          <a:solidFill>
            <a:srgbClr val="1E2761"/>
          </a:solidFill>
          <a:ln/>
        </p:spPr>
        <p:txBody>
          <a:bodyPr/>
          <a:lstStyle/>
          <a:p>
            <a:endParaRPr lang="es-AR" noProof="0" dirty="0"/>
          </a:p>
        </p:txBody>
      </p:sp>
      <p:sp>
        <p:nvSpPr>
          <p:cNvPr id="6" name="Text 4"/>
          <p:cNvSpPr/>
          <p:nvPr/>
        </p:nvSpPr>
        <p:spPr>
          <a:xfrm>
            <a:off x="822960" y="1965960"/>
            <a:ext cx="3063240" cy="502920"/>
          </a:xfrm>
          <a:prstGeom prst="rect">
            <a:avLst/>
          </a:prstGeom>
          <a:noFill/>
          <a:ln/>
        </p:spPr>
        <p:txBody>
          <a:bodyPr wrap="square" rtlCol="0" anchor="ctr"/>
          <a:lstStyle/>
          <a:p>
            <a:pPr marL="0" indent="0" algn="ctr">
              <a:buNone/>
            </a:pPr>
            <a:r>
              <a:rPr lang="es-AR" sz="1500" b="1" noProof="0" dirty="0" err="1">
                <a:solidFill>
                  <a:srgbClr val="FFFFFF"/>
                </a:solidFill>
                <a:latin typeface="Courier New" pitchFamily="34" charset="0"/>
                <a:ea typeface="Courier New" pitchFamily="34" charset="-122"/>
                <a:cs typeface="Courier New" pitchFamily="34" charset="-120"/>
              </a:rPr>
              <a:t>private</a:t>
            </a:r>
            <a:endParaRPr lang="es-AR" sz="1500" noProof="0" dirty="0"/>
          </a:p>
        </p:txBody>
      </p:sp>
      <p:sp>
        <p:nvSpPr>
          <p:cNvPr id="7" name="Text 5"/>
          <p:cNvSpPr/>
          <p:nvPr/>
        </p:nvSpPr>
        <p:spPr>
          <a:xfrm>
            <a:off x="822960" y="2651760"/>
            <a:ext cx="3063240" cy="914400"/>
          </a:xfrm>
          <a:prstGeom prst="rect">
            <a:avLst/>
          </a:prstGeom>
          <a:noFill/>
          <a:ln/>
        </p:spPr>
        <p:txBody>
          <a:bodyPr wrap="square" rtlCol="0" anchor="t"/>
          <a:lstStyle/>
          <a:p>
            <a:pPr marL="0" indent="0">
              <a:buNone/>
            </a:pPr>
            <a:r>
              <a:rPr lang="es-AR" sz="1300" noProof="0" dirty="0">
                <a:solidFill>
                  <a:srgbClr val="1C1C2A"/>
                </a:solidFill>
                <a:latin typeface="Calibri" pitchFamily="34" charset="0"/>
                <a:ea typeface="Calibri" pitchFamily="34" charset="-122"/>
                <a:cs typeface="Calibri" pitchFamily="34" charset="-120"/>
              </a:rPr>
              <a:t>Solo visible dentro de la misma clase.</a:t>
            </a:r>
            <a:endParaRPr lang="es-AR" sz="1300" noProof="0" dirty="0"/>
          </a:p>
        </p:txBody>
      </p:sp>
      <p:sp>
        <p:nvSpPr>
          <p:cNvPr id="8" name="Text 6"/>
          <p:cNvSpPr/>
          <p:nvPr/>
        </p:nvSpPr>
        <p:spPr>
          <a:xfrm>
            <a:off x="822960" y="4480560"/>
            <a:ext cx="3063240" cy="914400"/>
          </a:xfrm>
          <a:prstGeom prst="rect">
            <a:avLst/>
          </a:prstGeom>
          <a:noFill/>
          <a:ln/>
        </p:spPr>
        <p:txBody>
          <a:bodyPr wrap="square" rtlCol="0" anchor="t"/>
          <a:lstStyle/>
          <a:p>
            <a:pPr marL="0" indent="0">
              <a:buNone/>
            </a:pPr>
            <a:r>
              <a:rPr lang="es-AR" sz="1200" i="1" noProof="0" dirty="0">
                <a:solidFill>
                  <a:srgbClr val="5B6472"/>
                </a:solidFill>
                <a:latin typeface="Calibri" pitchFamily="34" charset="0"/>
                <a:ea typeface="Calibri" pitchFamily="34" charset="-122"/>
                <a:cs typeface="Calibri" pitchFamily="34" charset="-120"/>
              </a:rPr>
              <a:t>Clave para encapsular los datos de un TDA.</a:t>
            </a:r>
            <a:endParaRPr lang="es-AR" sz="1200" noProof="0" dirty="0"/>
          </a:p>
        </p:txBody>
      </p:sp>
      <p:sp>
        <p:nvSpPr>
          <p:cNvPr id="9" name="Shape 7"/>
          <p:cNvSpPr/>
          <p:nvPr/>
        </p:nvSpPr>
        <p:spPr>
          <a:xfrm>
            <a:off x="4343400" y="1737360"/>
            <a:ext cx="3611880" cy="3840480"/>
          </a:xfrm>
          <a:prstGeom prst="roundRect">
            <a:avLst>
              <a:gd name="adj" fmla="val 2532"/>
            </a:avLst>
          </a:prstGeom>
          <a:solidFill>
            <a:srgbClr val="F5F7FC"/>
          </a:solidFill>
          <a:ln w="12700">
            <a:solidFill>
              <a:srgbClr val="CADCFC"/>
            </a:solidFill>
            <a:prstDash val="solid"/>
          </a:ln>
        </p:spPr>
        <p:txBody>
          <a:bodyPr/>
          <a:lstStyle/>
          <a:p>
            <a:endParaRPr lang="es-AR" noProof="0" dirty="0"/>
          </a:p>
        </p:txBody>
      </p:sp>
      <p:sp>
        <p:nvSpPr>
          <p:cNvPr id="10" name="Shape 8"/>
          <p:cNvSpPr/>
          <p:nvPr/>
        </p:nvSpPr>
        <p:spPr>
          <a:xfrm>
            <a:off x="4617720" y="1965960"/>
            <a:ext cx="3063240" cy="502920"/>
          </a:xfrm>
          <a:prstGeom prst="roundRect">
            <a:avLst>
              <a:gd name="adj" fmla="val 10909"/>
            </a:avLst>
          </a:prstGeom>
          <a:solidFill>
            <a:srgbClr val="1E2761"/>
          </a:solidFill>
          <a:ln/>
        </p:spPr>
        <p:txBody>
          <a:bodyPr/>
          <a:lstStyle/>
          <a:p>
            <a:endParaRPr lang="es-AR" noProof="0" dirty="0"/>
          </a:p>
        </p:txBody>
      </p:sp>
      <p:sp>
        <p:nvSpPr>
          <p:cNvPr id="11" name="Text 9"/>
          <p:cNvSpPr/>
          <p:nvPr/>
        </p:nvSpPr>
        <p:spPr>
          <a:xfrm>
            <a:off x="4617720" y="1965960"/>
            <a:ext cx="3063240" cy="502920"/>
          </a:xfrm>
          <a:prstGeom prst="rect">
            <a:avLst/>
          </a:prstGeom>
          <a:noFill/>
          <a:ln/>
        </p:spPr>
        <p:txBody>
          <a:bodyPr wrap="square" rtlCol="0" anchor="ctr"/>
          <a:lstStyle/>
          <a:p>
            <a:pPr marL="0" indent="0" algn="ctr">
              <a:buNone/>
            </a:pPr>
            <a:r>
              <a:rPr lang="es-AR" sz="1500" b="1" noProof="0" dirty="0" err="1">
                <a:solidFill>
                  <a:srgbClr val="FFFFFF"/>
                </a:solidFill>
                <a:latin typeface="Courier New" pitchFamily="34" charset="0"/>
                <a:ea typeface="Courier New" pitchFamily="34" charset="-122"/>
                <a:cs typeface="Courier New" pitchFamily="34" charset="-120"/>
              </a:rPr>
              <a:t>public</a:t>
            </a:r>
            <a:endParaRPr lang="es-AR" sz="1500" noProof="0" dirty="0"/>
          </a:p>
        </p:txBody>
      </p:sp>
      <p:sp>
        <p:nvSpPr>
          <p:cNvPr id="12" name="Text 10"/>
          <p:cNvSpPr/>
          <p:nvPr/>
        </p:nvSpPr>
        <p:spPr>
          <a:xfrm>
            <a:off x="4617720" y="2651760"/>
            <a:ext cx="3063240" cy="914400"/>
          </a:xfrm>
          <a:prstGeom prst="rect">
            <a:avLst/>
          </a:prstGeom>
          <a:noFill/>
          <a:ln/>
        </p:spPr>
        <p:txBody>
          <a:bodyPr wrap="square" rtlCol="0" anchor="t"/>
          <a:lstStyle/>
          <a:p>
            <a:pPr marL="0" indent="0">
              <a:buNone/>
            </a:pPr>
            <a:r>
              <a:rPr lang="es-AR" sz="1300" noProof="0" dirty="0">
                <a:solidFill>
                  <a:srgbClr val="1C1C2A"/>
                </a:solidFill>
                <a:latin typeface="Calibri" pitchFamily="34" charset="0"/>
                <a:ea typeface="Calibri" pitchFamily="34" charset="-122"/>
                <a:cs typeface="Calibri" pitchFamily="34" charset="-120"/>
              </a:rPr>
              <a:t>Visible desde cualquier lugar.</a:t>
            </a:r>
            <a:endParaRPr lang="es-AR" sz="1300" noProof="0" dirty="0"/>
          </a:p>
        </p:txBody>
      </p:sp>
      <p:sp>
        <p:nvSpPr>
          <p:cNvPr id="13" name="Text 11"/>
          <p:cNvSpPr/>
          <p:nvPr/>
        </p:nvSpPr>
        <p:spPr>
          <a:xfrm>
            <a:off x="4617720" y="4480560"/>
            <a:ext cx="3063240" cy="914400"/>
          </a:xfrm>
          <a:prstGeom prst="rect">
            <a:avLst/>
          </a:prstGeom>
          <a:noFill/>
          <a:ln/>
        </p:spPr>
        <p:txBody>
          <a:bodyPr wrap="square" rtlCol="0" anchor="t"/>
          <a:lstStyle/>
          <a:p>
            <a:pPr marL="0" indent="0">
              <a:buNone/>
            </a:pPr>
            <a:r>
              <a:rPr lang="es-AR" sz="1200" i="1" noProof="0" dirty="0">
                <a:solidFill>
                  <a:srgbClr val="5B6472"/>
                </a:solidFill>
                <a:latin typeface="Calibri" pitchFamily="34" charset="0"/>
                <a:ea typeface="Calibri" pitchFamily="34" charset="-122"/>
                <a:cs typeface="Calibri" pitchFamily="34" charset="-120"/>
              </a:rPr>
              <a:t>Se usa en la interfaz pública: las operaciones del TDA.</a:t>
            </a:r>
            <a:endParaRPr lang="es-AR" sz="1200" noProof="0" dirty="0"/>
          </a:p>
        </p:txBody>
      </p:sp>
      <p:sp>
        <p:nvSpPr>
          <p:cNvPr id="14" name="Shape 12"/>
          <p:cNvSpPr/>
          <p:nvPr/>
        </p:nvSpPr>
        <p:spPr>
          <a:xfrm>
            <a:off x="8138160" y="1737360"/>
            <a:ext cx="3611880" cy="3840480"/>
          </a:xfrm>
          <a:prstGeom prst="roundRect">
            <a:avLst>
              <a:gd name="adj" fmla="val 2532"/>
            </a:avLst>
          </a:prstGeom>
          <a:solidFill>
            <a:srgbClr val="F5F7FC"/>
          </a:solidFill>
          <a:ln w="12700">
            <a:solidFill>
              <a:srgbClr val="CADCFC"/>
            </a:solidFill>
            <a:prstDash val="solid"/>
          </a:ln>
        </p:spPr>
        <p:txBody>
          <a:bodyPr/>
          <a:lstStyle/>
          <a:p>
            <a:endParaRPr lang="es-AR" noProof="0" dirty="0"/>
          </a:p>
        </p:txBody>
      </p:sp>
      <p:sp>
        <p:nvSpPr>
          <p:cNvPr id="15" name="Shape 13"/>
          <p:cNvSpPr/>
          <p:nvPr/>
        </p:nvSpPr>
        <p:spPr>
          <a:xfrm>
            <a:off x="8412480" y="1965960"/>
            <a:ext cx="3063240" cy="502920"/>
          </a:xfrm>
          <a:prstGeom prst="roundRect">
            <a:avLst>
              <a:gd name="adj" fmla="val 10909"/>
            </a:avLst>
          </a:prstGeom>
          <a:solidFill>
            <a:srgbClr val="1E2761"/>
          </a:solidFill>
          <a:ln/>
        </p:spPr>
        <p:txBody>
          <a:bodyPr/>
          <a:lstStyle/>
          <a:p>
            <a:endParaRPr lang="es-AR" noProof="0" dirty="0"/>
          </a:p>
        </p:txBody>
      </p:sp>
      <p:sp>
        <p:nvSpPr>
          <p:cNvPr id="16" name="Text 14"/>
          <p:cNvSpPr/>
          <p:nvPr/>
        </p:nvSpPr>
        <p:spPr>
          <a:xfrm>
            <a:off x="8412480" y="1965960"/>
            <a:ext cx="3063240" cy="502920"/>
          </a:xfrm>
          <a:prstGeom prst="rect">
            <a:avLst/>
          </a:prstGeom>
          <a:noFill/>
          <a:ln/>
        </p:spPr>
        <p:txBody>
          <a:bodyPr wrap="square" rtlCol="0" anchor="ctr"/>
          <a:lstStyle/>
          <a:p>
            <a:pPr marL="0" indent="0" algn="ctr">
              <a:buNone/>
            </a:pPr>
            <a:r>
              <a:rPr lang="es-AR" sz="1500" b="1" noProof="0" dirty="0" err="1">
                <a:solidFill>
                  <a:srgbClr val="FFFFFF"/>
                </a:solidFill>
                <a:latin typeface="Courier New" pitchFamily="34" charset="0"/>
                <a:ea typeface="Courier New" pitchFamily="34" charset="-122"/>
                <a:cs typeface="Courier New" pitchFamily="34" charset="-120"/>
              </a:rPr>
              <a:t>protected</a:t>
            </a:r>
            <a:endParaRPr lang="es-AR" sz="1500" noProof="0" dirty="0"/>
          </a:p>
        </p:txBody>
      </p:sp>
      <p:sp>
        <p:nvSpPr>
          <p:cNvPr id="17" name="Text 15"/>
          <p:cNvSpPr/>
          <p:nvPr/>
        </p:nvSpPr>
        <p:spPr>
          <a:xfrm>
            <a:off x="8412480" y="2651760"/>
            <a:ext cx="3063240" cy="914400"/>
          </a:xfrm>
          <a:prstGeom prst="rect">
            <a:avLst/>
          </a:prstGeom>
          <a:noFill/>
          <a:ln/>
        </p:spPr>
        <p:txBody>
          <a:bodyPr wrap="square" rtlCol="0" anchor="t"/>
          <a:lstStyle/>
          <a:p>
            <a:pPr marL="0" indent="0">
              <a:buNone/>
            </a:pPr>
            <a:r>
              <a:rPr lang="es-AR" sz="1300" noProof="0" dirty="0">
                <a:solidFill>
                  <a:srgbClr val="1C1C2A"/>
                </a:solidFill>
                <a:latin typeface="Calibri" pitchFamily="34" charset="0"/>
                <a:ea typeface="Calibri" pitchFamily="34" charset="-122"/>
                <a:cs typeface="Calibri" pitchFamily="34" charset="-120"/>
              </a:rPr>
              <a:t>Visible en la clase, subclases y mismo paquete.</a:t>
            </a:r>
            <a:endParaRPr lang="es-AR" sz="1300" noProof="0" dirty="0"/>
          </a:p>
        </p:txBody>
      </p:sp>
      <p:sp>
        <p:nvSpPr>
          <p:cNvPr id="18" name="Text 16"/>
          <p:cNvSpPr/>
          <p:nvPr/>
        </p:nvSpPr>
        <p:spPr>
          <a:xfrm>
            <a:off x="8412480" y="4480560"/>
            <a:ext cx="3063240" cy="914400"/>
          </a:xfrm>
          <a:prstGeom prst="rect">
            <a:avLst/>
          </a:prstGeom>
          <a:noFill/>
          <a:ln/>
        </p:spPr>
        <p:txBody>
          <a:bodyPr wrap="square" rtlCol="0" anchor="t"/>
          <a:lstStyle/>
          <a:p>
            <a:pPr marL="0" indent="0">
              <a:buNone/>
            </a:pPr>
            <a:r>
              <a:rPr lang="es-AR" sz="1200" i="1" noProof="0" dirty="0">
                <a:solidFill>
                  <a:srgbClr val="5B6472"/>
                </a:solidFill>
                <a:latin typeface="Calibri" pitchFamily="34" charset="0"/>
                <a:ea typeface="Calibri" pitchFamily="34" charset="-122"/>
                <a:cs typeface="Calibri" pitchFamily="34" charset="-120"/>
              </a:rPr>
              <a:t>Se usa cuando hay herencia (más adelante en la carrera).</a:t>
            </a:r>
            <a:endParaRPr lang="es-AR" sz="1200" noProof="0" dirty="0"/>
          </a:p>
        </p:txBody>
      </p:sp>
      <p:sp>
        <p:nvSpPr>
          <p:cNvPr id="19" name="Text 1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20" name="Text 1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9</a:t>
            </a:r>
            <a:endParaRPr lang="es-AR" sz="10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6</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err="1">
                <a:solidFill>
                  <a:srgbClr val="1E2761"/>
                </a:solidFill>
                <a:latin typeface="Cambria" pitchFamily="34" charset="0"/>
                <a:ea typeface="Cambria" pitchFamily="34" charset="-122"/>
                <a:cs typeface="Cambria" pitchFamily="34" charset="-120"/>
              </a:rPr>
              <a:t>protected</a:t>
            </a:r>
            <a:r>
              <a:rPr lang="es-AR" sz="3000" b="1" noProof="0" dirty="0">
                <a:solidFill>
                  <a:srgbClr val="1E2761"/>
                </a:solidFill>
                <a:latin typeface="Cambria" pitchFamily="34" charset="0"/>
                <a:ea typeface="Cambria" pitchFamily="34" charset="-122"/>
                <a:cs typeface="Cambria" pitchFamily="34" charset="-120"/>
              </a:rPr>
              <a:t>: acceso desde una subclase</a:t>
            </a:r>
            <a:endParaRPr lang="es-AR" sz="3000" noProof="0" dirty="0"/>
          </a:p>
        </p:txBody>
      </p:sp>
      <p:sp>
        <p:nvSpPr>
          <p:cNvPr id="4" name="Shape 2"/>
          <p:cNvSpPr/>
          <p:nvPr/>
        </p:nvSpPr>
        <p:spPr>
          <a:xfrm>
            <a:off x="548640" y="1463040"/>
            <a:ext cx="6949440" cy="5029200"/>
          </a:xfrm>
          <a:prstGeom prst="roundRect">
            <a:avLst>
              <a:gd name="adj" fmla="val 1455"/>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00200"/>
            <a:ext cx="6492240" cy="4754880"/>
          </a:xfrm>
          <a:prstGeom prst="rect">
            <a:avLst/>
          </a:prstGeom>
          <a:noFill/>
          <a:ln/>
        </p:spPr>
        <p:txBody>
          <a:bodyPr/>
          <a:lstStyle/>
          <a:p>
            <a:pPr marL="0" indent="0">
              <a:lnSpc>
                <a:spcPct val="115000"/>
              </a:lnSpc>
              <a:buNone/>
            </a:pP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class</a:t>
            </a:r>
            <a:r>
              <a:rPr lang="es-AR" sz="1350" noProof="0" dirty="0">
                <a:solidFill>
                  <a:srgbClr val="1C1C2A"/>
                </a:solidFill>
                <a:latin typeface="Courier New" pitchFamily="34" charset="0"/>
                <a:ea typeface="Courier New" pitchFamily="34" charset="-122"/>
                <a:cs typeface="Courier New" pitchFamily="34" charset="-120"/>
              </a:rPr>
              <a:t> Empleado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protected</a:t>
            </a:r>
            <a:r>
              <a:rPr lang="es-AR" sz="1350" noProof="0" dirty="0">
                <a:solidFill>
                  <a:srgbClr val="1C1C2A"/>
                </a:solidFill>
                <a:latin typeface="Courier New" pitchFamily="34" charset="0"/>
                <a:ea typeface="Courier New" pitchFamily="34" charset="-122"/>
                <a:cs typeface="Courier New" pitchFamily="34" charset="-120"/>
              </a:rPr>
              <a:t> String nombre;</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protected</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double</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sueldoBase</a:t>
            </a:r>
            <a:r>
              <a:rPr lang="es-AR" sz="1350" noProof="0" dirty="0">
                <a:solidFill>
                  <a:srgbClr val="1C1C2A"/>
                </a:solidFill>
                <a:latin typeface="Courier New" pitchFamily="34" charset="0"/>
                <a:ea typeface="Courier New" pitchFamily="34" charset="-122"/>
                <a:cs typeface="Courier New" pitchFamily="34" charset="-120"/>
              </a:rPr>
              <a:t>;</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Empleado(String nombre, </a:t>
            </a:r>
            <a:r>
              <a:rPr lang="es-AR" sz="1350" noProof="0" dirty="0" err="1">
                <a:solidFill>
                  <a:srgbClr val="1C1C2A"/>
                </a:solidFill>
                <a:latin typeface="Courier New" pitchFamily="34" charset="0"/>
                <a:ea typeface="Courier New" pitchFamily="34" charset="-122"/>
                <a:cs typeface="Courier New" pitchFamily="34" charset="-120"/>
              </a:rPr>
              <a:t>double</a:t>
            </a:r>
            <a:r>
              <a:rPr lang="es-AR" sz="1350" noProof="0" dirty="0">
                <a:solidFill>
                  <a:srgbClr val="1C1C2A"/>
                </a:solidFill>
                <a:latin typeface="Courier New" pitchFamily="34" charset="0"/>
                <a:ea typeface="Courier New" pitchFamily="34" charset="-122"/>
                <a:cs typeface="Courier New" pitchFamily="34" charset="-120"/>
              </a:rPr>
              <a:t> base)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this.nombre</a:t>
            </a:r>
            <a:r>
              <a:rPr lang="es-AR" sz="1350" noProof="0" dirty="0">
                <a:solidFill>
                  <a:srgbClr val="1C1C2A"/>
                </a:solidFill>
                <a:latin typeface="Courier New" pitchFamily="34" charset="0"/>
                <a:ea typeface="Courier New" pitchFamily="34" charset="-122"/>
                <a:cs typeface="Courier New" pitchFamily="34" charset="-120"/>
              </a:rPr>
              <a:t> = nombre;</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this.sueldoBase</a:t>
            </a:r>
            <a:r>
              <a:rPr lang="es-AR" sz="1350" noProof="0" dirty="0">
                <a:solidFill>
                  <a:srgbClr val="1C1C2A"/>
                </a:solidFill>
                <a:latin typeface="Courier New" pitchFamily="34" charset="0"/>
                <a:ea typeface="Courier New" pitchFamily="34" charset="-122"/>
                <a:cs typeface="Courier New" pitchFamily="34" charset="-120"/>
              </a:rPr>
              <a:t> = base;</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a:t>
            </a:r>
            <a:endParaRPr lang="es-AR" sz="1350" noProof="0" dirty="0"/>
          </a:p>
          <a:p>
            <a:pPr marL="0" indent="0">
              <a:lnSpc>
                <a:spcPct val="115000"/>
              </a:lnSpc>
              <a:buNone/>
            </a:pPr>
            <a:endParaRPr lang="es-AR" sz="1350" noProof="0" dirty="0"/>
          </a:p>
          <a:p>
            <a:pPr marL="0" indent="0">
              <a:lnSpc>
                <a:spcPct val="115000"/>
              </a:lnSpc>
              <a:buNone/>
            </a:pP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class</a:t>
            </a:r>
            <a:r>
              <a:rPr lang="es-AR" sz="1350" noProof="0" dirty="0">
                <a:solidFill>
                  <a:srgbClr val="1C1C2A"/>
                </a:solidFill>
                <a:latin typeface="Courier New" pitchFamily="34" charset="0"/>
                <a:ea typeface="Courier New" pitchFamily="34" charset="-122"/>
                <a:cs typeface="Courier New" pitchFamily="34" charset="-120"/>
              </a:rPr>
              <a:t> Gerente </a:t>
            </a:r>
            <a:r>
              <a:rPr lang="es-AR" sz="1350" noProof="0" dirty="0" err="1">
                <a:solidFill>
                  <a:srgbClr val="1C1C2A"/>
                </a:solidFill>
                <a:latin typeface="Courier New" pitchFamily="34" charset="0"/>
                <a:ea typeface="Courier New" pitchFamily="34" charset="-122"/>
                <a:cs typeface="Courier New" pitchFamily="34" charset="-120"/>
              </a:rPr>
              <a:t>extends</a:t>
            </a:r>
            <a:r>
              <a:rPr lang="es-AR" sz="1350" noProof="0" dirty="0">
                <a:solidFill>
                  <a:srgbClr val="1C1C2A"/>
                </a:solidFill>
                <a:latin typeface="Courier New" pitchFamily="34" charset="0"/>
                <a:ea typeface="Courier New" pitchFamily="34" charset="-122"/>
                <a:cs typeface="Courier New" pitchFamily="34" charset="-120"/>
              </a:rPr>
              <a:t> Empleado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private</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double</a:t>
            </a:r>
            <a:r>
              <a:rPr lang="es-AR" sz="1350" noProof="0" dirty="0">
                <a:solidFill>
                  <a:srgbClr val="1C1C2A"/>
                </a:solidFill>
                <a:latin typeface="Courier New" pitchFamily="34" charset="0"/>
                <a:ea typeface="Courier New" pitchFamily="34" charset="-122"/>
                <a:cs typeface="Courier New" pitchFamily="34" charset="-120"/>
              </a:rPr>
              <a:t> bono;</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double</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calcularSueldo</a:t>
            </a: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return</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sueldoBase</a:t>
            </a:r>
            <a:r>
              <a:rPr lang="es-AR" sz="1350" noProof="0" dirty="0">
                <a:solidFill>
                  <a:srgbClr val="1C1C2A"/>
                </a:solidFill>
                <a:latin typeface="Courier New" pitchFamily="34" charset="0"/>
                <a:ea typeface="Courier New" pitchFamily="34" charset="-122"/>
                <a:cs typeface="Courier New" pitchFamily="34" charset="-120"/>
              </a:rPr>
              <a:t> + bono;</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a:t>
            </a:r>
            <a:endParaRPr lang="es-AR" sz="1350" noProof="0" dirty="0"/>
          </a:p>
        </p:txBody>
      </p:sp>
      <p:sp>
        <p:nvSpPr>
          <p:cNvPr id="6" name="Shape 4"/>
          <p:cNvSpPr/>
          <p:nvPr/>
        </p:nvSpPr>
        <p:spPr>
          <a:xfrm>
            <a:off x="7680960" y="1463040"/>
            <a:ext cx="3931920" cy="5029200"/>
          </a:xfrm>
          <a:prstGeom prst="roundRect">
            <a:avLst>
              <a:gd name="adj" fmla="val 2326"/>
            </a:avLst>
          </a:prstGeom>
          <a:solidFill>
            <a:srgbClr val="F5F7FC"/>
          </a:solidFill>
          <a:ln w="12700">
            <a:solidFill>
              <a:srgbClr val="CADCFC"/>
            </a:solidFill>
            <a:prstDash val="solid"/>
          </a:ln>
        </p:spPr>
        <p:txBody>
          <a:bodyPr/>
          <a:lstStyle/>
          <a:p>
            <a:endParaRPr lang="es-AR" noProof="0" dirty="0"/>
          </a:p>
        </p:txBody>
      </p:sp>
      <p:sp>
        <p:nvSpPr>
          <p:cNvPr id="7" name="Text 5"/>
          <p:cNvSpPr/>
          <p:nvPr/>
        </p:nvSpPr>
        <p:spPr>
          <a:xfrm>
            <a:off x="7909560" y="1645920"/>
            <a:ext cx="3474720" cy="365760"/>
          </a:xfrm>
          <a:prstGeom prst="rect">
            <a:avLst/>
          </a:prstGeom>
          <a:noFill/>
          <a:ln/>
        </p:spPr>
        <p:txBody>
          <a:bodyPr wrap="square" rtlCol="0" anchor="ctr"/>
          <a:lstStyle/>
          <a:p>
            <a:pPr marL="0" indent="0">
              <a:buNone/>
            </a:pPr>
            <a:r>
              <a:rPr lang="es-AR" sz="1300" b="1" noProof="0" dirty="0">
                <a:solidFill>
                  <a:srgbClr val="1E2761"/>
                </a:solidFill>
                <a:latin typeface="Calibri" pitchFamily="34" charset="0"/>
                <a:ea typeface="Calibri" pitchFamily="34" charset="-122"/>
                <a:cs typeface="Calibri" pitchFamily="34" charset="-120"/>
              </a:rPr>
              <a:t>Detalle</a:t>
            </a:r>
            <a:endParaRPr lang="es-AR" sz="1300" noProof="0" dirty="0"/>
          </a:p>
        </p:txBody>
      </p:sp>
      <p:sp>
        <p:nvSpPr>
          <p:cNvPr id="8" name="Text 6"/>
          <p:cNvSpPr/>
          <p:nvPr/>
        </p:nvSpPr>
        <p:spPr>
          <a:xfrm>
            <a:off x="7909560" y="2103120"/>
            <a:ext cx="3474720" cy="4206240"/>
          </a:xfrm>
          <a:prstGeom prst="rect">
            <a:avLst/>
          </a:prstGeom>
          <a:noFill/>
          <a:ln/>
        </p:spPr>
        <p:txBody>
          <a:bodyPr/>
          <a:lstStyle/>
          <a:p>
            <a:pPr marL="0" indent="0">
              <a:buNone/>
            </a:pPr>
            <a:r>
              <a:rPr lang="es-AR" sz="1250" b="1" noProof="0" dirty="0" err="1">
                <a:solidFill>
                  <a:srgbClr val="1E2761"/>
                </a:solidFill>
                <a:latin typeface="Calibri" pitchFamily="34" charset="0"/>
                <a:ea typeface="Calibri" pitchFamily="34" charset="-122"/>
                <a:cs typeface="Calibri" pitchFamily="34" charset="-120"/>
              </a:rPr>
              <a:t>protected</a:t>
            </a:r>
            <a:r>
              <a:rPr lang="es-AR" sz="1250" b="1" noProof="0" dirty="0">
                <a:solidFill>
                  <a:srgbClr val="1E2761"/>
                </a:solidFill>
                <a:latin typeface="Calibri" pitchFamily="34" charset="0"/>
                <a:ea typeface="Calibri" pitchFamily="34" charset="-122"/>
                <a:cs typeface="Calibri" pitchFamily="34" charset="-120"/>
              </a:rPr>
              <a:t>: </a:t>
            </a:r>
            <a:r>
              <a:rPr lang="es-AR" sz="1250" noProof="0" dirty="0" err="1">
                <a:solidFill>
                  <a:srgbClr val="1C1C2A"/>
                </a:solidFill>
                <a:latin typeface="Calibri" pitchFamily="34" charset="0"/>
                <a:ea typeface="Calibri" pitchFamily="34" charset="-122"/>
                <a:cs typeface="Calibri" pitchFamily="34" charset="-120"/>
              </a:rPr>
              <a:t>sueldoBase</a:t>
            </a:r>
            <a:r>
              <a:rPr lang="es-AR" sz="1250" noProof="0" dirty="0">
                <a:solidFill>
                  <a:srgbClr val="1C1C2A"/>
                </a:solidFill>
                <a:latin typeface="Calibri" pitchFamily="34" charset="0"/>
                <a:ea typeface="Calibri" pitchFamily="34" charset="-122"/>
                <a:cs typeface="Calibri" pitchFamily="34" charset="-120"/>
              </a:rPr>
              <a:t> es visible en Empleado, en Gerente (subclase) y en el mismo paquete.
</a:t>
            </a:r>
            <a:r>
              <a:rPr lang="es-AR" sz="1250" b="1" noProof="0" dirty="0" err="1">
                <a:solidFill>
                  <a:srgbClr val="1E2761"/>
                </a:solidFill>
                <a:latin typeface="Calibri" pitchFamily="34" charset="0"/>
                <a:ea typeface="Calibri" pitchFamily="34" charset="-122"/>
                <a:cs typeface="Calibri" pitchFamily="34" charset="-120"/>
              </a:rPr>
              <a:t>Gerente.calcularSueldo</a:t>
            </a:r>
            <a:r>
              <a:rPr lang="es-AR" sz="1250" b="1" noProof="0" dirty="0">
                <a:solidFill>
                  <a:srgbClr val="1E2761"/>
                </a:solidFill>
                <a:latin typeface="Calibri" pitchFamily="34" charset="0"/>
                <a:ea typeface="Calibri" pitchFamily="34" charset="-122"/>
                <a:cs typeface="Calibri" pitchFamily="34" charset="-120"/>
              </a:rPr>
              <a:t>(): </a:t>
            </a:r>
            <a:r>
              <a:rPr lang="es-AR" sz="1250" noProof="0" dirty="0">
                <a:solidFill>
                  <a:srgbClr val="1C1C2A"/>
                </a:solidFill>
                <a:latin typeface="Calibri" pitchFamily="34" charset="0"/>
                <a:ea typeface="Calibri" pitchFamily="34" charset="-122"/>
                <a:cs typeface="Calibri" pitchFamily="34" charset="-120"/>
              </a:rPr>
              <a:t>usa </a:t>
            </a:r>
            <a:r>
              <a:rPr lang="es-AR" sz="1250" noProof="0" dirty="0" err="1">
                <a:solidFill>
                  <a:srgbClr val="1C1C2A"/>
                </a:solidFill>
                <a:latin typeface="Calibri" pitchFamily="34" charset="0"/>
                <a:ea typeface="Calibri" pitchFamily="34" charset="-122"/>
                <a:cs typeface="Calibri" pitchFamily="34" charset="-120"/>
              </a:rPr>
              <a:t>sueldoBase</a:t>
            </a:r>
            <a:r>
              <a:rPr lang="es-AR" sz="1250" noProof="0" dirty="0">
                <a:solidFill>
                  <a:srgbClr val="1C1C2A"/>
                </a:solidFill>
                <a:latin typeface="Calibri" pitchFamily="34" charset="0"/>
                <a:ea typeface="Calibri" pitchFamily="34" charset="-122"/>
                <a:cs typeface="Calibri" pitchFamily="34" charset="-120"/>
              </a:rPr>
              <a:t> directamente porque lo heredó — con </a:t>
            </a:r>
            <a:r>
              <a:rPr lang="es-AR" sz="1250" noProof="0" dirty="0" err="1">
                <a:solidFill>
                  <a:srgbClr val="1C1C2A"/>
                </a:solidFill>
                <a:latin typeface="Calibri" pitchFamily="34" charset="0"/>
                <a:ea typeface="Calibri" pitchFamily="34" charset="-122"/>
                <a:cs typeface="Calibri" pitchFamily="34" charset="-120"/>
              </a:rPr>
              <a:t>private</a:t>
            </a:r>
            <a:r>
              <a:rPr lang="es-AR" sz="1250" noProof="0" dirty="0">
                <a:solidFill>
                  <a:srgbClr val="1C1C2A"/>
                </a:solidFill>
                <a:latin typeface="Calibri" pitchFamily="34" charset="0"/>
                <a:ea typeface="Calibri" pitchFamily="34" charset="-122"/>
                <a:cs typeface="Calibri" pitchFamily="34" charset="-120"/>
              </a:rPr>
              <a:t> no compilaría.
</a:t>
            </a:r>
            <a:r>
              <a:rPr lang="es-AR" sz="1250" b="1" noProof="0" dirty="0">
                <a:solidFill>
                  <a:srgbClr val="1E2761"/>
                </a:solidFill>
                <a:latin typeface="Calibri" pitchFamily="34" charset="0"/>
                <a:ea typeface="Calibri" pitchFamily="34" charset="-122"/>
                <a:cs typeface="Calibri" pitchFamily="34" charset="-120"/>
              </a:rPr>
              <a:t>Desde afuera: </a:t>
            </a:r>
            <a:r>
              <a:rPr lang="es-AR" sz="1250" noProof="0" dirty="0">
                <a:solidFill>
                  <a:srgbClr val="1C1C2A"/>
                </a:solidFill>
                <a:latin typeface="Calibri" pitchFamily="34" charset="0"/>
                <a:ea typeface="Calibri" pitchFamily="34" charset="-122"/>
                <a:cs typeface="Calibri" pitchFamily="34" charset="-120"/>
              </a:rPr>
              <a:t>Alguien externo no puede escribir </a:t>
            </a:r>
            <a:r>
              <a:rPr lang="es-AR" sz="1250" noProof="0" dirty="0" err="1">
                <a:solidFill>
                  <a:srgbClr val="1C1C2A"/>
                </a:solidFill>
                <a:latin typeface="Calibri" pitchFamily="34" charset="0"/>
                <a:ea typeface="Calibri" pitchFamily="34" charset="-122"/>
                <a:cs typeface="Calibri" pitchFamily="34" charset="-120"/>
              </a:rPr>
              <a:t>gerente.sueldoBase</a:t>
            </a:r>
            <a:r>
              <a:rPr lang="es-AR" sz="1250" noProof="0" dirty="0">
                <a:solidFill>
                  <a:srgbClr val="1C1C2A"/>
                </a:solidFill>
                <a:latin typeface="Calibri" pitchFamily="34" charset="0"/>
                <a:ea typeface="Calibri" pitchFamily="34" charset="-122"/>
                <a:cs typeface="Calibri" pitchFamily="34" charset="-120"/>
              </a:rPr>
              <a:t> = x; eso sigue prohibido, igual que con </a:t>
            </a:r>
            <a:r>
              <a:rPr lang="es-AR" sz="1250" noProof="0" dirty="0" err="1">
                <a:solidFill>
                  <a:srgbClr val="1C1C2A"/>
                </a:solidFill>
                <a:latin typeface="Calibri" pitchFamily="34" charset="0"/>
                <a:ea typeface="Calibri" pitchFamily="34" charset="-122"/>
                <a:cs typeface="Calibri" pitchFamily="34" charset="-120"/>
              </a:rPr>
              <a:t>private</a:t>
            </a:r>
            <a:r>
              <a:rPr lang="es-AR" sz="1250" noProof="0" dirty="0">
                <a:solidFill>
                  <a:srgbClr val="1C1C2A"/>
                </a:solidFill>
                <a:latin typeface="Calibri" pitchFamily="34" charset="0"/>
                <a:ea typeface="Calibri" pitchFamily="34" charset="-122"/>
                <a:cs typeface="Calibri" pitchFamily="34" charset="-120"/>
              </a:rPr>
              <a:t>.</a:t>
            </a:r>
            <a:endParaRPr lang="es-AR" sz="1250" noProof="0" dirty="0"/>
          </a:p>
        </p:txBody>
      </p:sp>
      <p:sp>
        <p:nvSpPr>
          <p:cNvPr id="9" name="Text 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10" name="Text 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10</a:t>
            </a:r>
            <a:endParaRPr lang="es-AR" sz="10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7</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err="1">
                <a:solidFill>
                  <a:srgbClr val="1E2761"/>
                </a:solidFill>
                <a:latin typeface="Cambria" pitchFamily="34" charset="0"/>
                <a:ea typeface="Cambria" pitchFamily="34" charset="-122"/>
                <a:cs typeface="Cambria" pitchFamily="34" charset="-120"/>
              </a:rPr>
              <a:t>this</a:t>
            </a:r>
            <a:r>
              <a:rPr lang="es-AR" sz="3000" b="1" noProof="0" dirty="0">
                <a:solidFill>
                  <a:srgbClr val="1E2761"/>
                </a:solidFill>
                <a:latin typeface="Cambria" pitchFamily="34" charset="0"/>
                <a:ea typeface="Cambria" pitchFamily="34" charset="-122"/>
                <a:cs typeface="Cambria" pitchFamily="34" charset="-120"/>
              </a:rPr>
              <a:t> y constructores</a:t>
            </a:r>
            <a:endParaRPr lang="es-AR" sz="3000" noProof="0" dirty="0"/>
          </a:p>
        </p:txBody>
      </p:sp>
      <p:sp>
        <p:nvSpPr>
          <p:cNvPr id="4" name="Shape 2"/>
          <p:cNvSpPr/>
          <p:nvPr/>
        </p:nvSpPr>
        <p:spPr>
          <a:xfrm>
            <a:off x="548640" y="1554480"/>
            <a:ext cx="5486400" cy="4206240"/>
          </a:xfrm>
          <a:prstGeom prst="roundRect">
            <a:avLst>
              <a:gd name="adj" fmla="val 1739"/>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91640"/>
            <a:ext cx="5029200" cy="3931920"/>
          </a:xfrm>
          <a:prstGeom prst="rect">
            <a:avLst/>
          </a:prstGeom>
          <a:noFill/>
          <a:ln/>
        </p:spPr>
        <p:txBody>
          <a:bodyPr wrap="square" rtlCol="0" anchor="t"/>
          <a:lstStyle/>
          <a:p>
            <a:pPr marL="0" indent="0">
              <a:lnSpc>
                <a:spcPct val="115000"/>
              </a:lnSpc>
              <a:buNone/>
            </a:pP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class</a:t>
            </a:r>
            <a:r>
              <a:rPr lang="es-AR" sz="1300" noProof="0" dirty="0">
                <a:solidFill>
                  <a:srgbClr val="1C1C2A"/>
                </a:solidFill>
                <a:latin typeface="Courier New" pitchFamily="34" charset="0"/>
                <a:ea typeface="Courier New" pitchFamily="34" charset="-122"/>
                <a:cs typeface="Courier New" pitchFamily="34" charset="-120"/>
              </a:rPr>
              <a:t> Punto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private</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x, y;</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Punto(</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x,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y)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 sin '</a:t>
            </a:r>
            <a:r>
              <a:rPr lang="es-AR" sz="1300" noProof="0" dirty="0" err="1">
                <a:solidFill>
                  <a:srgbClr val="1C1C2A"/>
                </a:solidFill>
                <a:latin typeface="Courier New" pitchFamily="34" charset="0"/>
                <a:ea typeface="Courier New" pitchFamily="34" charset="-122"/>
                <a:cs typeface="Courier New" pitchFamily="34" charset="-120"/>
              </a:rPr>
              <a:t>this</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habria</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ambiguedad</a:t>
            </a:r>
            <a:r>
              <a:rPr lang="es-AR" sz="1300" noProof="0" dirty="0">
                <a:solidFill>
                  <a:srgbClr val="1C1C2A"/>
                </a:solidFill>
                <a:latin typeface="Courier New" pitchFamily="34" charset="0"/>
                <a:ea typeface="Courier New" pitchFamily="34" charset="-122"/>
                <a:cs typeface="Courier New" pitchFamily="34" charset="-120"/>
              </a:rPr>
              <a:t>:</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 el </a:t>
            </a:r>
            <a:r>
              <a:rPr lang="es-AR" sz="1300" noProof="0" dirty="0" err="1">
                <a:solidFill>
                  <a:srgbClr val="1C1C2A"/>
                </a:solidFill>
                <a:latin typeface="Courier New" pitchFamily="34" charset="0"/>
                <a:ea typeface="Courier New" pitchFamily="34" charset="-122"/>
                <a:cs typeface="Courier New" pitchFamily="34" charset="-120"/>
              </a:rPr>
              <a:t>parametro</a:t>
            </a:r>
            <a:r>
              <a:rPr lang="es-AR" sz="1300" noProof="0" dirty="0">
                <a:solidFill>
                  <a:srgbClr val="1C1C2A"/>
                </a:solidFill>
                <a:latin typeface="Courier New" pitchFamily="34" charset="0"/>
                <a:ea typeface="Courier New" pitchFamily="34" charset="-122"/>
                <a:cs typeface="Courier New" pitchFamily="34" charset="-120"/>
              </a:rPr>
              <a:t> y el atributo</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 se llaman igual</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this.x</a:t>
            </a:r>
            <a:r>
              <a:rPr lang="es-AR" sz="1300" noProof="0" dirty="0">
                <a:solidFill>
                  <a:srgbClr val="1C1C2A"/>
                </a:solidFill>
                <a:latin typeface="Courier New" pitchFamily="34" charset="0"/>
                <a:ea typeface="Courier New" pitchFamily="34" charset="-122"/>
                <a:cs typeface="Courier New" pitchFamily="34" charset="-120"/>
              </a:rPr>
              <a:t> = x;</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this.y</a:t>
            </a:r>
            <a:r>
              <a:rPr lang="es-AR" sz="1300" noProof="0" dirty="0">
                <a:solidFill>
                  <a:srgbClr val="1C1C2A"/>
                </a:solidFill>
                <a:latin typeface="Courier New" pitchFamily="34" charset="0"/>
                <a:ea typeface="Courier New" pitchFamily="34" charset="-122"/>
                <a:cs typeface="Courier New" pitchFamily="34" charset="-120"/>
              </a:rPr>
              <a:t> = y;</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a:t>
            </a:r>
            <a:endParaRPr lang="es-AR" sz="1300" noProof="0" dirty="0"/>
          </a:p>
        </p:txBody>
      </p:sp>
      <p:sp>
        <p:nvSpPr>
          <p:cNvPr id="6" name="Text 4"/>
          <p:cNvSpPr/>
          <p:nvPr/>
        </p:nvSpPr>
        <p:spPr>
          <a:xfrm>
            <a:off x="6309360" y="1645920"/>
            <a:ext cx="5303520" cy="411480"/>
          </a:xfrm>
          <a:prstGeom prst="rect">
            <a:avLst/>
          </a:prstGeom>
          <a:noFill/>
          <a:ln/>
        </p:spPr>
        <p:txBody>
          <a:bodyPr wrap="square" rtlCol="0" anchor="ctr"/>
          <a:lstStyle/>
          <a:p>
            <a:pPr marL="0" indent="0">
              <a:buNone/>
            </a:pPr>
            <a:r>
              <a:rPr lang="es-AR" sz="1600" b="1" noProof="0" dirty="0">
                <a:solidFill>
                  <a:srgbClr val="1E2761"/>
                </a:solidFill>
                <a:latin typeface="Calibri" pitchFamily="34" charset="0"/>
                <a:ea typeface="Calibri" pitchFamily="34" charset="-122"/>
                <a:cs typeface="Calibri" pitchFamily="34" charset="-120"/>
              </a:rPr>
              <a:t>¿Para qué sirve </a:t>
            </a:r>
            <a:r>
              <a:rPr lang="es-AR" sz="1600" b="1" noProof="0" dirty="0" err="1">
                <a:solidFill>
                  <a:srgbClr val="1E2761"/>
                </a:solidFill>
                <a:latin typeface="Calibri" pitchFamily="34" charset="0"/>
                <a:ea typeface="Calibri" pitchFamily="34" charset="-122"/>
                <a:cs typeface="Calibri" pitchFamily="34" charset="-120"/>
              </a:rPr>
              <a:t>this</a:t>
            </a:r>
            <a:r>
              <a:rPr lang="es-AR" sz="1600" b="1" noProof="0" dirty="0">
                <a:solidFill>
                  <a:srgbClr val="1E2761"/>
                </a:solidFill>
                <a:latin typeface="Calibri" pitchFamily="34" charset="0"/>
                <a:ea typeface="Calibri" pitchFamily="34" charset="-122"/>
                <a:cs typeface="Calibri" pitchFamily="34" charset="-120"/>
              </a:rPr>
              <a:t>?</a:t>
            </a:r>
            <a:endParaRPr lang="es-AR" sz="1600" noProof="0" dirty="0"/>
          </a:p>
        </p:txBody>
      </p:sp>
      <p:sp>
        <p:nvSpPr>
          <p:cNvPr id="7" name="Text 5"/>
          <p:cNvSpPr/>
          <p:nvPr/>
        </p:nvSpPr>
        <p:spPr>
          <a:xfrm>
            <a:off x="6309360" y="2103120"/>
            <a:ext cx="5303520" cy="1280160"/>
          </a:xfrm>
          <a:prstGeom prst="rect">
            <a:avLst/>
          </a:prstGeom>
          <a:noFill/>
          <a:ln/>
        </p:spPr>
        <p:txBody>
          <a:bodyPr wrap="square" rtlCol="0" anchor="t"/>
          <a:lstStyle/>
          <a:p>
            <a:pPr marL="0" indent="0">
              <a:buNone/>
            </a:pPr>
            <a:r>
              <a:rPr lang="es-AR" sz="1400" noProof="0" dirty="0">
                <a:solidFill>
                  <a:srgbClr val="1C1C2A"/>
                </a:solidFill>
                <a:latin typeface="Calibri" pitchFamily="34" charset="0"/>
                <a:ea typeface="Calibri" pitchFamily="34" charset="-122"/>
                <a:cs typeface="Calibri" pitchFamily="34" charset="-120"/>
              </a:rPr>
              <a:t>Es una referencia al objeto actual. Se usa sobre todo cuando el nombre de un parámetro coincide con el de un atributo, para distinguir "el atributo de este objeto" del parámetro recibido.</a:t>
            </a:r>
            <a:endParaRPr lang="es-AR" sz="1400" noProof="0" dirty="0"/>
          </a:p>
        </p:txBody>
      </p:sp>
      <p:sp>
        <p:nvSpPr>
          <p:cNvPr id="8" name="Text 6"/>
          <p:cNvSpPr/>
          <p:nvPr/>
        </p:nvSpPr>
        <p:spPr>
          <a:xfrm>
            <a:off x="6309360" y="3566160"/>
            <a:ext cx="5303520" cy="411480"/>
          </a:xfrm>
          <a:prstGeom prst="rect">
            <a:avLst/>
          </a:prstGeom>
          <a:noFill/>
          <a:ln/>
        </p:spPr>
        <p:txBody>
          <a:bodyPr wrap="square" rtlCol="0" anchor="ctr"/>
          <a:lstStyle/>
          <a:p>
            <a:pPr marL="0" indent="0">
              <a:buNone/>
            </a:pPr>
            <a:r>
              <a:rPr lang="es-AR" sz="1600" b="1" noProof="0" dirty="0">
                <a:solidFill>
                  <a:srgbClr val="1E2761"/>
                </a:solidFill>
                <a:latin typeface="Calibri" pitchFamily="34" charset="0"/>
                <a:ea typeface="Calibri" pitchFamily="34" charset="-122"/>
                <a:cs typeface="Calibri" pitchFamily="34" charset="-120"/>
              </a:rPr>
              <a:t>¿Qué es un constructor?</a:t>
            </a:r>
            <a:endParaRPr lang="es-AR" sz="1600" noProof="0" dirty="0"/>
          </a:p>
        </p:txBody>
      </p:sp>
      <p:sp>
        <p:nvSpPr>
          <p:cNvPr id="9" name="Text 7"/>
          <p:cNvSpPr/>
          <p:nvPr/>
        </p:nvSpPr>
        <p:spPr>
          <a:xfrm>
            <a:off x="6309360" y="4023360"/>
            <a:ext cx="5303520" cy="1645920"/>
          </a:xfrm>
          <a:prstGeom prst="rect">
            <a:avLst/>
          </a:prstGeom>
          <a:noFill/>
          <a:ln/>
        </p:spPr>
        <p:txBody>
          <a:bodyPr wrap="square" rtlCol="0" anchor="t"/>
          <a:lstStyle/>
          <a:p>
            <a:pPr marL="0" indent="0">
              <a:buNone/>
            </a:pPr>
            <a:r>
              <a:rPr lang="es-AR" sz="1400" noProof="0" dirty="0">
                <a:solidFill>
                  <a:srgbClr val="1C1C2A"/>
                </a:solidFill>
                <a:latin typeface="Calibri" pitchFamily="34" charset="0"/>
                <a:ea typeface="Calibri" pitchFamily="34" charset="-122"/>
                <a:cs typeface="Calibri" pitchFamily="34" charset="-120"/>
              </a:rPr>
              <a:t>Un método especial, con el mismo nombre que la clase y sin tipo de retorno, que se ejecuta al crear el objeto con new. Inicializa el estado interno del TDA en su creación (equivalente a la operación crear() de la especificación).</a:t>
            </a:r>
            <a:endParaRPr lang="es-AR" sz="1400" noProof="0" dirty="0"/>
          </a:p>
        </p:txBody>
      </p:sp>
      <p:sp>
        <p:nvSpPr>
          <p:cNvPr id="10" name="Text 8"/>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11" name="Text 9"/>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11</a:t>
            </a:r>
            <a:endParaRPr lang="es-AR" sz="10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8</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Cómo se traduce un TDA a una clase Java</a:t>
            </a:r>
            <a:endParaRPr lang="es-AR" sz="3000" noProof="0" dirty="0"/>
          </a:p>
        </p:txBody>
      </p:sp>
      <p:sp>
        <p:nvSpPr>
          <p:cNvPr id="4" name="Shape 2"/>
          <p:cNvSpPr/>
          <p:nvPr/>
        </p:nvSpPr>
        <p:spPr>
          <a:xfrm>
            <a:off x="548640" y="1554480"/>
            <a:ext cx="11064240" cy="457200"/>
          </a:xfrm>
          <a:prstGeom prst="rect">
            <a:avLst/>
          </a:prstGeom>
          <a:solidFill>
            <a:srgbClr val="1E2761"/>
          </a:solidFill>
          <a:ln/>
        </p:spPr>
        <p:txBody>
          <a:bodyPr/>
          <a:lstStyle/>
          <a:p>
            <a:endParaRPr lang="es-AR" noProof="0" dirty="0"/>
          </a:p>
        </p:txBody>
      </p:sp>
      <p:sp>
        <p:nvSpPr>
          <p:cNvPr id="5" name="Text 3"/>
          <p:cNvSpPr/>
          <p:nvPr/>
        </p:nvSpPr>
        <p:spPr>
          <a:xfrm>
            <a:off x="731520" y="1554480"/>
            <a:ext cx="5303520" cy="457200"/>
          </a:xfrm>
          <a:prstGeom prst="rect">
            <a:avLst/>
          </a:prstGeom>
          <a:noFill/>
          <a:ln/>
        </p:spPr>
        <p:txBody>
          <a:bodyPr wrap="square" rtlCol="0" anchor="ctr"/>
          <a:lstStyle/>
          <a:p>
            <a:pPr marL="0" indent="0">
              <a:buNone/>
            </a:pPr>
            <a:r>
              <a:rPr lang="es-AR" sz="1300" b="1" noProof="0" dirty="0">
                <a:solidFill>
                  <a:srgbClr val="FFFFFF"/>
                </a:solidFill>
                <a:latin typeface="Calibri" pitchFamily="34" charset="0"/>
                <a:ea typeface="Calibri" pitchFamily="34" charset="-122"/>
                <a:cs typeface="Calibri" pitchFamily="34" charset="-120"/>
              </a:rPr>
              <a:t>Especificación (TDA)</a:t>
            </a:r>
            <a:endParaRPr lang="es-AR" sz="1300" noProof="0" dirty="0"/>
          </a:p>
        </p:txBody>
      </p:sp>
      <p:sp>
        <p:nvSpPr>
          <p:cNvPr id="6" name="Text 4"/>
          <p:cNvSpPr/>
          <p:nvPr/>
        </p:nvSpPr>
        <p:spPr>
          <a:xfrm>
            <a:off x="6126480" y="1554480"/>
            <a:ext cx="5303520" cy="457200"/>
          </a:xfrm>
          <a:prstGeom prst="rect">
            <a:avLst/>
          </a:prstGeom>
          <a:noFill/>
          <a:ln/>
        </p:spPr>
        <p:txBody>
          <a:bodyPr wrap="square" rtlCol="0" anchor="ctr"/>
          <a:lstStyle/>
          <a:p>
            <a:pPr marL="0" indent="0">
              <a:buNone/>
            </a:pPr>
            <a:r>
              <a:rPr lang="es-AR" sz="1300" b="1" noProof="0" dirty="0">
                <a:solidFill>
                  <a:srgbClr val="FFFFFF"/>
                </a:solidFill>
                <a:latin typeface="Calibri" pitchFamily="34" charset="0"/>
                <a:ea typeface="Calibri" pitchFamily="34" charset="-122"/>
                <a:cs typeface="Calibri" pitchFamily="34" charset="-120"/>
              </a:rPr>
              <a:t>Java</a:t>
            </a:r>
            <a:endParaRPr lang="es-AR" sz="1300" noProof="0" dirty="0"/>
          </a:p>
        </p:txBody>
      </p:sp>
      <p:sp>
        <p:nvSpPr>
          <p:cNvPr id="7" name="Shape 5"/>
          <p:cNvSpPr/>
          <p:nvPr/>
        </p:nvSpPr>
        <p:spPr>
          <a:xfrm>
            <a:off x="548640" y="2011680"/>
            <a:ext cx="11064240" cy="685800"/>
          </a:xfrm>
          <a:prstGeom prst="rect">
            <a:avLst/>
          </a:prstGeom>
          <a:solidFill>
            <a:srgbClr val="F5F7FC"/>
          </a:solidFill>
          <a:ln w="6350">
            <a:solidFill>
              <a:srgbClr val="CADCFC"/>
            </a:solidFill>
            <a:prstDash val="solid"/>
          </a:ln>
        </p:spPr>
        <p:txBody>
          <a:bodyPr/>
          <a:lstStyle/>
          <a:p>
            <a:endParaRPr lang="es-AR" noProof="0" dirty="0"/>
          </a:p>
        </p:txBody>
      </p:sp>
      <p:sp>
        <p:nvSpPr>
          <p:cNvPr id="8" name="Text 6"/>
          <p:cNvSpPr/>
          <p:nvPr/>
        </p:nvSpPr>
        <p:spPr>
          <a:xfrm>
            <a:off x="731520" y="2011680"/>
            <a:ext cx="5303520" cy="685800"/>
          </a:xfrm>
          <a:prstGeom prst="rect">
            <a:avLst/>
          </a:prstGeom>
          <a:noFill/>
          <a:ln/>
        </p:spPr>
        <p:txBody>
          <a:bodyPr wrap="square" rtlCol="0" anchor="ctr"/>
          <a:lstStyle/>
          <a:p>
            <a:pPr marL="0" indent="0">
              <a:buNone/>
            </a:pPr>
            <a:r>
              <a:rPr lang="es-AR" sz="1300" noProof="0" dirty="0">
                <a:solidFill>
                  <a:srgbClr val="1C1C2A"/>
                </a:solidFill>
                <a:latin typeface="Courier New" pitchFamily="34" charset="0"/>
                <a:ea typeface="Courier New" pitchFamily="34" charset="-122"/>
                <a:cs typeface="Courier New" pitchFamily="34" charset="-120"/>
              </a:rPr>
              <a:t>Dominio del TDA</a:t>
            </a:r>
            <a:endParaRPr lang="es-AR" sz="1300" noProof="0" dirty="0"/>
          </a:p>
        </p:txBody>
      </p:sp>
      <p:sp>
        <p:nvSpPr>
          <p:cNvPr id="9" name="Text 7"/>
          <p:cNvSpPr/>
          <p:nvPr/>
        </p:nvSpPr>
        <p:spPr>
          <a:xfrm>
            <a:off x="6126480" y="2011680"/>
            <a:ext cx="5303520" cy="68580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Atributos privados de la clase</a:t>
            </a:r>
            <a:endParaRPr lang="es-AR" sz="1300" noProof="0" dirty="0"/>
          </a:p>
        </p:txBody>
      </p:sp>
      <p:sp>
        <p:nvSpPr>
          <p:cNvPr id="10" name="Shape 8"/>
          <p:cNvSpPr/>
          <p:nvPr/>
        </p:nvSpPr>
        <p:spPr>
          <a:xfrm>
            <a:off x="548640" y="2697480"/>
            <a:ext cx="11064240" cy="685800"/>
          </a:xfrm>
          <a:prstGeom prst="rect">
            <a:avLst/>
          </a:prstGeom>
          <a:solidFill>
            <a:srgbClr val="FFFFFF"/>
          </a:solidFill>
          <a:ln w="6350">
            <a:solidFill>
              <a:srgbClr val="CADCFC"/>
            </a:solidFill>
            <a:prstDash val="solid"/>
          </a:ln>
        </p:spPr>
        <p:txBody>
          <a:bodyPr/>
          <a:lstStyle/>
          <a:p>
            <a:endParaRPr lang="es-AR" noProof="0" dirty="0"/>
          </a:p>
        </p:txBody>
      </p:sp>
      <p:sp>
        <p:nvSpPr>
          <p:cNvPr id="11" name="Text 9"/>
          <p:cNvSpPr/>
          <p:nvPr/>
        </p:nvSpPr>
        <p:spPr>
          <a:xfrm>
            <a:off x="731520" y="2697480"/>
            <a:ext cx="5303520" cy="685800"/>
          </a:xfrm>
          <a:prstGeom prst="rect">
            <a:avLst/>
          </a:prstGeom>
          <a:noFill/>
          <a:ln/>
        </p:spPr>
        <p:txBody>
          <a:bodyPr wrap="square" rtlCol="0" anchor="ctr"/>
          <a:lstStyle/>
          <a:p>
            <a:pPr marL="0" indent="0">
              <a:buNone/>
            </a:pPr>
            <a:r>
              <a:rPr lang="es-AR" sz="1300" noProof="0" dirty="0">
                <a:solidFill>
                  <a:srgbClr val="1C1C2A"/>
                </a:solidFill>
                <a:latin typeface="Courier New" pitchFamily="34" charset="0"/>
                <a:ea typeface="Courier New" pitchFamily="34" charset="-122"/>
                <a:cs typeface="Courier New" pitchFamily="34" charset="-120"/>
              </a:rPr>
              <a:t>crear()</a:t>
            </a:r>
            <a:endParaRPr lang="es-AR" sz="1300" noProof="0" dirty="0"/>
          </a:p>
        </p:txBody>
      </p:sp>
      <p:sp>
        <p:nvSpPr>
          <p:cNvPr id="12" name="Text 10"/>
          <p:cNvSpPr/>
          <p:nvPr/>
        </p:nvSpPr>
        <p:spPr>
          <a:xfrm>
            <a:off x="6126480" y="2697480"/>
            <a:ext cx="5303520" cy="68580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Constructor</a:t>
            </a:r>
            <a:endParaRPr lang="es-AR" sz="1300" noProof="0" dirty="0"/>
          </a:p>
        </p:txBody>
      </p:sp>
      <p:sp>
        <p:nvSpPr>
          <p:cNvPr id="13" name="Shape 11"/>
          <p:cNvSpPr/>
          <p:nvPr/>
        </p:nvSpPr>
        <p:spPr>
          <a:xfrm>
            <a:off x="548640" y="3383280"/>
            <a:ext cx="11064240" cy="685800"/>
          </a:xfrm>
          <a:prstGeom prst="rect">
            <a:avLst/>
          </a:prstGeom>
          <a:solidFill>
            <a:srgbClr val="F5F7FC"/>
          </a:solidFill>
          <a:ln w="6350">
            <a:solidFill>
              <a:srgbClr val="CADCFC"/>
            </a:solidFill>
            <a:prstDash val="solid"/>
          </a:ln>
        </p:spPr>
        <p:txBody>
          <a:bodyPr/>
          <a:lstStyle/>
          <a:p>
            <a:endParaRPr lang="es-AR" noProof="0" dirty="0"/>
          </a:p>
        </p:txBody>
      </p:sp>
      <p:sp>
        <p:nvSpPr>
          <p:cNvPr id="14" name="Text 12"/>
          <p:cNvSpPr/>
          <p:nvPr/>
        </p:nvSpPr>
        <p:spPr>
          <a:xfrm>
            <a:off x="731520" y="3383280"/>
            <a:ext cx="5303520" cy="685800"/>
          </a:xfrm>
          <a:prstGeom prst="rect">
            <a:avLst/>
          </a:prstGeom>
          <a:noFill/>
          <a:ln/>
        </p:spPr>
        <p:txBody>
          <a:bodyPr wrap="square" rtlCol="0" anchor="ctr"/>
          <a:lstStyle/>
          <a:p>
            <a:pPr marL="0" indent="0">
              <a:buNone/>
            </a:pPr>
            <a:r>
              <a:rPr lang="es-AR" sz="1300" noProof="0" dirty="0" err="1">
                <a:solidFill>
                  <a:srgbClr val="1C1C2A"/>
                </a:solidFill>
                <a:latin typeface="Courier New" pitchFamily="34" charset="0"/>
                <a:ea typeface="Courier New" pitchFamily="34" charset="-122"/>
                <a:cs typeface="Courier New" pitchFamily="34" charset="-120"/>
              </a:rPr>
              <a:t>operacion</a:t>
            </a:r>
            <a:r>
              <a:rPr lang="es-AR" sz="1300" noProof="0" dirty="0">
                <a:solidFill>
                  <a:srgbClr val="1C1C2A"/>
                </a:solidFill>
                <a:latin typeface="Courier New" pitchFamily="34" charset="0"/>
                <a:ea typeface="Courier New" pitchFamily="34" charset="-122"/>
                <a:cs typeface="Courier New" pitchFamily="34" charset="-120"/>
              </a:rPr>
              <a:t>(t: TDA, ...) -&gt; TDA</a:t>
            </a:r>
            <a:endParaRPr lang="es-AR" sz="1300" noProof="0" dirty="0"/>
          </a:p>
        </p:txBody>
      </p:sp>
      <p:sp>
        <p:nvSpPr>
          <p:cNvPr id="15" name="Text 13"/>
          <p:cNvSpPr/>
          <p:nvPr/>
        </p:nvSpPr>
        <p:spPr>
          <a:xfrm>
            <a:off x="6126480" y="3383280"/>
            <a:ext cx="5303520" cy="68580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Método de instancia: </a:t>
            </a:r>
            <a:r>
              <a:rPr lang="es-AR" sz="1300" b="1" noProof="0" dirty="0" err="1">
                <a:solidFill>
                  <a:srgbClr val="1E2761"/>
                </a:solidFill>
                <a:latin typeface="Courier New" pitchFamily="34" charset="0"/>
                <a:ea typeface="Courier New" pitchFamily="34" charset="-122"/>
                <a:cs typeface="Courier New" pitchFamily="34" charset="-120"/>
              </a:rPr>
              <a:t>t.operacion</a:t>
            </a:r>
            <a:r>
              <a:rPr lang="es-AR" sz="1300" b="1" noProof="0" dirty="0">
                <a:solidFill>
                  <a:srgbClr val="1E2761"/>
                </a:solidFill>
                <a:latin typeface="Courier New" pitchFamily="34" charset="0"/>
                <a:ea typeface="Courier New" pitchFamily="34" charset="-122"/>
                <a:cs typeface="Courier New" pitchFamily="34" charset="-120"/>
              </a:rPr>
              <a:t>(...)</a:t>
            </a:r>
            <a:endParaRPr lang="es-AR" sz="1300" noProof="0" dirty="0"/>
          </a:p>
        </p:txBody>
      </p:sp>
      <p:sp>
        <p:nvSpPr>
          <p:cNvPr id="16" name="Shape 14"/>
          <p:cNvSpPr/>
          <p:nvPr/>
        </p:nvSpPr>
        <p:spPr>
          <a:xfrm>
            <a:off x="548640" y="4069080"/>
            <a:ext cx="11064240" cy="685800"/>
          </a:xfrm>
          <a:prstGeom prst="rect">
            <a:avLst/>
          </a:prstGeom>
          <a:solidFill>
            <a:srgbClr val="FFFFFF"/>
          </a:solidFill>
          <a:ln w="6350">
            <a:solidFill>
              <a:srgbClr val="CADCFC"/>
            </a:solidFill>
            <a:prstDash val="solid"/>
          </a:ln>
        </p:spPr>
        <p:txBody>
          <a:bodyPr/>
          <a:lstStyle/>
          <a:p>
            <a:endParaRPr lang="es-AR" noProof="0" dirty="0"/>
          </a:p>
        </p:txBody>
      </p:sp>
      <p:sp>
        <p:nvSpPr>
          <p:cNvPr id="17" name="Text 15"/>
          <p:cNvSpPr/>
          <p:nvPr/>
        </p:nvSpPr>
        <p:spPr>
          <a:xfrm>
            <a:off x="731520" y="4069080"/>
            <a:ext cx="5303520" cy="685800"/>
          </a:xfrm>
          <a:prstGeom prst="rect">
            <a:avLst/>
          </a:prstGeom>
          <a:noFill/>
          <a:ln/>
        </p:spPr>
        <p:txBody>
          <a:bodyPr wrap="square" rtlCol="0" anchor="ctr"/>
          <a:lstStyle/>
          <a:p>
            <a:pPr marL="0" indent="0">
              <a:buNone/>
            </a:pPr>
            <a:r>
              <a:rPr lang="es-AR" sz="1300" noProof="0" dirty="0">
                <a:solidFill>
                  <a:srgbClr val="1C1C2A"/>
                </a:solidFill>
                <a:latin typeface="Courier New" pitchFamily="34" charset="0"/>
                <a:ea typeface="Courier New" pitchFamily="34" charset="-122"/>
                <a:cs typeface="Courier New" pitchFamily="34" charset="-120"/>
              </a:rPr>
              <a:t>pre: condición</a:t>
            </a:r>
            <a:endParaRPr lang="es-AR" sz="1300" noProof="0" dirty="0"/>
          </a:p>
        </p:txBody>
      </p:sp>
      <p:sp>
        <p:nvSpPr>
          <p:cNvPr id="18" name="Text 16"/>
          <p:cNvSpPr/>
          <p:nvPr/>
        </p:nvSpPr>
        <p:spPr>
          <a:xfrm>
            <a:off x="6126480" y="4069080"/>
            <a:ext cx="5303520" cy="68580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Validación al inicio del método (</a:t>
            </a:r>
            <a:r>
              <a:rPr lang="es-AR" sz="1300" b="1" noProof="0" dirty="0" err="1">
                <a:solidFill>
                  <a:srgbClr val="1E2761"/>
                </a:solidFill>
                <a:latin typeface="Courier New" pitchFamily="34" charset="0"/>
                <a:ea typeface="Courier New" pitchFamily="34" charset="-122"/>
                <a:cs typeface="Courier New" pitchFamily="34" charset="-120"/>
              </a:rPr>
              <a:t>if</a:t>
            </a:r>
            <a:r>
              <a:rPr lang="es-AR" sz="1300" b="1" noProof="0" dirty="0">
                <a:solidFill>
                  <a:srgbClr val="1E2761"/>
                </a:solidFill>
                <a:latin typeface="Courier New" pitchFamily="34" charset="0"/>
                <a:ea typeface="Courier New" pitchFamily="34" charset="-122"/>
                <a:cs typeface="Courier New" pitchFamily="34" charset="-120"/>
              </a:rPr>
              <a:t> / excepción)</a:t>
            </a:r>
            <a:endParaRPr lang="es-AR" sz="1300" noProof="0" dirty="0"/>
          </a:p>
        </p:txBody>
      </p:sp>
      <p:sp>
        <p:nvSpPr>
          <p:cNvPr id="19" name="Shape 17"/>
          <p:cNvSpPr/>
          <p:nvPr/>
        </p:nvSpPr>
        <p:spPr>
          <a:xfrm>
            <a:off x="548640" y="4754880"/>
            <a:ext cx="11064240" cy="685800"/>
          </a:xfrm>
          <a:prstGeom prst="rect">
            <a:avLst/>
          </a:prstGeom>
          <a:solidFill>
            <a:srgbClr val="F5F7FC"/>
          </a:solidFill>
          <a:ln w="6350">
            <a:solidFill>
              <a:srgbClr val="CADCFC"/>
            </a:solidFill>
            <a:prstDash val="solid"/>
          </a:ln>
        </p:spPr>
        <p:txBody>
          <a:bodyPr/>
          <a:lstStyle/>
          <a:p>
            <a:endParaRPr lang="es-AR" noProof="0" dirty="0"/>
          </a:p>
        </p:txBody>
      </p:sp>
      <p:sp>
        <p:nvSpPr>
          <p:cNvPr id="20" name="Text 18"/>
          <p:cNvSpPr/>
          <p:nvPr/>
        </p:nvSpPr>
        <p:spPr>
          <a:xfrm>
            <a:off x="731520" y="4754880"/>
            <a:ext cx="5303520" cy="685800"/>
          </a:xfrm>
          <a:prstGeom prst="rect">
            <a:avLst/>
          </a:prstGeom>
          <a:noFill/>
          <a:ln/>
        </p:spPr>
        <p:txBody>
          <a:bodyPr wrap="square" rtlCol="0" anchor="ctr"/>
          <a:lstStyle/>
          <a:p>
            <a:pPr marL="0" indent="0">
              <a:buNone/>
            </a:pPr>
            <a:r>
              <a:rPr lang="es-AR" sz="1300" noProof="0" dirty="0">
                <a:solidFill>
                  <a:srgbClr val="1C1C2A"/>
                </a:solidFill>
                <a:latin typeface="Courier New" pitchFamily="34" charset="0"/>
                <a:ea typeface="Courier New" pitchFamily="34" charset="-122"/>
                <a:cs typeface="Courier New" pitchFamily="34" charset="-120"/>
              </a:rPr>
              <a:t>post: condición</a:t>
            </a:r>
            <a:endParaRPr lang="es-AR" sz="1300" noProof="0" dirty="0"/>
          </a:p>
        </p:txBody>
      </p:sp>
      <p:sp>
        <p:nvSpPr>
          <p:cNvPr id="21" name="Text 19"/>
          <p:cNvSpPr/>
          <p:nvPr/>
        </p:nvSpPr>
        <p:spPr>
          <a:xfrm>
            <a:off x="6126480" y="4754880"/>
            <a:ext cx="5303520" cy="68580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Lo que el cuerpo del método garantiza al terminar</a:t>
            </a:r>
            <a:endParaRPr lang="es-AR" sz="1300" noProof="0" dirty="0"/>
          </a:p>
        </p:txBody>
      </p:sp>
      <p:sp>
        <p:nvSpPr>
          <p:cNvPr id="22" name="Text 20"/>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23" name="Text 21"/>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12</a:t>
            </a:r>
            <a:endParaRPr lang="es-AR" sz="10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marL="0" indent="0" algn="l">
              <a:buNone/>
            </a:pPr>
            <a:r>
              <a:rPr lang="en-US" sz="1300" b="1" kern="0" spc="200" dirty="0">
                <a:solidFill>
                  <a:srgbClr val="E8A33D"/>
                </a:solidFill>
                <a:latin typeface="Calibri" pitchFamily="34" charset="0"/>
                <a:ea typeface="Calibri" pitchFamily="34" charset="-122"/>
                <a:cs typeface="Calibri" pitchFamily="34" charset="-120"/>
              </a:rPr>
              <a:t>BLOQUE 9</a:t>
            </a:r>
            <a:endParaRPr lang="en-US" sz="1300" dirty="0"/>
          </a:p>
        </p:txBody>
      </p:sp>
      <p:sp>
        <p:nvSpPr>
          <p:cNvPr id="3" name="Text 1"/>
          <p:cNvSpPr txBox="1"/>
          <p:nvPr/>
        </p:nvSpPr>
        <p:spPr>
          <a:xfrm>
            <a:off x="548640" y="621792"/>
            <a:ext cx="10972800" cy="73152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Implementación estática: Vector, Pila, Cola</a:t>
            </a:r>
            <a:endParaRPr lang="en-US" sz="2800" dirty="0"/>
          </a:p>
        </p:txBody>
      </p:sp>
      <p:sp>
        <p:nvSpPr>
          <p:cNvPr id="4" name="Shape 2"/>
          <p:cNvSpPr/>
          <p:nvPr/>
        </p:nvSpPr>
        <p:spPr>
          <a:xfrm>
            <a:off x="548640" y="1554480"/>
            <a:ext cx="5394960" cy="4114800"/>
          </a:xfrm>
          <a:prstGeom prst="roundRect">
            <a:avLst>
              <a:gd name="adj" fmla="val 444"/>
            </a:avLst>
          </a:prstGeom>
          <a:solidFill>
            <a:srgbClr val="F5F7FC"/>
          </a:solidFill>
          <a:ln/>
        </p:spPr>
        <p:txBody>
          <a:bodyPr/>
          <a:lstStyle/>
          <a:p>
            <a:endParaRPr lang="es-AR"/>
          </a:p>
        </p:txBody>
      </p:sp>
      <p:sp>
        <p:nvSpPr>
          <p:cNvPr id="5" name="Text 3"/>
          <p:cNvSpPr txBox="1"/>
          <p:nvPr/>
        </p:nvSpPr>
        <p:spPr>
          <a:xfrm>
            <a:off x="822960" y="1783080"/>
            <a:ext cx="4846320" cy="1463040"/>
          </a:xfrm>
          <a:prstGeom prst="rect">
            <a:avLst/>
          </a:prstGeom>
          <a:noFill/>
          <a:ln/>
        </p:spPr>
        <p:txBody>
          <a:bodyPr wrap="square" lIns="0" tIns="0" rIns="0" bIns="0" rtlCol="0" anchor="t"/>
          <a:lstStyle/>
          <a:p>
            <a:pPr marL="0" indent="0">
              <a:buNone/>
            </a:pPr>
            <a:r>
              <a:rPr lang="en-US" sz="1500" dirty="0">
                <a:solidFill>
                  <a:srgbClr val="1C1C2A"/>
                </a:solidFill>
                <a:latin typeface="Calibri" pitchFamily="34" charset="0"/>
                <a:ea typeface="Calibri" pitchFamily="34" charset="-122"/>
                <a:cs typeface="Calibri" pitchFamily="34" charset="-120"/>
              </a:rPr>
              <a:t>Todas se construyen sobre UN array reservado de una vez, con capacidad fija definida en el constructor. El estado se controla con índices (cantidad, tope, inicio/fin) — nunca hace falta recorrer para saber si está llena.</a:t>
            </a:r>
            <a:endParaRPr lang="en-US" sz="1500" dirty="0"/>
          </a:p>
        </p:txBody>
      </p:sp>
      <p:sp>
        <p:nvSpPr>
          <p:cNvPr id="6" name="Shape 4"/>
          <p:cNvSpPr/>
          <p:nvPr/>
        </p:nvSpPr>
        <p:spPr>
          <a:xfrm>
            <a:off x="822960" y="3291840"/>
            <a:ext cx="4846320" cy="2103120"/>
          </a:xfrm>
          <a:prstGeom prst="roundRect">
            <a:avLst>
              <a:gd name="adj" fmla="val 1304"/>
            </a:avLst>
          </a:prstGeom>
          <a:solidFill>
            <a:srgbClr val="F4F6FB"/>
          </a:solidFill>
          <a:ln/>
        </p:spPr>
        <p:txBody>
          <a:bodyPr/>
          <a:lstStyle/>
          <a:p>
            <a:endParaRPr lang="es-AR"/>
          </a:p>
        </p:txBody>
      </p:sp>
      <p:sp>
        <p:nvSpPr>
          <p:cNvPr id="7" name="Text 5"/>
          <p:cNvSpPr txBox="1"/>
          <p:nvPr/>
        </p:nvSpPr>
        <p:spPr>
          <a:xfrm>
            <a:off x="1051560" y="3429000"/>
            <a:ext cx="4389120" cy="1828800"/>
          </a:xfrm>
          <a:prstGeom prst="rect">
            <a:avLst/>
          </a:prstGeom>
          <a:noFill/>
          <a:ln/>
        </p:spPr>
        <p:txBody>
          <a:bodyPr wrap="square" lIns="0" tIns="0" rIns="0" bIns="0" rtlCol="0" anchor="t"/>
          <a:lstStyle/>
          <a:p>
            <a:pPr marL="0" indent="0">
              <a:buNone/>
            </a:pPr>
            <a:r>
              <a:rPr lang="en-US" sz="1300" dirty="0">
                <a:solidFill>
                  <a:srgbClr val="1C1C2A"/>
                </a:solidFill>
                <a:latin typeface="Courier New" pitchFamily="34" charset="0"/>
                <a:ea typeface="Courier New" pitchFamily="34" charset="-122"/>
                <a:cs typeface="Courier New" pitchFamily="34" charset="-120"/>
              </a:rPr>
              <a:t>int[] datos;</a:t>
            </a:r>
            <a:endParaRPr lang="en-US" sz="1300" dirty="0"/>
          </a:p>
          <a:p>
            <a:pPr marL="0" indent="0">
              <a:buNone/>
            </a:pPr>
            <a:r>
              <a:rPr lang="en-US" sz="1300" dirty="0">
                <a:solidFill>
                  <a:srgbClr val="1C1C2A"/>
                </a:solidFill>
                <a:latin typeface="Courier New" pitchFamily="34" charset="0"/>
                <a:ea typeface="Courier New" pitchFamily="34" charset="-122"/>
                <a:cs typeface="Courier New" pitchFamily="34" charset="-120"/>
              </a:rPr>
              <a:t>int capacidad;</a:t>
            </a:r>
            <a:endParaRPr lang="en-US" sz="1300" dirty="0"/>
          </a:p>
          <a:p>
            <a:pPr marL="0" indent="0">
              <a:buNone/>
            </a:pPr>
            <a:endParaRPr lang="en-US" sz="1300" dirty="0"/>
          </a:p>
          <a:p>
            <a:pPr marL="0" indent="0">
              <a:buNone/>
            </a:pPr>
            <a:r>
              <a:rPr lang="en-US" sz="1300" dirty="0">
                <a:solidFill>
                  <a:srgbClr val="1C1C2A"/>
                </a:solidFill>
                <a:latin typeface="Courier New" pitchFamily="34" charset="0"/>
                <a:ea typeface="Courier New" pitchFamily="34" charset="-122"/>
                <a:cs typeface="Courier New" pitchFamily="34" charset="-120"/>
              </a:rPr>
              <a:t>boolean esLlena() {</a:t>
            </a:r>
            <a:endParaRPr lang="en-US" sz="1300" dirty="0"/>
          </a:p>
          <a:p>
            <a:pPr marL="0" indent="0">
              <a:buNone/>
            </a:pPr>
            <a:r>
              <a:rPr lang="en-US" sz="1300" dirty="0">
                <a:solidFill>
                  <a:srgbClr val="1C1C2A"/>
                </a:solidFill>
                <a:latin typeface="Courier New" pitchFamily="34" charset="0"/>
                <a:ea typeface="Courier New" pitchFamily="34" charset="-122"/>
                <a:cs typeface="Courier New" pitchFamily="34" charset="-120"/>
              </a:rPr>
              <a:t>  return cantidad == capacidad;</a:t>
            </a:r>
            <a:endParaRPr lang="en-US" sz="1300" dirty="0"/>
          </a:p>
          <a:p>
            <a:pPr marL="0" indent="0">
              <a:buNone/>
            </a:pPr>
            <a:r>
              <a:rPr lang="en-US" sz="1300" dirty="0">
                <a:solidFill>
                  <a:srgbClr val="1C1C2A"/>
                </a:solidFill>
                <a:latin typeface="Courier New" pitchFamily="34" charset="0"/>
                <a:ea typeface="Courier New" pitchFamily="34" charset="-122"/>
                <a:cs typeface="Courier New" pitchFamily="34" charset="-120"/>
              </a:rPr>
              <a:t>}</a:t>
            </a:r>
            <a:endParaRPr lang="en-US" sz="1300" dirty="0"/>
          </a:p>
        </p:txBody>
      </p:sp>
      <p:sp>
        <p:nvSpPr>
          <p:cNvPr id="8" name="Shape 6"/>
          <p:cNvSpPr/>
          <p:nvPr/>
        </p:nvSpPr>
        <p:spPr>
          <a:xfrm>
            <a:off x="6172200" y="1554480"/>
            <a:ext cx="5440680" cy="4114800"/>
          </a:xfrm>
          <a:prstGeom prst="roundRect">
            <a:avLst>
              <a:gd name="adj" fmla="val 444"/>
            </a:avLst>
          </a:prstGeom>
          <a:solidFill>
            <a:srgbClr val="1E2761"/>
          </a:solidFill>
          <a:ln/>
        </p:spPr>
        <p:txBody>
          <a:bodyPr/>
          <a:lstStyle/>
          <a:p>
            <a:endParaRPr lang="es-AR"/>
          </a:p>
        </p:txBody>
      </p:sp>
      <p:sp>
        <p:nvSpPr>
          <p:cNvPr id="9" name="Text 7"/>
          <p:cNvSpPr txBox="1"/>
          <p:nvPr/>
        </p:nvSpPr>
        <p:spPr>
          <a:xfrm>
            <a:off x="6446520" y="1783080"/>
            <a:ext cx="4846320" cy="548640"/>
          </a:xfrm>
          <a:prstGeom prst="rect">
            <a:avLst/>
          </a:prstGeom>
          <a:noFill/>
          <a:ln/>
        </p:spPr>
        <p:txBody>
          <a:bodyPr wrap="square" lIns="0" tIns="0" rIns="0" bIns="0" rtlCol="0" anchor="ctr"/>
          <a:lstStyle/>
          <a:p>
            <a:pPr marL="0" indent="0">
              <a:buNone/>
            </a:pPr>
            <a:r>
              <a:rPr lang="en-US" sz="1500" b="1" dirty="0">
                <a:solidFill>
                  <a:srgbClr val="E8A33D"/>
                </a:solidFill>
                <a:latin typeface="Calibri" pitchFamily="34" charset="0"/>
                <a:ea typeface="Calibri" pitchFamily="34" charset="-122"/>
                <a:cs typeface="Calibri" pitchFamily="34" charset="-120"/>
              </a:rPr>
              <a:t>Lo que hay que tener fresco</a:t>
            </a:r>
            <a:endParaRPr lang="en-US" sz="1500" dirty="0"/>
          </a:p>
        </p:txBody>
      </p:sp>
      <p:sp>
        <p:nvSpPr>
          <p:cNvPr id="10" name="Text 8"/>
          <p:cNvSpPr txBox="1"/>
          <p:nvPr/>
        </p:nvSpPr>
        <p:spPr>
          <a:xfrm>
            <a:off x="6446520" y="2423160"/>
            <a:ext cx="4846320" cy="3017520"/>
          </a:xfrm>
          <a:prstGeom prst="rect">
            <a:avLst/>
          </a:prstGeom>
          <a:noFill/>
          <a:ln/>
        </p:spPr>
        <p:txBody>
          <a:bodyPr wrap="square" lIns="0" tIns="0" rIns="0" bIns="0" rtlCol="0" anchor="t"/>
          <a:lstStyle/>
          <a:p>
            <a:pPr marL="0" indent="0">
              <a:spcAft>
                <a:spcPts val="1200"/>
              </a:spcAft>
              <a:buNone/>
            </a:pPr>
            <a:r>
              <a:rPr lang="en-US" sz="1450" dirty="0">
                <a:solidFill>
                  <a:srgbClr val="FFFFFF"/>
                </a:solidFill>
                <a:latin typeface="Calibri" pitchFamily="34" charset="0"/>
                <a:ea typeface="Calibri" pitchFamily="34" charset="-122"/>
                <a:cs typeface="Calibri" pitchFamily="34" charset="-120"/>
              </a:rPr>
              <a:t>•  Vector: agregar() al final — O(1) si hay lugar</a:t>
            </a:r>
            <a:endParaRPr lang="en-US" sz="1450" dirty="0"/>
          </a:p>
          <a:p>
            <a:pPr marL="0" indent="0">
              <a:spcAft>
                <a:spcPts val="1200"/>
              </a:spcAft>
              <a:buNone/>
            </a:pPr>
            <a:r>
              <a:rPr lang="en-US" sz="1450" dirty="0">
                <a:solidFill>
                  <a:srgbClr val="FFFFFF"/>
                </a:solidFill>
                <a:latin typeface="Calibri" pitchFamily="34" charset="0"/>
                <a:ea typeface="Calibri" pitchFamily="34" charset="-122"/>
                <a:cs typeface="Calibri" pitchFamily="34" charset="-120"/>
              </a:rPr>
              <a:t>•  Pila: apilar/desapilar/tope operan sobre "tope" — O(1)</a:t>
            </a:r>
            <a:endParaRPr lang="en-US" sz="1450" dirty="0"/>
          </a:p>
          <a:p>
            <a:pPr marL="0" indent="0">
              <a:spcAft>
                <a:spcPts val="1200"/>
              </a:spcAft>
              <a:buNone/>
            </a:pPr>
            <a:r>
              <a:rPr lang="en-US" sz="1450" dirty="0">
                <a:solidFill>
                  <a:srgbClr val="FFFFFF"/>
                </a:solidFill>
                <a:latin typeface="Calibri" pitchFamily="34" charset="0"/>
                <a:ea typeface="Calibri" pitchFamily="34" charset="-122"/>
                <a:cs typeface="Calibri" pitchFamily="34" charset="-120"/>
              </a:rPr>
              <a:t>•  Cola: encolar/desencolar circular (%) — O(1), evita correr el array</a:t>
            </a:r>
            <a:endParaRPr lang="en-US" sz="1450" dirty="0"/>
          </a:p>
          <a:p>
            <a:pPr marL="0" indent="0">
              <a:spcAft>
                <a:spcPts val="1200"/>
              </a:spcAft>
              <a:buNone/>
            </a:pPr>
            <a:r>
              <a:rPr lang="en-US" sz="1450" dirty="0">
                <a:solidFill>
                  <a:srgbClr val="FFFFFF"/>
                </a:solidFill>
                <a:latin typeface="Calibri" pitchFamily="34" charset="0"/>
                <a:ea typeface="Calibri" pitchFamily="34" charset="-122"/>
                <a:cs typeface="Calibri" pitchFamily="34" charset="-120"/>
              </a:rPr>
              <a:t>•  esLlena() es un AUXILIAR: no forma parte de la especificación original</a:t>
            </a:r>
            <a:endParaRPr lang="en-US" sz="1450" dirty="0"/>
          </a:p>
        </p:txBody>
      </p:sp>
      <p:sp>
        <p:nvSpPr>
          <p:cNvPr id="11" name="Text 9"/>
          <p:cNvSpPr txBox="1"/>
          <p:nvPr/>
        </p:nvSpPr>
        <p:spPr>
          <a:xfrm>
            <a:off x="457200" y="6537960"/>
            <a:ext cx="8229600" cy="274320"/>
          </a:xfrm>
          <a:prstGeom prst="rect">
            <a:avLst/>
          </a:prstGeom>
          <a:noFill/>
          <a:ln/>
        </p:spPr>
        <p:txBody>
          <a:bodyPr wrap="square" lIns="0" tIns="0" rIns="0" bIns="0" rtlCol="0" anchor="ctr"/>
          <a:lstStyle/>
          <a:p>
            <a:pPr marL="0" indent="0" algn="l">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2" name="Text 10"/>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15898-D851-54E6-90C5-E443AF12DB3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E0C65D-0509-DB5A-E809-D16929D4B8DA}"/>
              </a:ext>
            </a:extLst>
          </p:cNvPr>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10</a:t>
            </a:r>
            <a:endParaRPr lang="es-AR" sz="1300" noProof="0" dirty="0"/>
          </a:p>
        </p:txBody>
      </p:sp>
      <p:sp>
        <p:nvSpPr>
          <p:cNvPr id="3" name="Text 1">
            <a:extLst>
              <a:ext uri="{FF2B5EF4-FFF2-40B4-BE49-F238E27FC236}">
                <a16:creationId xmlns:a16="http://schemas.microsoft.com/office/drawing/2014/main" id="{F9BA32C9-A31B-1811-D50F-58BBD6618ADC}"/>
              </a:ext>
            </a:extLst>
          </p:cNvPr>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Pila Tope al inicio</a:t>
            </a:r>
            <a:endParaRPr lang="es-AR" sz="3000" noProof="0" dirty="0"/>
          </a:p>
        </p:txBody>
      </p:sp>
      <p:sp>
        <p:nvSpPr>
          <p:cNvPr id="9" name="Text 7">
            <a:extLst>
              <a:ext uri="{FF2B5EF4-FFF2-40B4-BE49-F238E27FC236}">
                <a16:creationId xmlns:a16="http://schemas.microsoft.com/office/drawing/2014/main" id="{40584923-ECBD-D30E-0260-3E4C664102F9}"/>
              </a:ext>
            </a:extLst>
          </p:cNvPr>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10" name="Text 8">
            <a:extLst>
              <a:ext uri="{FF2B5EF4-FFF2-40B4-BE49-F238E27FC236}">
                <a16:creationId xmlns:a16="http://schemas.microsoft.com/office/drawing/2014/main" id="{B0BAB9F3-F1AE-98C5-21C9-A9455505999B}"/>
              </a:ext>
            </a:extLst>
          </p:cNvPr>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14</a:t>
            </a:r>
            <a:endParaRPr lang="es-AR" sz="1000" noProof="0" dirty="0"/>
          </a:p>
        </p:txBody>
      </p:sp>
      <p:pic>
        <p:nvPicPr>
          <p:cNvPr id="4" name="pila_tope_inicio_tabla_estado">
            <a:hlinkClick r:id="" action="ppaction://media"/>
            <a:extLst>
              <a:ext uri="{FF2B5EF4-FFF2-40B4-BE49-F238E27FC236}">
                <a16:creationId xmlns:a16="http://schemas.microsoft.com/office/drawing/2014/main" id="{21DC2F0C-956C-873B-C0C0-4666A5D6016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76301" y="1353312"/>
            <a:ext cx="8945748" cy="5031983"/>
          </a:xfrm>
          <a:prstGeom prst="rect">
            <a:avLst/>
          </a:prstGeom>
        </p:spPr>
      </p:pic>
    </p:spTree>
    <p:extLst>
      <p:ext uri="{BB962C8B-B14F-4D97-AF65-F5344CB8AC3E}">
        <p14:creationId xmlns:p14="http://schemas.microsoft.com/office/powerpoint/2010/main" val="2615041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95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10</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Pila Tope al final</a:t>
            </a:r>
            <a:endParaRPr lang="es-AR" sz="3000" noProof="0" dirty="0"/>
          </a:p>
        </p:txBody>
      </p:sp>
      <p:sp>
        <p:nvSpPr>
          <p:cNvPr id="9" name="Text 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10" name="Text 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15</a:t>
            </a:r>
            <a:endParaRPr lang="es-AR" sz="1000" noProof="0" dirty="0"/>
          </a:p>
        </p:txBody>
      </p:sp>
      <p:pic>
        <p:nvPicPr>
          <p:cNvPr id="11" name="pila_tope_final_tabla_estado">
            <a:hlinkClick r:id="" action="ppaction://media"/>
            <a:extLst>
              <a:ext uri="{FF2B5EF4-FFF2-40B4-BE49-F238E27FC236}">
                <a16:creationId xmlns:a16="http://schemas.microsoft.com/office/drawing/2014/main" id="{AA702245-6C58-63CD-D9EC-6ED1A3CA3E2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95450" y="1353312"/>
            <a:ext cx="8879078" cy="49944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167"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30D08-98BF-A7EF-BFDA-A3874C74E4C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C513DAD-415D-BA72-A05E-1F3737D03BA5}"/>
              </a:ext>
            </a:extLst>
          </p:cNvPr>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10</a:t>
            </a:r>
            <a:endParaRPr lang="es-AR" sz="1300" noProof="0" dirty="0"/>
          </a:p>
        </p:txBody>
      </p:sp>
      <p:sp>
        <p:nvSpPr>
          <p:cNvPr id="3" name="Text 1">
            <a:extLst>
              <a:ext uri="{FF2B5EF4-FFF2-40B4-BE49-F238E27FC236}">
                <a16:creationId xmlns:a16="http://schemas.microsoft.com/office/drawing/2014/main" id="{0F084752-1DE3-70E3-B106-CCDF7AF77F64}"/>
              </a:ext>
            </a:extLst>
          </p:cNvPr>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TDA Pila</a:t>
            </a:r>
            <a:endParaRPr lang="es-AR" sz="3000" noProof="0" dirty="0"/>
          </a:p>
        </p:txBody>
      </p:sp>
      <p:sp>
        <p:nvSpPr>
          <p:cNvPr id="4" name="Shape 2">
            <a:extLst>
              <a:ext uri="{FF2B5EF4-FFF2-40B4-BE49-F238E27FC236}">
                <a16:creationId xmlns:a16="http://schemas.microsoft.com/office/drawing/2014/main" id="{197727FA-9851-6A5D-CC2D-E295418F35F4}"/>
              </a:ext>
            </a:extLst>
          </p:cNvPr>
          <p:cNvSpPr/>
          <p:nvPr/>
        </p:nvSpPr>
        <p:spPr>
          <a:xfrm>
            <a:off x="548640" y="1463040"/>
            <a:ext cx="6949440" cy="5029200"/>
          </a:xfrm>
          <a:prstGeom prst="roundRect">
            <a:avLst>
              <a:gd name="adj" fmla="val 1455"/>
            </a:avLst>
          </a:prstGeom>
          <a:solidFill>
            <a:srgbClr val="F4F6FB"/>
          </a:solidFill>
          <a:ln w="12700">
            <a:solidFill>
              <a:srgbClr val="CADCFC"/>
            </a:solidFill>
            <a:prstDash val="solid"/>
          </a:ln>
        </p:spPr>
        <p:txBody>
          <a:bodyPr/>
          <a:lstStyle/>
          <a:p>
            <a:endParaRPr lang="es-AR" noProof="0" dirty="0"/>
          </a:p>
        </p:txBody>
      </p:sp>
      <p:sp>
        <p:nvSpPr>
          <p:cNvPr id="5" name="Text 3">
            <a:extLst>
              <a:ext uri="{FF2B5EF4-FFF2-40B4-BE49-F238E27FC236}">
                <a16:creationId xmlns:a16="http://schemas.microsoft.com/office/drawing/2014/main" id="{0FC8DD06-6321-8C7D-E4FE-5EE2389DDD58}"/>
              </a:ext>
            </a:extLst>
          </p:cNvPr>
          <p:cNvSpPr/>
          <p:nvPr/>
        </p:nvSpPr>
        <p:spPr>
          <a:xfrm>
            <a:off x="777240" y="1600200"/>
            <a:ext cx="6492240" cy="4754880"/>
          </a:xfrm>
          <a:prstGeom prst="rect">
            <a:avLst/>
          </a:prstGeom>
          <a:noFill/>
          <a:ln/>
        </p:spPr>
        <p:txBody>
          <a:bodyPr wrap="square" rtlCol="0" anchor="t"/>
          <a:lstStyle/>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TDA Pila</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Operaciones:</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b="1" noProof="0" dirty="0">
                <a:solidFill>
                  <a:srgbClr val="1C1C2A"/>
                </a:solidFill>
                <a:latin typeface="Courier New" pitchFamily="34" charset="0"/>
                <a:ea typeface="Courier New" pitchFamily="34" charset="-122"/>
                <a:cs typeface="Courier New" pitchFamily="34" charset="-120"/>
              </a:rPr>
              <a:t>crear</a:t>
            </a:r>
            <a:r>
              <a:rPr lang="es-AR" sz="1350" noProof="0" dirty="0">
                <a:solidFill>
                  <a:srgbClr val="1C1C2A"/>
                </a:solidFill>
                <a:latin typeface="Courier New" pitchFamily="34" charset="0"/>
                <a:ea typeface="Courier New" pitchFamily="34" charset="-122"/>
                <a:cs typeface="Courier New" pitchFamily="34" charset="-120"/>
              </a:rPr>
              <a:t>() -&gt; Pila</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post: devuelve una pila </a:t>
            </a:r>
            <a:r>
              <a:rPr lang="es-AR" sz="1350" noProof="0" dirty="0" err="1">
                <a:solidFill>
                  <a:srgbClr val="1C1C2A"/>
                </a:solidFill>
                <a:latin typeface="Courier New" pitchFamily="34" charset="0"/>
                <a:ea typeface="Courier New" pitchFamily="34" charset="-122"/>
                <a:cs typeface="Courier New" pitchFamily="34" charset="-120"/>
              </a:rPr>
              <a:t>vacia</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b="1" noProof="0" dirty="0">
                <a:solidFill>
                  <a:srgbClr val="1C1C2A"/>
                </a:solidFill>
                <a:latin typeface="Courier New" pitchFamily="34" charset="0"/>
                <a:ea typeface="Courier New" pitchFamily="34" charset="-122"/>
                <a:cs typeface="Courier New" pitchFamily="34" charset="-120"/>
              </a:rPr>
              <a:t>apilar</a:t>
            </a:r>
            <a:r>
              <a:rPr lang="es-AR" sz="1350" noProof="0" dirty="0">
                <a:solidFill>
                  <a:srgbClr val="1C1C2A"/>
                </a:solidFill>
                <a:latin typeface="Courier New" pitchFamily="34" charset="0"/>
                <a:ea typeface="Courier New" pitchFamily="34" charset="-122"/>
                <a:cs typeface="Courier New" pitchFamily="34" charset="-120"/>
              </a:rPr>
              <a:t>(p: Pila, x: elemento) -&gt; Pila</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post: x queda en el tope de p</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b="1" noProof="0" dirty="0" err="1">
                <a:solidFill>
                  <a:srgbClr val="1C1C2A"/>
                </a:solidFill>
                <a:latin typeface="Courier New" pitchFamily="34" charset="0"/>
                <a:ea typeface="Courier New" pitchFamily="34" charset="-122"/>
                <a:cs typeface="Courier New" pitchFamily="34" charset="-120"/>
              </a:rPr>
              <a:t>desapilar</a:t>
            </a:r>
            <a:r>
              <a:rPr lang="es-AR" sz="1350" noProof="0" dirty="0">
                <a:solidFill>
                  <a:srgbClr val="1C1C2A"/>
                </a:solidFill>
                <a:latin typeface="Courier New" pitchFamily="34" charset="0"/>
                <a:ea typeface="Courier New" pitchFamily="34" charset="-122"/>
                <a:cs typeface="Courier New" pitchFamily="34" charset="-120"/>
              </a:rPr>
              <a:t>(p: Pila) -&gt; Pila</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pre:  p no esta </a:t>
            </a:r>
            <a:r>
              <a:rPr lang="es-AR" sz="1350" noProof="0" dirty="0" err="1">
                <a:solidFill>
                  <a:srgbClr val="1C1C2A"/>
                </a:solidFill>
                <a:latin typeface="Courier New" pitchFamily="34" charset="0"/>
                <a:ea typeface="Courier New" pitchFamily="34" charset="-122"/>
                <a:cs typeface="Courier New" pitchFamily="34" charset="-120"/>
              </a:rPr>
              <a:t>vacia</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post: se elimina el elemento del tope de p</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b="1" noProof="0" dirty="0">
                <a:solidFill>
                  <a:srgbClr val="1C1C2A"/>
                </a:solidFill>
                <a:latin typeface="Courier New" pitchFamily="34" charset="0"/>
                <a:ea typeface="Courier New" pitchFamily="34" charset="-122"/>
                <a:cs typeface="Courier New" pitchFamily="34" charset="-120"/>
              </a:rPr>
              <a:t>tope</a:t>
            </a:r>
            <a:r>
              <a:rPr lang="es-AR" sz="1350" noProof="0" dirty="0">
                <a:solidFill>
                  <a:srgbClr val="1C1C2A"/>
                </a:solidFill>
                <a:latin typeface="Courier New" pitchFamily="34" charset="0"/>
                <a:ea typeface="Courier New" pitchFamily="34" charset="-122"/>
                <a:cs typeface="Courier New" pitchFamily="34" charset="-120"/>
              </a:rPr>
              <a:t>(p: Pila) -&gt; elemento</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pre:  p no esta </a:t>
            </a:r>
            <a:r>
              <a:rPr lang="es-AR" sz="1350" noProof="0" dirty="0" err="1">
                <a:solidFill>
                  <a:srgbClr val="1C1C2A"/>
                </a:solidFill>
                <a:latin typeface="Courier New" pitchFamily="34" charset="0"/>
                <a:ea typeface="Courier New" pitchFamily="34" charset="-122"/>
                <a:cs typeface="Courier New" pitchFamily="34" charset="-120"/>
              </a:rPr>
              <a:t>vacia</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post: devuelve el elemento del tope sin eliminarlo</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b="1" noProof="0" dirty="0" err="1">
                <a:solidFill>
                  <a:srgbClr val="1C1C2A"/>
                </a:solidFill>
                <a:latin typeface="Courier New" pitchFamily="34" charset="0"/>
                <a:ea typeface="Courier New" pitchFamily="34" charset="-122"/>
                <a:cs typeface="Courier New" pitchFamily="34" charset="-120"/>
              </a:rPr>
              <a:t>esVacia</a:t>
            </a:r>
            <a:r>
              <a:rPr lang="es-AR" sz="1350" noProof="0" dirty="0">
                <a:solidFill>
                  <a:srgbClr val="1C1C2A"/>
                </a:solidFill>
                <a:latin typeface="Courier New" pitchFamily="34" charset="0"/>
                <a:ea typeface="Courier New" pitchFamily="34" charset="-122"/>
                <a:cs typeface="Courier New" pitchFamily="34" charset="-120"/>
              </a:rPr>
              <a:t>(p: Pila) -&gt; </a:t>
            </a:r>
            <a:r>
              <a:rPr lang="es-AR" sz="1350" noProof="0" dirty="0" err="1">
                <a:solidFill>
                  <a:srgbClr val="1C1C2A"/>
                </a:solidFill>
                <a:latin typeface="Courier New" pitchFamily="34" charset="0"/>
                <a:ea typeface="Courier New" pitchFamily="34" charset="-122"/>
                <a:cs typeface="Courier New" pitchFamily="34" charset="-120"/>
              </a:rPr>
              <a:t>boolean</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post: devuelve true si p no tiene elementos</a:t>
            </a:r>
          </a:p>
          <a:p>
            <a:pPr>
              <a:lnSpc>
                <a:spcPct val="115000"/>
              </a:lnSpc>
            </a:pPr>
            <a:r>
              <a:rPr lang="es-AR" sz="1350" dirty="0">
                <a:solidFill>
                  <a:srgbClr val="1C1C2A"/>
                </a:solidFill>
                <a:latin typeface="Courier New" pitchFamily="34" charset="0"/>
                <a:ea typeface="Courier New" pitchFamily="34" charset="-122"/>
                <a:cs typeface="Courier New" pitchFamily="34" charset="-120"/>
              </a:rPr>
              <a:t>  </a:t>
            </a:r>
            <a:r>
              <a:rPr lang="es-AR" sz="1350" b="1" dirty="0" err="1">
                <a:solidFill>
                  <a:srgbClr val="1C1C2A"/>
                </a:solidFill>
                <a:latin typeface="Courier New" pitchFamily="34" charset="0"/>
                <a:ea typeface="Courier New" pitchFamily="34" charset="-122"/>
                <a:cs typeface="Courier New" pitchFamily="34" charset="-120"/>
              </a:rPr>
              <a:t>esLlena</a:t>
            </a:r>
            <a:r>
              <a:rPr lang="es-AR" sz="1350" dirty="0">
                <a:solidFill>
                  <a:srgbClr val="1C1C2A"/>
                </a:solidFill>
                <a:latin typeface="Courier New" pitchFamily="34" charset="0"/>
                <a:ea typeface="Courier New" pitchFamily="34" charset="-122"/>
                <a:cs typeface="Courier New" pitchFamily="34" charset="-120"/>
              </a:rPr>
              <a:t>(p: Pila) -&gt; </a:t>
            </a:r>
            <a:r>
              <a:rPr lang="es-AR" sz="1350" dirty="0" err="1">
                <a:solidFill>
                  <a:srgbClr val="1C1C2A"/>
                </a:solidFill>
                <a:latin typeface="Courier New" pitchFamily="34" charset="0"/>
                <a:ea typeface="Courier New" pitchFamily="34" charset="-122"/>
                <a:cs typeface="Courier New" pitchFamily="34" charset="-120"/>
              </a:rPr>
              <a:t>boolean</a:t>
            </a:r>
            <a:endParaRPr lang="es-AR" sz="1350" dirty="0"/>
          </a:p>
          <a:p>
            <a:pPr>
              <a:lnSpc>
                <a:spcPct val="115000"/>
              </a:lnSpc>
            </a:pPr>
            <a:r>
              <a:rPr lang="es-AR" sz="1350" dirty="0">
                <a:solidFill>
                  <a:srgbClr val="1C1C2A"/>
                </a:solidFill>
                <a:latin typeface="Courier New" pitchFamily="34" charset="0"/>
                <a:ea typeface="Courier New" pitchFamily="34" charset="-122"/>
                <a:cs typeface="Courier New" pitchFamily="34" charset="-120"/>
              </a:rPr>
              <a:t>    post: devuelve true si p alcanzo su capacidad maxima</a:t>
            </a:r>
            <a:endParaRPr lang="es-AR" sz="1350" noProof="0" dirty="0"/>
          </a:p>
        </p:txBody>
      </p:sp>
      <p:sp>
        <p:nvSpPr>
          <p:cNvPr id="6" name="Shape 4">
            <a:extLst>
              <a:ext uri="{FF2B5EF4-FFF2-40B4-BE49-F238E27FC236}">
                <a16:creationId xmlns:a16="http://schemas.microsoft.com/office/drawing/2014/main" id="{4C294E4A-4383-1AE1-881B-32A104BC13A2}"/>
              </a:ext>
            </a:extLst>
          </p:cNvPr>
          <p:cNvSpPr/>
          <p:nvPr/>
        </p:nvSpPr>
        <p:spPr>
          <a:xfrm>
            <a:off x="7680960" y="1463040"/>
            <a:ext cx="3931920" cy="5029200"/>
          </a:xfrm>
          <a:prstGeom prst="roundRect">
            <a:avLst>
              <a:gd name="adj" fmla="val 2326"/>
            </a:avLst>
          </a:prstGeom>
          <a:solidFill>
            <a:srgbClr val="F5F7FC"/>
          </a:solidFill>
          <a:ln w="12700">
            <a:solidFill>
              <a:srgbClr val="CADCFC"/>
            </a:solidFill>
            <a:prstDash val="solid"/>
          </a:ln>
        </p:spPr>
        <p:txBody>
          <a:bodyPr/>
          <a:lstStyle/>
          <a:p>
            <a:endParaRPr lang="es-AR" noProof="0" dirty="0"/>
          </a:p>
        </p:txBody>
      </p:sp>
      <p:sp>
        <p:nvSpPr>
          <p:cNvPr id="7" name="Text 5">
            <a:extLst>
              <a:ext uri="{FF2B5EF4-FFF2-40B4-BE49-F238E27FC236}">
                <a16:creationId xmlns:a16="http://schemas.microsoft.com/office/drawing/2014/main" id="{FE3DF986-2E23-1E87-57AF-46EBE3434634}"/>
              </a:ext>
            </a:extLst>
          </p:cNvPr>
          <p:cNvSpPr/>
          <p:nvPr/>
        </p:nvSpPr>
        <p:spPr>
          <a:xfrm>
            <a:off x="7909560" y="1645920"/>
            <a:ext cx="3474720" cy="365760"/>
          </a:xfrm>
          <a:prstGeom prst="rect">
            <a:avLst/>
          </a:prstGeom>
          <a:noFill/>
          <a:ln/>
        </p:spPr>
        <p:txBody>
          <a:bodyPr wrap="square" rtlCol="0" anchor="ctr"/>
          <a:lstStyle/>
          <a:p>
            <a:pPr marL="0" indent="0">
              <a:buNone/>
            </a:pPr>
            <a:r>
              <a:rPr lang="es-AR" sz="1300" b="1" noProof="0" dirty="0">
                <a:solidFill>
                  <a:srgbClr val="1E2761"/>
                </a:solidFill>
                <a:latin typeface="Calibri" pitchFamily="34" charset="0"/>
                <a:ea typeface="Calibri" pitchFamily="34" charset="-122"/>
                <a:cs typeface="Calibri" pitchFamily="34" charset="-120"/>
              </a:rPr>
              <a:t>Detalle</a:t>
            </a:r>
            <a:endParaRPr lang="es-AR" sz="1300" noProof="0" dirty="0"/>
          </a:p>
        </p:txBody>
      </p:sp>
      <p:sp>
        <p:nvSpPr>
          <p:cNvPr id="8" name="Text 6">
            <a:extLst>
              <a:ext uri="{FF2B5EF4-FFF2-40B4-BE49-F238E27FC236}">
                <a16:creationId xmlns:a16="http://schemas.microsoft.com/office/drawing/2014/main" id="{4C518C10-CCA3-15F2-138B-292F1986A5E5}"/>
              </a:ext>
            </a:extLst>
          </p:cNvPr>
          <p:cNvSpPr/>
          <p:nvPr/>
        </p:nvSpPr>
        <p:spPr>
          <a:xfrm>
            <a:off x="7909560" y="2103120"/>
            <a:ext cx="3474720" cy="4206240"/>
          </a:xfrm>
          <a:prstGeom prst="rect">
            <a:avLst/>
          </a:prstGeom>
          <a:noFill/>
          <a:ln/>
        </p:spPr>
        <p:txBody>
          <a:bodyPr wrap="square" rtlCol="0" anchor="t"/>
          <a:lstStyle/>
          <a:p>
            <a:r>
              <a:rPr lang="es-AR" sz="1250" b="1" noProof="0" dirty="0">
                <a:solidFill>
                  <a:srgbClr val="1E2761"/>
                </a:solidFill>
                <a:latin typeface="Calibri" pitchFamily="34" charset="0"/>
                <a:ea typeface="Calibri" pitchFamily="34" charset="-122"/>
                <a:cs typeface="Calibri" pitchFamily="34" charset="-120"/>
              </a:rPr>
              <a:t>Dominio: Pila = </a:t>
            </a:r>
            <a:r>
              <a:rPr lang="es-AR" sz="1250" noProof="0" dirty="0" err="1">
                <a:solidFill>
                  <a:srgbClr val="1C1C2A"/>
                </a:solidFill>
                <a:latin typeface="Calibri" pitchFamily="34" charset="0"/>
                <a:ea typeface="Calibri" pitchFamily="34" charset="-122"/>
                <a:cs typeface="Calibri" pitchFamily="34" charset="-120"/>
              </a:rPr>
              <a:t>Secuencia</a:t>
            </a:r>
            <a:r>
              <a:rPr lang="es-AR" sz="1250" noProof="0" dirty="0">
                <a:solidFill>
                  <a:srgbClr val="1C1C2A"/>
                </a:solidFill>
                <a:latin typeface="Calibri" pitchFamily="34" charset="0"/>
                <a:ea typeface="Calibri" pitchFamily="34" charset="-122"/>
                <a:cs typeface="Calibri" pitchFamily="34" charset="-120"/>
              </a:rPr>
              <a:t> finita y ordenada de elementos, donde el último agregado es accesible primero (LIFO).</a:t>
            </a:r>
          </a:p>
          <a:p>
            <a:endParaRPr lang="es-AR" sz="1250" b="1" noProof="0" dirty="0">
              <a:solidFill>
                <a:srgbClr val="1E2761"/>
              </a:solidFill>
              <a:latin typeface="Calibri" pitchFamily="34" charset="0"/>
              <a:ea typeface="Calibri" pitchFamily="34" charset="-122"/>
              <a:cs typeface="Calibri" pitchFamily="34" charset="-120"/>
            </a:endParaRPr>
          </a:p>
          <a:p>
            <a:endParaRPr lang="es-AR" sz="1250" b="1" noProof="0" dirty="0">
              <a:solidFill>
                <a:srgbClr val="1E2761"/>
              </a:solidFill>
              <a:latin typeface="Calibri" pitchFamily="34" charset="0"/>
              <a:ea typeface="Calibri" pitchFamily="34" charset="-122"/>
              <a:cs typeface="Calibri" pitchFamily="34" charset="-120"/>
            </a:endParaRPr>
          </a:p>
          <a:p>
            <a:pPr marL="0" indent="0">
              <a:buNone/>
            </a:pPr>
            <a:r>
              <a:rPr lang="es-AR" sz="1250" b="1" noProof="0" dirty="0">
                <a:solidFill>
                  <a:srgbClr val="1E2761"/>
                </a:solidFill>
                <a:latin typeface="Calibri" pitchFamily="34" charset="0"/>
                <a:ea typeface="Calibri" pitchFamily="34" charset="-122"/>
                <a:cs typeface="Calibri" pitchFamily="34" charset="-120"/>
              </a:rPr>
              <a:t>apilar: </a:t>
            </a:r>
            <a:r>
              <a:rPr lang="es-AR" sz="1250" noProof="0" dirty="0">
                <a:solidFill>
                  <a:srgbClr val="1C1C2A"/>
                </a:solidFill>
                <a:latin typeface="Calibri" pitchFamily="34" charset="0"/>
                <a:ea typeface="Calibri" pitchFamily="34" charset="-122"/>
                <a:cs typeface="Calibri" pitchFamily="34" charset="-120"/>
              </a:rPr>
              <a:t>"agregar x hace que x sea el nuevo tope"
</a:t>
            </a:r>
          </a:p>
          <a:p>
            <a:pPr marL="0" indent="0">
              <a:buNone/>
            </a:pPr>
            <a:r>
              <a:rPr lang="es-AR" sz="1250" b="1" noProof="0" dirty="0" err="1">
                <a:solidFill>
                  <a:srgbClr val="1E2761"/>
                </a:solidFill>
                <a:latin typeface="Calibri" pitchFamily="34" charset="0"/>
                <a:ea typeface="Calibri" pitchFamily="34" charset="-122"/>
                <a:cs typeface="Calibri" pitchFamily="34" charset="-120"/>
              </a:rPr>
              <a:t>desapilar</a:t>
            </a:r>
            <a:r>
              <a:rPr lang="es-AR" sz="1250" b="1" noProof="0" dirty="0">
                <a:solidFill>
                  <a:srgbClr val="1E2761"/>
                </a:solidFill>
                <a:latin typeface="Calibri" pitchFamily="34" charset="0"/>
                <a:ea typeface="Calibri" pitchFamily="34" charset="-122"/>
                <a:cs typeface="Calibri" pitchFamily="34" charset="-120"/>
              </a:rPr>
              <a:t>: </a:t>
            </a:r>
            <a:r>
              <a:rPr lang="es-AR" sz="1250" noProof="0" dirty="0">
                <a:solidFill>
                  <a:srgbClr val="1C1C2A"/>
                </a:solidFill>
                <a:latin typeface="Calibri" pitchFamily="34" charset="0"/>
                <a:ea typeface="Calibri" pitchFamily="34" charset="-122"/>
                <a:cs typeface="Calibri" pitchFamily="34" charset="-120"/>
              </a:rPr>
              <a:t>"solo tiene sentido si hay algo para sacar" → de ahí la precondición
</a:t>
            </a:r>
            <a:endParaRPr lang="es-AR" sz="1250" b="1" noProof="0" dirty="0">
              <a:solidFill>
                <a:srgbClr val="1C1C2A"/>
              </a:solidFill>
              <a:latin typeface="Calibri" pitchFamily="34" charset="0"/>
              <a:ea typeface="Calibri" pitchFamily="34" charset="-122"/>
              <a:cs typeface="Calibri" pitchFamily="34" charset="-120"/>
            </a:endParaRPr>
          </a:p>
          <a:p>
            <a:pPr marL="0" indent="0">
              <a:buNone/>
            </a:pPr>
            <a:endParaRPr lang="es-AR" sz="1250" b="1" noProof="0" dirty="0">
              <a:solidFill>
                <a:srgbClr val="1C1C2A"/>
              </a:solidFill>
              <a:latin typeface="Calibri" pitchFamily="34" charset="0"/>
              <a:ea typeface="Calibri" pitchFamily="34" charset="-122"/>
              <a:cs typeface="Calibri" pitchFamily="34" charset="-120"/>
            </a:endParaRPr>
          </a:p>
          <a:p>
            <a:pPr marL="0" indent="0">
              <a:buNone/>
            </a:pPr>
            <a:r>
              <a:rPr lang="es-AR" sz="1250" b="1" noProof="0" dirty="0">
                <a:solidFill>
                  <a:srgbClr val="1E2761"/>
                </a:solidFill>
                <a:latin typeface="Calibri" pitchFamily="34" charset="0"/>
                <a:ea typeface="Calibri" pitchFamily="34" charset="-122"/>
                <a:cs typeface="Calibri" pitchFamily="34" charset="-120"/>
              </a:rPr>
              <a:t>tope: </a:t>
            </a:r>
            <a:r>
              <a:rPr lang="es-AR" sz="1250" noProof="0" dirty="0">
                <a:solidFill>
                  <a:srgbClr val="1C1C2A"/>
                </a:solidFill>
                <a:latin typeface="Calibri" pitchFamily="34" charset="0"/>
                <a:ea typeface="Calibri" pitchFamily="34" charset="-122"/>
                <a:cs typeface="Calibri" pitchFamily="34" charset="-120"/>
              </a:rPr>
              <a:t>"mirar sin sacar" — no modifica la pila</a:t>
            </a:r>
            <a:endParaRPr lang="es-AR" sz="1250" noProof="0" dirty="0"/>
          </a:p>
        </p:txBody>
      </p:sp>
      <p:sp>
        <p:nvSpPr>
          <p:cNvPr id="9" name="Text 7">
            <a:extLst>
              <a:ext uri="{FF2B5EF4-FFF2-40B4-BE49-F238E27FC236}">
                <a16:creationId xmlns:a16="http://schemas.microsoft.com/office/drawing/2014/main" id="{45198DD8-B2C3-A9CC-AA83-E0C7C8DC3060}"/>
              </a:ext>
            </a:extLst>
          </p:cNvPr>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6</a:t>
            </a:r>
            <a:endParaRPr lang="es-AR" sz="1000" noProof="0" dirty="0"/>
          </a:p>
        </p:txBody>
      </p:sp>
      <p:sp>
        <p:nvSpPr>
          <p:cNvPr id="10" name="Text 8">
            <a:extLst>
              <a:ext uri="{FF2B5EF4-FFF2-40B4-BE49-F238E27FC236}">
                <a16:creationId xmlns:a16="http://schemas.microsoft.com/office/drawing/2014/main" id="{9B95FCE6-5C82-0C91-B7E6-2228FC26615A}"/>
              </a:ext>
            </a:extLst>
          </p:cNvPr>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16</a:t>
            </a:r>
            <a:endParaRPr lang="es-AR" sz="1000" noProof="0" dirty="0"/>
          </a:p>
        </p:txBody>
      </p:sp>
    </p:spTree>
    <p:extLst>
      <p:ext uri="{BB962C8B-B14F-4D97-AF65-F5344CB8AC3E}">
        <p14:creationId xmlns:p14="http://schemas.microsoft.com/office/powerpoint/2010/main" val="3726086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BLOQUE 10</a:t>
            </a:r>
            <a:endParaRPr lang="en-US" sz="130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¿Por </a:t>
            </a:r>
            <a:r>
              <a:rPr lang="en-US" sz="2800" b="1" dirty="0" err="1">
                <a:solidFill>
                  <a:srgbClr val="1E2761"/>
                </a:solidFill>
                <a:latin typeface="Cambria" pitchFamily="34" charset="0"/>
                <a:ea typeface="Cambria" pitchFamily="34" charset="-122"/>
                <a:cs typeface="Cambria" pitchFamily="34" charset="-120"/>
              </a:rPr>
              <a:t>qué</a:t>
            </a:r>
            <a:r>
              <a:rPr lang="en-US" sz="2800" b="1" dirty="0">
                <a:solidFill>
                  <a:srgbClr val="1E2761"/>
                </a:solidFill>
                <a:latin typeface="Cambria" pitchFamily="34" charset="0"/>
                <a:ea typeface="Cambria" pitchFamily="34" charset="-122"/>
                <a:cs typeface="Cambria" pitchFamily="34" charset="-120"/>
              </a:rPr>
              <a:t> "pila </a:t>
            </a:r>
            <a:r>
              <a:rPr lang="en-US" sz="2800" b="1" dirty="0" err="1">
                <a:solidFill>
                  <a:srgbClr val="1E2761"/>
                </a:solidFill>
                <a:latin typeface="Cambria" pitchFamily="34" charset="0"/>
                <a:ea typeface="Cambria" pitchFamily="34" charset="-122"/>
                <a:cs typeface="Cambria" pitchFamily="34" charset="-120"/>
              </a:rPr>
              <a:t>estática</a:t>
            </a:r>
            <a:r>
              <a:rPr lang="en-US" sz="2800" b="1" dirty="0">
                <a:solidFill>
                  <a:srgbClr val="1E2761"/>
                </a:solidFill>
                <a:latin typeface="Cambria" pitchFamily="34" charset="0"/>
                <a:ea typeface="Cambria" pitchFamily="34" charset="-122"/>
                <a:cs typeface="Cambria" pitchFamily="34" charset="-120"/>
              </a:rPr>
              <a:t>"?</a:t>
            </a:r>
            <a:endParaRPr lang="en-US" sz="2800" dirty="0"/>
          </a:p>
        </p:txBody>
      </p:sp>
      <p:sp>
        <p:nvSpPr>
          <p:cNvPr id="4" name="Shape 2"/>
          <p:cNvSpPr/>
          <p:nvPr/>
        </p:nvSpPr>
        <p:spPr>
          <a:xfrm>
            <a:off x="548640" y="1554480"/>
            <a:ext cx="5394960" cy="4114800"/>
          </a:xfrm>
          <a:prstGeom prst="roundRect">
            <a:avLst>
              <a:gd name="adj" fmla="val 2222"/>
            </a:avLst>
          </a:prstGeom>
          <a:solidFill>
            <a:srgbClr val="F5F7FC"/>
          </a:solidFill>
          <a:ln w="12700">
            <a:solidFill>
              <a:srgbClr val="CADCFC"/>
            </a:solidFill>
            <a:prstDash val="solid"/>
          </a:ln>
        </p:spPr>
        <p:txBody>
          <a:bodyPr/>
          <a:lstStyle/>
          <a:p>
            <a:endParaRPr lang="es-AR"/>
          </a:p>
        </p:txBody>
      </p:sp>
      <p:sp>
        <p:nvSpPr>
          <p:cNvPr id="5" name="Text 3"/>
          <p:cNvSpPr/>
          <p:nvPr/>
        </p:nvSpPr>
        <p:spPr>
          <a:xfrm>
            <a:off x="822960" y="1783080"/>
            <a:ext cx="4846320" cy="1463040"/>
          </a:xfrm>
          <a:prstGeom prst="rect">
            <a:avLst/>
          </a:prstGeom>
          <a:noFill/>
          <a:ln/>
        </p:spPr>
        <p:txBody>
          <a:bodyPr wrap="square" rtlCol="0" anchor="t"/>
          <a:lstStyle/>
          <a:p>
            <a:pPr marL="0" indent="0">
              <a:buNone/>
            </a:pPr>
            <a:r>
              <a:rPr lang="en-US" sz="1500" dirty="0">
                <a:solidFill>
                  <a:srgbClr val="1C1C2A"/>
                </a:solidFill>
                <a:latin typeface="Calibri" pitchFamily="34" charset="0"/>
                <a:ea typeface="Calibri" pitchFamily="34" charset="-122"/>
                <a:cs typeface="Calibri" pitchFamily="34" charset="-120"/>
              </a:rPr>
              <a:t>Se llama pila </a:t>
            </a:r>
            <a:r>
              <a:rPr lang="en-US" sz="1500" dirty="0" err="1">
                <a:solidFill>
                  <a:srgbClr val="1C1C2A"/>
                </a:solidFill>
                <a:latin typeface="Calibri" pitchFamily="34" charset="0"/>
                <a:ea typeface="Calibri" pitchFamily="34" charset="-122"/>
                <a:cs typeface="Calibri" pitchFamily="34" charset="-120"/>
              </a:rPr>
              <a:t>estática</a:t>
            </a:r>
            <a:r>
              <a:rPr lang="en-US" sz="1500" dirty="0">
                <a:solidFill>
                  <a:srgbClr val="1C1C2A"/>
                </a:solidFill>
                <a:latin typeface="Calibri" pitchFamily="34" charset="0"/>
                <a:ea typeface="Calibri" pitchFamily="34" charset="-122"/>
                <a:cs typeface="Calibri" pitchFamily="34" charset="-120"/>
              </a:rPr>
              <a:t> porque usa una estructura de tamaño FIJO, definido en el momento de crear el TDA — típicamente un array.</a:t>
            </a:r>
            <a:endParaRPr lang="en-US" sz="1500" dirty="0"/>
          </a:p>
        </p:txBody>
      </p:sp>
      <p:sp>
        <p:nvSpPr>
          <p:cNvPr id="6" name="Shape 4"/>
          <p:cNvSpPr/>
          <p:nvPr/>
        </p:nvSpPr>
        <p:spPr>
          <a:xfrm>
            <a:off x="822960" y="3291840"/>
            <a:ext cx="4846320" cy="2103120"/>
          </a:xfrm>
          <a:prstGeom prst="roundRect">
            <a:avLst>
              <a:gd name="adj" fmla="val 3478"/>
            </a:avLst>
          </a:prstGeom>
          <a:solidFill>
            <a:srgbClr val="F4F6FB"/>
          </a:solidFill>
          <a:ln w="12700">
            <a:solidFill>
              <a:srgbClr val="CADCFC"/>
            </a:solidFill>
            <a:prstDash val="solid"/>
          </a:ln>
        </p:spPr>
        <p:txBody>
          <a:bodyPr/>
          <a:lstStyle/>
          <a:p>
            <a:endParaRPr lang="es-AR"/>
          </a:p>
        </p:txBody>
      </p:sp>
      <p:sp>
        <p:nvSpPr>
          <p:cNvPr id="7" name="Text 5"/>
          <p:cNvSpPr/>
          <p:nvPr/>
        </p:nvSpPr>
        <p:spPr>
          <a:xfrm>
            <a:off x="1051560" y="3429000"/>
            <a:ext cx="4389120" cy="1828800"/>
          </a:xfrm>
          <a:prstGeom prst="rect">
            <a:avLst/>
          </a:prstGeom>
          <a:noFill/>
          <a:ln/>
        </p:spPr>
        <p:txBody>
          <a:bodyPr wrap="square" rtlCol="0" anchor="t"/>
          <a:lstStyle/>
          <a:p>
            <a:pPr marL="0" indent="0">
              <a:lnSpc>
                <a:spcPct val="110000"/>
              </a:lnSpc>
              <a:buNone/>
            </a:pPr>
            <a:r>
              <a:rPr lang="en-US" sz="1300" dirty="0">
                <a:solidFill>
                  <a:srgbClr val="1C1C2A"/>
                </a:solidFill>
                <a:latin typeface="Courier New" pitchFamily="34" charset="0"/>
                <a:ea typeface="Courier New" pitchFamily="34" charset="-122"/>
                <a:cs typeface="Courier New" pitchFamily="34" charset="-120"/>
              </a:rPr>
              <a:t>PilaEstatica p = new PilaEstatica(50);</a:t>
            </a:r>
            <a:endParaRPr lang="en-US" sz="1300" dirty="0"/>
          </a:p>
          <a:p>
            <a:pPr marL="0" indent="0">
              <a:lnSpc>
                <a:spcPct val="110000"/>
              </a:lnSpc>
              <a:buNone/>
            </a:pPr>
            <a:r>
              <a:rPr lang="en-US" sz="1300" dirty="0">
                <a:solidFill>
                  <a:srgbClr val="1C1C2A"/>
                </a:solidFill>
                <a:latin typeface="Courier New" pitchFamily="34" charset="0"/>
                <a:ea typeface="Courier New" pitchFamily="34" charset="-122"/>
                <a:cs typeface="Courier New" pitchFamily="34" charset="-120"/>
              </a:rPr>
              <a:t>// la capacidad (50) queda fija</a:t>
            </a:r>
            <a:endParaRPr lang="en-US" sz="1300" dirty="0"/>
          </a:p>
          <a:p>
            <a:pPr marL="0" indent="0">
              <a:lnSpc>
                <a:spcPct val="110000"/>
              </a:lnSpc>
              <a:buNone/>
            </a:pPr>
            <a:r>
              <a:rPr lang="en-US" sz="1300" dirty="0">
                <a:solidFill>
                  <a:srgbClr val="1C1C2A"/>
                </a:solidFill>
                <a:latin typeface="Courier New" pitchFamily="34" charset="0"/>
                <a:ea typeface="Courier New" pitchFamily="34" charset="-122"/>
                <a:cs typeface="Courier New" pitchFamily="34" charset="-120"/>
              </a:rPr>
              <a:t>// para toda la vida del objeto</a:t>
            </a:r>
            <a:endParaRPr lang="en-US" sz="1300" dirty="0"/>
          </a:p>
        </p:txBody>
      </p:sp>
      <p:sp>
        <p:nvSpPr>
          <p:cNvPr id="8" name="Shape 6"/>
          <p:cNvSpPr/>
          <p:nvPr/>
        </p:nvSpPr>
        <p:spPr>
          <a:xfrm>
            <a:off x="6172200" y="1554480"/>
            <a:ext cx="5440680" cy="4114800"/>
          </a:xfrm>
          <a:prstGeom prst="roundRect">
            <a:avLst>
              <a:gd name="adj" fmla="val 2222"/>
            </a:avLst>
          </a:prstGeom>
          <a:solidFill>
            <a:srgbClr val="1E2761"/>
          </a:solidFill>
          <a:ln/>
        </p:spPr>
        <p:txBody>
          <a:bodyPr/>
          <a:lstStyle/>
          <a:p>
            <a:endParaRPr lang="es-AR"/>
          </a:p>
        </p:txBody>
      </p:sp>
      <p:sp>
        <p:nvSpPr>
          <p:cNvPr id="9" name="Text 7"/>
          <p:cNvSpPr/>
          <p:nvPr/>
        </p:nvSpPr>
        <p:spPr>
          <a:xfrm>
            <a:off x="6446520" y="1783080"/>
            <a:ext cx="4846320" cy="548640"/>
          </a:xfrm>
          <a:prstGeom prst="rect">
            <a:avLst/>
          </a:prstGeom>
          <a:noFill/>
          <a:ln/>
        </p:spPr>
        <p:txBody>
          <a:bodyPr wrap="square" rtlCol="0" anchor="ctr"/>
          <a:lstStyle/>
          <a:p>
            <a:pPr marL="0" indent="0">
              <a:buNone/>
            </a:pPr>
            <a:r>
              <a:rPr lang="en-US" sz="1500" b="1" dirty="0">
                <a:solidFill>
                  <a:srgbClr val="E8A33D"/>
                </a:solidFill>
                <a:latin typeface="Calibri" pitchFamily="34" charset="0"/>
                <a:ea typeface="Calibri" pitchFamily="34" charset="-122"/>
                <a:cs typeface="Calibri" pitchFamily="34" charset="-120"/>
              </a:rPr>
              <a:t>Elementos típicos de una implementación estática</a:t>
            </a:r>
            <a:endParaRPr lang="en-US" sz="1500" dirty="0"/>
          </a:p>
        </p:txBody>
      </p:sp>
      <p:sp>
        <p:nvSpPr>
          <p:cNvPr id="10" name="Text 8"/>
          <p:cNvSpPr/>
          <p:nvPr/>
        </p:nvSpPr>
        <p:spPr>
          <a:xfrm>
            <a:off x="6446520" y="2423160"/>
            <a:ext cx="4846320" cy="3017520"/>
          </a:xfrm>
          <a:prstGeom prst="rect">
            <a:avLst/>
          </a:prstGeom>
          <a:noFill/>
          <a:ln/>
        </p:spPr>
        <p:txBody>
          <a:bodyPr wrap="square" rtlCol="0" anchor="t"/>
          <a:lstStyle/>
          <a:p>
            <a:pPr marL="0" indent="0">
              <a:lnSpc>
                <a:spcPct val="130000"/>
              </a:lnSpc>
              <a:buNone/>
            </a:pPr>
            <a:r>
              <a:rPr lang="en-US" sz="1450" dirty="0">
                <a:solidFill>
                  <a:srgbClr val="FFFFFF"/>
                </a:solidFill>
                <a:latin typeface="Calibri" pitchFamily="34" charset="0"/>
                <a:ea typeface="Calibri" pitchFamily="34" charset="-122"/>
                <a:cs typeface="Calibri" pitchFamily="34" charset="-120"/>
              </a:rPr>
              <a:t>• Un array que guarda los elementos</a:t>
            </a:r>
            <a:endParaRPr lang="en-US" sz="1450" dirty="0"/>
          </a:p>
          <a:p>
            <a:pPr marL="0" indent="0">
              <a:lnSpc>
                <a:spcPct val="130000"/>
              </a:lnSpc>
              <a:buNone/>
            </a:pPr>
            <a:r>
              <a:rPr lang="en-US" sz="1450" dirty="0">
                <a:solidFill>
                  <a:srgbClr val="FFFFFF"/>
                </a:solidFill>
                <a:latin typeface="Calibri" pitchFamily="34" charset="0"/>
                <a:ea typeface="Calibri" pitchFamily="34" charset="-122"/>
                <a:cs typeface="Calibri" pitchFamily="34" charset="-120"/>
              </a:rPr>
              <a:t>• Un contador (o índice) que indica cuántos elementos hay o dónde está el próximo lugar libre</a:t>
            </a:r>
            <a:endParaRPr lang="en-US" sz="1450" dirty="0"/>
          </a:p>
          <a:p>
            <a:pPr marL="0" indent="0">
              <a:lnSpc>
                <a:spcPct val="130000"/>
              </a:lnSpc>
              <a:buNone/>
            </a:pPr>
            <a:r>
              <a:rPr lang="en-US" sz="1450" dirty="0">
                <a:solidFill>
                  <a:srgbClr val="FFFFFF"/>
                </a:solidFill>
                <a:latin typeface="Calibri" pitchFamily="34" charset="0"/>
                <a:ea typeface="Calibri" pitchFamily="34" charset="-122"/>
                <a:cs typeface="Calibri" pitchFamily="34" charset="-120"/>
              </a:rPr>
              <a:t>• Un valor fijo de capacidad máxima</a:t>
            </a:r>
            <a:endParaRPr lang="en-US" sz="1450" dirty="0"/>
          </a:p>
        </p:txBody>
      </p:sp>
      <p:sp>
        <p:nvSpPr>
          <p:cNvPr id="11" name="Text 9"/>
          <p:cNvSpPr/>
          <p:nvPr/>
        </p:nvSpPr>
        <p:spPr>
          <a:xfrm>
            <a:off x="457200" y="6537960"/>
            <a:ext cx="82296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2" name="Text 10"/>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BLOQUE 10</a:t>
            </a:r>
            <a:endParaRPr lang="en-US" sz="130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Estructura general de la </a:t>
            </a:r>
            <a:r>
              <a:rPr lang="en-US" sz="2800" b="1" dirty="0" err="1">
                <a:solidFill>
                  <a:srgbClr val="1E2761"/>
                </a:solidFill>
                <a:latin typeface="Cambria" pitchFamily="34" charset="0"/>
                <a:ea typeface="Cambria" pitchFamily="34" charset="-122"/>
                <a:cs typeface="Cambria" pitchFamily="34" charset="-120"/>
              </a:rPr>
              <a:t>clase</a:t>
            </a:r>
            <a:r>
              <a:rPr lang="en-US" sz="2800" b="1" dirty="0">
                <a:solidFill>
                  <a:srgbClr val="1E2761"/>
                </a:solidFill>
                <a:latin typeface="Cambria" pitchFamily="34" charset="0"/>
                <a:ea typeface="Cambria" pitchFamily="34" charset="-122"/>
                <a:cs typeface="Cambria" pitchFamily="34" charset="-120"/>
              </a:rPr>
              <a:t> (PILA - TOPE AL FINAL)</a:t>
            </a:r>
            <a:endParaRPr lang="en-US" sz="2800" dirty="0"/>
          </a:p>
        </p:txBody>
      </p:sp>
      <p:sp>
        <p:nvSpPr>
          <p:cNvPr id="4" name="Shape 2"/>
          <p:cNvSpPr/>
          <p:nvPr/>
        </p:nvSpPr>
        <p:spPr>
          <a:xfrm>
            <a:off x="548640" y="1554480"/>
            <a:ext cx="11064240" cy="4297680"/>
          </a:xfrm>
          <a:prstGeom prst="roundRect">
            <a:avLst>
              <a:gd name="adj" fmla="val 1702"/>
            </a:avLst>
          </a:prstGeom>
          <a:solidFill>
            <a:srgbClr val="F4F6FB"/>
          </a:solidFill>
          <a:ln w="12700">
            <a:solidFill>
              <a:srgbClr val="CADCFC"/>
            </a:solidFill>
            <a:prstDash val="solid"/>
          </a:ln>
        </p:spPr>
        <p:txBody>
          <a:bodyPr/>
          <a:lstStyle/>
          <a:p>
            <a:endParaRPr lang="es-AR"/>
          </a:p>
        </p:txBody>
      </p:sp>
      <p:sp>
        <p:nvSpPr>
          <p:cNvPr id="5" name="Text 3"/>
          <p:cNvSpPr/>
          <p:nvPr/>
        </p:nvSpPr>
        <p:spPr>
          <a:xfrm>
            <a:off x="777240" y="1691640"/>
            <a:ext cx="10607040" cy="4023360"/>
          </a:xfrm>
          <a:prstGeom prst="rect">
            <a:avLst/>
          </a:prstGeom>
          <a:noFill/>
          <a:ln/>
        </p:spPr>
        <p:txBody>
          <a:bodyPr wrap="square" rtlCol="0" anchor="t"/>
          <a:lstStyle/>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public class </a:t>
            </a:r>
            <a:r>
              <a:rPr lang="en-US" sz="1500" dirty="0" err="1">
                <a:solidFill>
                  <a:srgbClr val="1C1C2A"/>
                </a:solidFill>
                <a:latin typeface="Courier New" pitchFamily="34" charset="0"/>
                <a:ea typeface="Courier New" pitchFamily="34" charset="-122"/>
                <a:cs typeface="Courier New" pitchFamily="34" charset="-120"/>
              </a:rPr>
              <a:t>PilaEstatica</a:t>
            </a:r>
            <a:r>
              <a:rPr lang="en-US" sz="1500" dirty="0">
                <a:solidFill>
                  <a:srgbClr val="1C1C2A"/>
                </a:solidFill>
                <a:latin typeface="Courier New" pitchFamily="34" charset="0"/>
                <a:ea typeface="Courier New" pitchFamily="34" charset="-122"/>
                <a:cs typeface="Courier New" pitchFamily="34" charset="-120"/>
              </a:rPr>
              <a:t> {</a:t>
            </a:r>
            <a:endParaRPr lang="en-US" sz="1500" dirty="0"/>
          </a:p>
          <a:p>
            <a:pPr marL="0" indent="0">
              <a:lnSpc>
                <a:spcPct val="110000"/>
              </a:lnSpc>
              <a:buNone/>
            </a:pP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private </a:t>
            </a:r>
            <a:r>
              <a:rPr lang="en-US" sz="1500" dirty="0" err="1">
                <a:solidFill>
                  <a:srgbClr val="1C1C2A"/>
                </a:solidFill>
                <a:latin typeface="Courier New" pitchFamily="34" charset="0"/>
                <a:ea typeface="Courier New" pitchFamily="34" charset="-122"/>
                <a:cs typeface="Courier New" pitchFamily="34" charset="-120"/>
              </a:rPr>
              <a:t>TipoDato</a:t>
            </a:r>
            <a:r>
              <a:rPr lang="en-US" sz="1500" dirty="0">
                <a:solidFill>
                  <a:srgbClr val="1C1C2A"/>
                </a:solidFill>
                <a:latin typeface="Courier New" pitchFamily="34" charset="0"/>
                <a:ea typeface="Courier New" pitchFamily="34" charset="-122"/>
                <a:cs typeface="Courier New" pitchFamily="34" charset="-120"/>
              </a:rPr>
              <a:t>[] datos;   // el array</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private int cantidad;       // o "tope", segun el TDA</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private int capacidad;      // tamaño maximo</a:t>
            </a:r>
            <a:endParaRPr lang="en-US" sz="1500" dirty="0"/>
          </a:p>
          <a:p>
            <a:pPr marL="0" indent="0">
              <a:lnSpc>
                <a:spcPct val="110000"/>
              </a:lnSpc>
              <a:buNone/>
            </a:pP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public </a:t>
            </a:r>
            <a:r>
              <a:rPr lang="en-US" sz="1500" dirty="0" err="1">
                <a:solidFill>
                  <a:srgbClr val="1C1C2A"/>
                </a:solidFill>
                <a:latin typeface="Courier New" pitchFamily="34" charset="0"/>
                <a:ea typeface="Courier New" pitchFamily="34" charset="-122"/>
                <a:cs typeface="Courier New" pitchFamily="34" charset="-120"/>
              </a:rPr>
              <a:t>PilaEstatica</a:t>
            </a:r>
            <a:r>
              <a:rPr lang="en-US" sz="1500" dirty="0">
                <a:solidFill>
                  <a:srgbClr val="1C1C2A"/>
                </a:solidFill>
                <a:latin typeface="Courier New" pitchFamily="34" charset="0"/>
                <a:ea typeface="Courier New" pitchFamily="34" charset="-122"/>
                <a:cs typeface="Courier New" pitchFamily="34" charset="-120"/>
              </a:rPr>
              <a:t>(int capacidad) {</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this.capacidad = capacidad;</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this.datos = new TipoDato[capacidad];</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this.cantidad = 0;</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a:t>
            </a:r>
            <a:endParaRPr lang="en-US" sz="1500" dirty="0"/>
          </a:p>
          <a:p>
            <a:pPr marL="0" indent="0">
              <a:lnSpc>
                <a:spcPct val="110000"/>
              </a:lnSpc>
              <a:buNone/>
            </a:pP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 ... una operacion de la especificacion</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 = un metodo publico aca abajo</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a:t>
            </a:r>
            <a:endParaRPr lang="en-US" sz="1500" dirty="0"/>
          </a:p>
        </p:txBody>
      </p:sp>
      <p:sp>
        <p:nvSpPr>
          <p:cNvPr id="6" name="Text 4"/>
          <p:cNvSpPr/>
          <p:nvPr/>
        </p:nvSpPr>
        <p:spPr>
          <a:xfrm>
            <a:off x="457200" y="6537960"/>
            <a:ext cx="82296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7" name="Text 5"/>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BLOQUE 11</a:t>
            </a:r>
            <a:endParaRPr lang="en-US" sz="1300" dirty="0"/>
          </a:p>
        </p:txBody>
      </p:sp>
      <p:sp>
        <p:nvSpPr>
          <p:cNvPr id="3" name="Text 1"/>
          <p:cNvSpPr/>
          <p:nvPr/>
        </p:nvSpPr>
        <p:spPr>
          <a:xfrm>
            <a:off x="548640" y="621792"/>
            <a:ext cx="10972800" cy="731520"/>
          </a:xfrm>
          <a:prstGeom prst="rect">
            <a:avLst/>
          </a:prstGeom>
          <a:noFill/>
          <a:ln/>
        </p:spPr>
        <p:txBody>
          <a:bodyPr wrap="square" rtlCol="0" anchor="ctr"/>
          <a:lstStyle/>
          <a:p>
            <a:r>
              <a:rPr lang="en-US" sz="2800" b="1" dirty="0">
                <a:solidFill>
                  <a:srgbClr val="1E2761"/>
                </a:solidFill>
                <a:latin typeface="Cambria" pitchFamily="34" charset="0"/>
                <a:ea typeface="Cambria" pitchFamily="34" charset="-122"/>
                <a:cs typeface="Cambria" pitchFamily="34" charset="-120"/>
              </a:rPr>
              <a:t>Atributos y constructor (PILA - TOPE AL FINAL)</a:t>
            </a:r>
            <a:endParaRPr lang="en-US" sz="2800" dirty="0"/>
          </a:p>
        </p:txBody>
      </p:sp>
      <p:sp>
        <p:nvSpPr>
          <p:cNvPr id="4" name="Shape 2"/>
          <p:cNvSpPr/>
          <p:nvPr/>
        </p:nvSpPr>
        <p:spPr>
          <a:xfrm>
            <a:off x="548640" y="1554480"/>
            <a:ext cx="6309360" cy="4206240"/>
          </a:xfrm>
          <a:prstGeom prst="roundRect">
            <a:avLst>
              <a:gd name="adj" fmla="val 1739"/>
            </a:avLst>
          </a:prstGeom>
          <a:solidFill>
            <a:srgbClr val="F4F6FB"/>
          </a:solidFill>
          <a:ln w="12700">
            <a:solidFill>
              <a:srgbClr val="CADCFC"/>
            </a:solidFill>
            <a:prstDash val="solid"/>
          </a:ln>
        </p:spPr>
        <p:txBody>
          <a:bodyPr/>
          <a:lstStyle/>
          <a:p>
            <a:endParaRPr lang="es-AR"/>
          </a:p>
        </p:txBody>
      </p:sp>
      <p:sp>
        <p:nvSpPr>
          <p:cNvPr id="5" name="Text 3"/>
          <p:cNvSpPr/>
          <p:nvPr/>
        </p:nvSpPr>
        <p:spPr>
          <a:xfrm>
            <a:off x="777240" y="1691640"/>
            <a:ext cx="5852160" cy="3931920"/>
          </a:xfrm>
          <a:prstGeom prst="rect">
            <a:avLst/>
          </a:prstGeom>
          <a:noFill/>
          <a:ln/>
        </p:spPr>
        <p:txBody>
          <a:bodyPr wrap="square" rtlCol="0" anchor="t"/>
          <a:lstStyle/>
          <a:p>
            <a:pPr marL="0" indent="0">
              <a:lnSpc>
                <a:spcPct val="110000"/>
              </a:lnSpc>
              <a:buNone/>
            </a:pPr>
            <a:r>
              <a:rPr lang="en-US" sz="1400" dirty="0">
                <a:solidFill>
                  <a:srgbClr val="1C1C2A"/>
                </a:solidFill>
                <a:latin typeface="Courier New" pitchFamily="34" charset="0"/>
                <a:ea typeface="Courier New" pitchFamily="34" charset="-122"/>
                <a:cs typeface="Courier New" pitchFamily="34" charset="-120"/>
              </a:rPr>
              <a:t>public class PilaEstatica {</a:t>
            </a:r>
            <a:endParaRPr lang="en-US" sz="1400" dirty="0"/>
          </a:p>
          <a:p>
            <a:pPr marL="0" indent="0">
              <a:lnSpc>
                <a:spcPct val="110000"/>
              </a:lnSpc>
              <a:buNone/>
            </a:pPr>
            <a:r>
              <a:rPr lang="en-US" sz="1400" dirty="0">
                <a:solidFill>
                  <a:srgbClr val="1C1C2A"/>
                </a:solidFill>
                <a:latin typeface="Courier New" pitchFamily="34" charset="0"/>
                <a:ea typeface="Courier New" pitchFamily="34" charset="-122"/>
                <a:cs typeface="Courier New" pitchFamily="34" charset="-120"/>
              </a:rPr>
              <a:t>    private int[] datos;</a:t>
            </a:r>
            <a:endParaRPr lang="en-US" sz="1400" dirty="0"/>
          </a:p>
          <a:p>
            <a:pPr>
              <a:lnSpc>
                <a:spcPct val="110000"/>
              </a:lnSpc>
            </a:pPr>
            <a:r>
              <a:rPr lang="en-US" sz="1400" dirty="0">
                <a:solidFill>
                  <a:srgbClr val="1C1C2A"/>
                </a:solidFill>
                <a:latin typeface="Courier New" pitchFamily="34" charset="0"/>
                <a:ea typeface="Courier New" pitchFamily="34" charset="-122"/>
                <a:cs typeface="Courier New" pitchFamily="34" charset="-120"/>
              </a:rPr>
              <a:t>    private int tope;      // indice del proximo         </a:t>
            </a:r>
          </a:p>
          <a:p>
            <a:pPr>
              <a:lnSpc>
                <a:spcPct val="110000"/>
              </a:lnSpc>
            </a:pPr>
            <a:r>
              <a:rPr lang="en-US" sz="1400" dirty="0">
                <a:solidFill>
                  <a:srgbClr val="1C1C2A"/>
                </a:solidFill>
                <a:latin typeface="Courier New" pitchFamily="34" charset="0"/>
                <a:ea typeface="Courier New" pitchFamily="34" charset="-122"/>
                <a:cs typeface="Courier New" pitchFamily="34" charset="-120"/>
              </a:rPr>
              <a:t>    private int capacidad;</a:t>
            </a:r>
            <a:endParaRPr lang="en-US" sz="1400" dirty="0"/>
          </a:p>
          <a:p>
            <a:pPr marL="0" indent="0">
              <a:lnSpc>
                <a:spcPct val="110000"/>
              </a:lnSpc>
              <a:buNone/>
            </a:pPr>
            <a:endParaRPr lang="en-US" sz="1400" dirty="0"/>
          </a:p>
          <a:p>
            <a:pPr marL="0" indent="0">
              <a:lnSpc>
                <a:spcPct val="110000"/>
              </a:lnSpc>
              <a:buNone/>
            </a:pPr>
            <a:r>
              <a:rPr lang="en-US" sz="1400" dirty="0">
                <a:solidFill>
                  <a:srgbClr val="1C1C2A"/>
                </a:solidFill>
                <a:latin typeface="Courier New" pitchFamily="34" charset="0"/>
                <a:ea typeface="Courier New" pitchFamily="34" charset="-122"/>
                <a:cs typeface="Courier New" pitchFamily="34" charset="-120"/>
              </a:rPr>
              <a:t>    public PilaEstatica(int capacidad) {</a:t>
            </a:r>
            <a:endParaRPr lang="en-US" sz="1400" dirty="0"/>
          </a:p>
          <a:p>
            <a:pPr marL="0" indent="0">
              <a:lnSpc>
                <a:spcPct val="110000"/>
              </a:lnSpc>
              <a:buNone/>
            </a:pPr>
            <a:r>
              <a:rPr lang="en-US" sz="1400" dirty="0">
                <a:solidFill>
                  <a:srgbClr val="1C1C2A"/>
                </a:solidFill>
                <a:latin typeface="Courier New" pitchFamily="34" charset="0"/>
                <a:ea typeface="Courier New" pitchFamily="34" charset="-122"/>
                <a:cs typeface="Courier New" pitchFamily="34" charset="-120"/>
              </a:rPr>
              <a:t>        this.capacidad = capacidad;</a:t>
            </a:r>
            <a:endParaRPr lang="en-US" sz="1400" dirty="0"/>
          </a:p>
          <a:p>
            <a:pPr marL="0" indent="0">
              <a:lnSpc>
                <a:spcPct val="110000"/>
              </a:lnSpc>
              <a:buNone/>
            </a:pPr>
            <a:r>
              <a:rPr lang="en-US" sz="1400" dirty="0">
                <a:solidFill>
                  <a:srgbClr val="1C1C2A"/>
                </a:solidFill>
                <a:latin typeface="Courier New" pitchFamily="34" charset="0"/>
                <a:ea typeface="Courier New" pitchFamily="34" charset="-122"/>
                <a:cs typeface="Courier New" pitchFamily="34" charset="-120"/>
              </a:rPr>
              <a:t>        this.datos = new int[capacidad];</a:t>
            </a:r>
            <a:endParaRPr lang="en-US" sz="1400" dirty="0"/>
          </a:p>
          <a:p>
            <a:pPr marL="0" indent="0">
              <a:lnSpc>
                <a:spcPct val="110000"/>
              </a:lnSpc>
              <a:buNone/>
            </a:pPr>
            <a:r>
              <a:rPr lang="en-US" sz="1400" dirty="0">
                <a:solidFill>
                  <a:srgbClr val="1C1C2A"/>
                </a:solidFill>
                <a:latin typeface="Courier New" pitchFamily="34" charset="0"/>
                <a:ea typeface="Courier New" pitchFamily="34" charset="-122"/>
                <a:cs typeface="Courier New" pitchFamily="34" charset="-120"/>
              </a:rPr>
              <a:t>        this.tope = 0;</a:t>
            </a:r>
            <a:endParaRPr lang="en-US" sz="1400" dirty="0"/>
          </a:p>
          <a:p>
            <a:pPr marL="0" indent="0">
              <a:lnSpc>
                <a:spcPct val="110000"/>
              </a:lnSpc>
              <a:buNone/>
            </a:pPr>
            <a:r>
              <a:rPr lang="en-US" sz="1400" dirty="0">
                <a:solidFill>
                  <a:srgbClr val="1C1C2A"/>
                </a:solidFill>
                <a:latin typeface="Courier New" pitchFamily="34" charset="0"/>
                <a:ea typeface="Courier New" pitchFamily="34" charset="-122"/>
                <a:cs typeface="Courier New" pitchFamily="34" charset="-120"/>
              </a:rPr>
              <a:t>    }</a:t>
            </a:r>
            <a:endParaRPr lang="en-US" sz="1400" dirty="0"/>
          </a:p>
          <a:p>
            <a:pPr marL="0" indent="0">
              <a:lnSpc>
                <a:spcPct val="110000"/>
              </a:lnSpc>
              <a:buNone/>
            </a:pPr>
            <a:r>
              <a:rPr lang="en-US" sz="1400" dirty="0">
                <a:solidFill>
                  <a:srgbClr val="1C1C2A"/>
                </a:solidFill>
                <a:latin typeface="Courier New" pitchFamily="34" charset="0"/>
                <a:ea typeface="Courier New" pitchFamily="34" charset="-122"/>
                <a:cs typeface="Courier New" pitchFamily="34" charset="-120"/>
              </a:rPr>
              <a:t>}</a:t>
            </a:r>
            <a:endParaRPr lang="en-US" sz="1400" dirty="0"/>
          </a:p>
        </p:txBody>
      </p:sp>
      <p:sp>
        <p:nvSpPr>
          <p:cNvPr id="6" name="Text 4"/>
          <p:cNvSpPr/>
          <p:nvPr/>
        </p:nvSpPr>
        <p:spPr>
          <a:xfrm>
            <a:off x="7086600" y="1737360"/>
            <a:ext cx="452628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¿Por qué tope = 0 al inicio?</a:t>
            </a:r>
            <a:endParaRPr lang="en-US" sz="1500" dirty="0"/>
          </a:p>
        </p:txBody>
      </p:sp>
      <p:sp>
        <p:nvSpPr>
          <p:cNvPr id="7" name="Text 5"/>
          <p:cNvSpPr/>
          <p:nvPr/>
        </p:nvSpPr>
        <p:spPr>
          <a:xfrm>
            <a:off x="7086600" y="2194560"/>
            <a:ext cx="4526280" cy="1463040"/>
          </a:xfrm>
          <a:prstGeom prst="rect">
            <a:avLst/>
          </a:prstGeom>
          <a:noFill/>
          <a:ln/>
        </p:spPr>
        <p:txBody>
          <a:bodyPr wrap="square" rtlCol="0" anchor="t"/>
          <a:lstStyle/>
          <a:p>
            <a:pPr marL="0" indent="0">
              <a:buNone/>
            </a:pPr>
            <a:r>
              <a:rPr lang="en-US" sz="1350" dirty="0">
                <a:solidFill>
                  <a:srgbClr val="1C1C2A"/>
                </a:solidFill>
                <a:latin typeface="Calibri" pitchFamily="34" charset="0"/>
                <a:ea typeface="Calibri" pitchFamily="34" charset="-122"/>
                <a:cs typeface="Calibri" pitchFamily="34" charset="-120"/>
              </a:rPr>
              <a:t>tope representa cuántos elementos hay apilados y, a la vez, el próximo índice libre del array. Al crear la pila, no hay elementos: tope = 0.</a:t>
            </a:r>
            <a:endParaRPr lang="en-US" sz="1350" dirty="0"/>
          </a:p>
        </p:txBody>
      </p:sp>
      <p:sp>
        <p:nvSpPr>
          <p:cNvPr id="8" name="Text 6"/>
          <p:cNvSpPr/>
          <p:nvPr/>
        </p:nvSpPr>
        <p:spPr>
          <a:xfrm>
            <a:off x="7086600" y="3749040"/>
            <a:ext cx="452628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Corresponde a crear()</a:t>
            </a:r>
            <a:endParaRPr lang="en-US" sz="1500" dirty="0"/>
          </a:p>
        </p:txBody>
      </p:sp>
      <p:sp>
        <p:nvSpPr>
          <p:cNvPr id="9" name="Text 7"/>
          <p:cNvSpPr/>
          <p:nvPr/>
        </p:nvSpPr>
        <p:spPr>
          <a:xfrm>
            <a:off x="7086600" y="4206240"/>
            <a:ext cx="4526280" cy="1371600"/>
          </a:xfrm>
          <a:prstGeom prst="rect">
            <a:avLst/>
          </a:prstGeom>
          <a:noFill/>
          <a:ln/>
        </p:spPr>
        <p:txBody>
          <a:bodyPr wrap="square" rtlCol="0" anchor="t"/>
          <a:lstStyle/>
          <a:p>
            <a:pPr marL="0" indent="0">
              <a:buNone/>
            </a:pPr>
            <a:r>
              <a:rPr lang="en-US" sz="1350" dirty="0">
                <a:solidFill>
                  <a:srgbClr val="1C1C2A"/>
                </a:solidFill>
                <a:latin typeface="Calibri" pitchFamily="34" charset="0"/>
                <a:ea typeface="Calibri" pitchFamily="34" charset="-122"/>
                <a:cs typeface="Calibri" pitchFamily="34" charset="-120"/>
              </a:rPr>
              <a:t>El constructor es la traducción directa de la operación crear() → Pila de la especificación de la Clase 1.</a:t>
            </a:r>
            <a:endParaRPr lang="en-US" sz="1350" dirty="0"/>
          </a:p>
        </p:txBody>
      </p:sp>
      <p:sp>
        <p:nvSpPr>
          <p:cNvPr id="10" name="Text 8"/>
          <p:cNvSpPr/>
          <p:nvPr/>
        </p:nvSpPr>
        <p:spPr>
          <a:xfrm>
            <a:off x="457200" y="6537960"/>
            <a:ext cx="82296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1" name="Text 9"/>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BLOQUE 11</a:t>
            </a:r>
            <a:endParaRPr lang="en-US" sz="1300" dirty="0"/>
          </a:p>
        </p:txBody>
      </p:sp>
      <p:sp>
        <p:nvSpPr>
          <p:cNvPr id="3" name="Text 1"/>
          <p:cNvSpPr/>
          <p:nvPr/>
        </p:nvSpPr>
        <p:spPr>
          <a:xfrm>
            <a:off x="548640" y="621792"/>
            <a:ext cx="10972800" cy="731520"/>
          </a:xfrm>
          <a:prstGeom prst="rect">
            <a:avLst/>
          </a:prstGeom>
          <a:noFill/>
          <a:ln/>
        </p:spPr>
        <p:txBody>
          <a:bodyPr wrap="square" rtlCol="0" anchor="ctr"/>
          <a:lstStyle/>
          <a:p>
            <a:r>
              <a:rPr lang="en-US" sz="2800" b="1" dirty="0">
                <a:solidFill>
                  <a:srgbClr val="1E2761"/>
                </a:solidFill>
                <a:latin typeface="Cambria" pitchFamily="34" charset="0"/>
                <a:ea typeface="Cambria" pitchFamily="34" charset="-122"/>
                <a:cs typeface="Cambria" pitchFamily="34" charset="-120"/>
              </a:rPr>
              <a:t>Operaciones de consulta: esVacia, </a:t>
            </a:r>
            <a:r>
              <a:rPr lang="en-US" sz="2800" b="1" dirty="0" err="1">
                <a:solidFill>
                  <a:srgbClr val="1E2761"/>
                </a:solidFill>
                <a:latin typeface="Cambria" pitchFamily="34" charset="0"/>
                <a:ea typeface="Cambria" pitchFamily="34" charset="-122"/>
                <a:cs typeface="Cambria" pitchFamily="34" charset="-120"/>
              </a:rPr>
              <a:t>esLlena</a:t>
            </a:r>
            <a:r>
              <a:rPr lang="en-US" sz="2800" b="1" dirty="0">
                <a:solidFill>
                  <a:srgbClr val="1E2761"/>
                </a:solidFill>
                <a:latin typeface="Cambria" pitchFamily="34" charset="0"/>
                <a:ea typeface="Cambria" pitchFamily="34" charset="-122"/>
                <a:cs typeface="Cambria" pitchFamily="34" charset="-120"/>
              </a:rPr>
              <a:t> (PILA - TOPE AL FINAL)</a:t>
            </a:r>
            <a:endParaRPr lang="en-US" sz="2800" dirty="0"/>
          </a:p>
        </p:txBody>
      </p:sp>
      <p:sp>
        <p:nvSpPr>
          <p:cNvPr id="4" name="Shape 2"/>
          <p:cNvSpPr/>
          <p:nvPr/>
        </p:nvSpPr>
        <p:spPr>
          <a:xfrm>
            <a:off x="548640" y="1554480"/>
            <a:ext cx="6309360" cy="2194560"/>
          </a:xfrm>
          <a:prstGeom prst="roundRect">
            <a:avLst>
              <a:gd name="adj" fmla="val 3333"/>
            </a:avLst>
          </a:prstGeom>
          <a:solidFill>
            <a:srgbClr val="F4F6FB"/>
          </a:solidFill>
          <a:ln w="12700">
            <a:solidFill>
              <a:srgbClr val="CADCFC"/>
            </a:solidFill>
            <a:prstDash val="solid"/>
          </a:ln>
        </p:spPr>
        <p:txBody>
          <a:bodyPr/>
          <a:lstStyle/>
          <a:p>
            <a:endParaRPr lang="es-AR"/>
          </a:p>
        </p:txBody>
      </p:sp>
      <p:sp>
        <p:nvSpPr>
          <p:cNvPr id="5" name="Text 3"/>
          <p:cNvSpPr/>
          <p:nvPr/>
        </p:nvSpPr>
        <p:spPr>
          <a:xfrm>
            <a:off x="777240" y="1691640"/>
            <a:ext cx="5852160" cy="1920240"/>
          </a:xfrm>
          <a:prstGeom prst="rect">
            <a:avLst/>
          </a:prstGeom>
          <a:noFill/>
          <a:ln/>
        </p:spPr>
        <p:txBody>
          <a:bodyPr wrap="square" rtlCol="0" anchor="t"/>
          <a:lstStyle/>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public boolean esVacia() {</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return tope == 0;</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a:t>
            </a:r>
            <a:endParaRPr lang="en-US" sz="1500" dirty="0"/>
          </a:p>
          <a:p>
            <a:pPr marL="0" indent="0">
              <a:lnSpc>
                <a:spcPct val="110000"/>
              </a:lnSpc>
              <a:buNone/>
            </a:pP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public boolean esLlena() {</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return tope == capacidad;</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a:t>
            </a:r>
            <a:endParaRPr lang="en-US" sz="1500" dirty="0"/>
          </a:p>
        </p:txBody>
      </p:sp>
      <p:sp>
        <p:nvSpPr>
          <p:cNvPr id="6" name="Shape 4"/>
          <p:cNvSpPr/>
          <p:nvPr/>
        </p:nvSpPr>
        <p:spPr>
          <a:xfrm>
            <a:off x="7086600" y="1554480"/>
            <a:ext cx="4526280" cy="2194560"/>
          </a:xfrm>
          <a:prstGeom prst="roundRect">
            <a:avLst>
              <a:gd name="adj" fmla="val 4167"/>
            </a:avLst>
          </a:prstGeom>
          <a:solidFill>
            <a:srgbClr val="F5F7FC"/>
          </a:solidFill>
          <a:ln w="12700">
            <a:solidFill>
              <a:srgbClr val="CADCFC"/>
            </a:solidFill>
            <a:prstDash val="solid"/>
          </a:ln>
        </p:spPr>
        <p:txBody>
          <a:bodyPr/>
          <a:lstStyle/>
          <a:p>
            <a:endParaRPr lang="es-AR"/>
          </a:p>
        </p:txBody>
      </p:sp>
      <p:sp>
        <p:nvSpPr>
          <p:cNvPr id="7" name="Text 5"/>
          <p:cNvSpPr/>
          <p:nvPr/>
        </p:nvSpPr>
        <p:spPr>
          <a:xfrm>
            <a:off x="7315200" y="1737360"/>
            <a:ext cx="4069080" cy="1828800"/>
          </a:xfrm>
          <a:prstGeom prst="rect">
            <a:avLst/>
          </a:prstGeom>
          <a:noFill/>
          <a:ln/>
        </p:spPr>
        <p:txBody>
          <a:bodyPr wrap="square" rtlCol="0" anchor="t"/>
          <a:lstStyle/>
          <a:p>
            <a:pPr marL="0" indent="0">
              <a:buNone/>
            </a:pPr>
            <a:r>
              <a:rPr lang="en-US" sz="1300" dirty="0">
                <a:solidFill>
                  <a:srgbClr val="1C1C2A"/>
                </a:solidFill>
                <a:latin typeface="Calibri" pitchFamily="34" charset="0"/>
                <a:ea typeface="Calibri" pitchFamily="34" charset="-122"/>
                <a:cs typeface="Calibri" pitchFamily="34" charset="-120"/>
              </a:rPr>
              <a:t>Estas dos operaciones son la base para escribir las precondiciones del resto de las operaciones — apilar necesita "no llena" y desapilar necesita "no vacía".</a:t>
            </a:r>
            <a:endParaRPr lang="en-US" sz="1300" dirty="0"/>
          </a:p>
        </p:txBody>
      </p:sp>
      <p:sp>
        <p:nvSpPr>
          <p:cNvPr id="8" name="Shape 6"/>
          <p:cNvSpPr/>
          <p:nvPr/>
        </p:nvSpPr>
        <p:spPr>
          <a:xfrm>
            <a:off x="548640" y="3931920"/>
            <a:ext cx="6309360" cy="2743200"/>
          </a:xfrm>
          <a:prstGeom prst="roundRect">
            <a:avLst>
              <a:gd name="adj" fmla="val 2667"/>
            </a:avLst>
          </a:prstGeom>
          <a:solidFill>
            <a:srgbClr val="F4F6FB"/>
          </a:solidFill>
          <a:ln w="12700">
            <a:solidFill>
              <a:srgbClr val="CADCFC"/>
            </a:solidFill>
            <a:prstDash val="solid"/>
          </a:ln>
        </p:spPr>
        <p:txBody>
          <a:bodyPr/>
          <a:lstStyle/>
          <a:p>
            <a:endParaRPr lang="es-AR"/>
          </a:p>
        </p:txBody>
      </p:sp>
      <p:sp>
        <p:nvSpPr>
          <p:cNvPr id="9" name="Text 7"/>
          <p:cNvSpPr/>
          <p:nvPr/>
        </p:nvSpPr>
        <p:spPr>
          <a:xfrm>
            <a:off x="777240" y="3948801"/>
            <a:ext cx="5852160" cy="2726320"/>
          </a:xfrm>
          <a:prstGeom prst="rect">
            <a:avLst/>
          </a:prstGeom>
          <a:noFill/>
          <a:ln/>
        </p:spPr>
        <p:txBody>
          <a:bodyPr wrap="square" rtlCol="0" anchor="t"/>
          <a:lstStyle/>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public void apilar(int x) {</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    if (esLlena()) {</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        throw new RuntimeException("Pila llena");</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    datos[tope] = x;</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    tope++;</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public int desapilar() {</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    if (esVacia()) {</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        throw new RuntimeException("Pila vacia");</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    tope--;</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    return datos[tope];</a:t>
            </a:r>
            <a:endParaRPr lang="en-US" sz="1100" dirty="0"/>
          </a:p>
          <a:p>
            <a:pPr marL="0" indent="0">
              <a:lnSpc>
                <a:spcPct val="110000"/>
              </a:lnSpc>
              <a:buNone/>
            </a:pPr>
            <a:r>
              <a:rPr lang="en-US" sz="1100" dirty="0">
                <a:solidFill>
                  <a:srgbClr val="1C1C2A"/>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7086600" y="3931920"/>
            <a:ext cx="4526280" cy="2743200"/>
          </a:xfrm>
          <a:prstGeom prst="roundRect">
            <a:avLst>
              <a:gd name="adj" fmla="val 3333"/>
            </a:avLst>
          </a:prstGeom>
          <a:solidFill>
            <a:srgbClr val="1E2761"/>
          </a:solidFill>
          <a:ln/>
        </p:spPr>
        <p:txBody>
          <a:bodyPr/>
          <a:lstStyle/>
          <a:p>
            <a:endParaRPr lang="es-AR"/>
          </a:p>
        </p:txBody>
      </p:sp>
      <p:sp>
        <p:nvSpPr>
          <p:cNvPr id="11" name="Text 9"/>
          <p:cNvSpPr/>
          <p:nvPr/>
        </p:nvSpPr>
        <p:spPr>
          <a:xfrm>
            <a:off x="7315200" y="4114800"/>
            <a:ext cx="4069080" cy="365760"/>
          </a:xfrm>
          <a:prstGeom prst="rect">
            <a:avLst/>
          </a:prstGeom>
          <a:noFill/>
          <a:ln/>
        </p:spPr>
        <p:txBody>
          <a:bodyPr wrap="square"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Traducción directa de pre/post</a:t>
            </a:r>
            <a:endParaRPr lang="en-US" sz="1300" dirty="0"/>
          </a:p>
        </p:txBody>
      </p:sp>
      <p:sp>
        <p:nvSpPr>
          <p:cNvPr id="12" name="Text 10"/>
          <p:cNvSpPr/>
          <p:nvPr/>
        </p:nvSpPr>
        <p:spPr>
          <a:xfrm>
            <a:off x="7315200" y="4526280"/>
            <a:ext cx="4069080" cy="2011680"/>
          </a:xfrm>
          <a:prstGeom prst="rect">
            <a:avLst/>
          </a:prstGeom>
          <a:noFill/>
          <a:ln/>
        </p:spPr>
        <p:txBody>
          <a:bodyPr wrap="square" rtlCol="0" anchor="t"/>
          <a:lstStyle/>
          <a:p>
            <a:pPr marL="0" indent="0">
              <a:buNone/>
            </a:pPr>
            <a:r>
              <a:rPr lang="en-US" sz="1250" dirty="0">
                <a:solidFill>
                  <a:srgbClr val="FFFFFF"/>
                </a:solidFill>
                <a:latin typeface="Calibri" pitchFamily="34" charset="0"/>
                <a:ea typeface="Calibri" pitchFamily="34" charset="-122"/>
                <a:cs typeface="Calibri" pitchFamily="34" charset="-120"/>
              </a:rPr>
              <a:t>pre: "no está vacía"  →  if (esVacia()) throw...</a:t>
            </a:r>
            <a:endParaRPr lang="en-US" sz="1250" dirty="0"/>
          </a:p>
          <a:p>
            <a:pPr marL="0" indent="0">
              <a:buNone/>
            </a:pPr>
            <a:endParaRPr lang="en-US" sz="1250" dirty="0"/>
          </a:p>
          <a:p>
            <a:pPr marL="0" indent="0">
              <a:buNone/>
            </a:pPr>
            <a:r>
              <a:rPr lang="en-US" sz="1250" dirty="0">
                <a:solidFill>
                  <a:srgbClr val="FFFFFF"/>
                </a:solidFill>
                <a:latin typeface="Calibri" pitchFamily="34" charset="0"/>
                <a:ea typeface="Calibri" pitchFamily="34" charset="-122"/>
                <a:cs typeface="Calibri" pitchFamily="34" charset="-120"/>
              </a:rPr>
              <a:t>post: "x queda en el tope"  →  datos[tope]=x; tope++;</a:t>
            </a:r>
            <a:endParaRPr lang="en-US" sz="1250" dirty="0"/>
          </a:p>
        </p:txBody>
      </p:sp>
      <p:sp>
        <p:nvSpPr>
          <p:cNvPr id="13" name="Text 11"/>
          <p:cNvSpPr/>
          <p:nvPr/>
        </p:nvSpPr>
        <p:spPr>
          <a:xfrm>
            <a:off x="457200" y="6537960"/>
            <a:ext cx="82296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4" name="Text 12"/>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BLOQUE 11</a:t>
            </a:r>
            <a:endParaRPr lang="en-US" sz="1300" dirty="0"/>
          </a:p>
        </p:txBody>
      </p:sp>
      <p:sp>
        <p:nvSpPr>
          <p:cNvPr id="3" name="Text 1"/>
          <p:cNvSpPr/>
          <p:nvPr/>
        </p:nvSpPr>
        <p:spPr>
          <a:xfrm>
            <a:off x="548640" y="621792"/>
            <a:ext cx="10972800" cy="731520"/>
          </a:xfrm>
          <a:prstGeom prst="rect">
            <a:avLst/>
          </a:prstGeom>
          <a:noFill/>
          <a:ln/>
        </p:spPr>
        <p:txBody>
          <a:bodyPr wrap="square" rtlCol="0" anchor="ctr"/>
          <a:lstStyle/>
          <a:p>
            <a:r>
              <a:rPr lang="en-US" sz="2800" b="1" dirty="0">
                <a:solidFill>
                  <a:srgbClr val="1E2761"/>
                </a:solidFill>
                <a:latin typeface="Cambria" pitchFamily="34" charset="0"/>
                <a:ea typeface="Cambria" pitchFamily="34" charset="-122"/>
                <a:cs typeface="Cambria" pitchFamily="34" charset="-120"/>
              </a:rPr>
              <a:t>Operación tope() — consultar sin </a:t>
            </a:r>
            <a:r>
              <a:rPr lang="en-US" sz="2800" b="1" dirty="0" err="1">
                <a:solidFill>
                  <a:srgbClr val="1E2761"/>
                </a:solidFill>
                <a:latin typeface="Cambria" pitchFamily="34" charset="0"/>
                <a:ea typeface="Cambria" pitchFamily="34" charset="-122"/>
                <a:cs typeface="Cambria" pitchFamily="34" charset="-120"/>
              </a:rPr>
              <a:t>eliminar</a:t>
            </a:r>
            <a:r>
              <a:rPr lang="en-US" sz="2800" b="1" dirty="0">
                <a:solidFill>
                  <a:srgbClr val="1E2761"/>
                </a:solidFill>
                <a:latin typeface="Cambria" pitchFamily="34" charset="0"/>
                <a:ea typeface="Cambria" pitchFamily="34" charset="-122"/>
                <a:cs typeface="Cambria" pitchFamily="34" charset="-120"/>
              </a:rPr>
              <a:t> (PILA - TOPE AL FINAL)</a:t>
            </a:r>
            <a:endParaRPr lang="en-US" sz="2800" dirty="0"/>
          </a:p>
        </p:txBody>
      </p:sp>
      <p:sp>
        <p:nvSpPr>
          <p:cNvPr id="4" name="Shape 2"/>
          <p:cNvSpPr/>
          <p:nvPr/>
        </p:nvSpPr>
        <p:spPr>
          <a:xfrm>
            <a:off x="548640" y="1554480"/>
            <a:ext cx="6309360" cy="2011680"/>
          </a:xfrm>
          <a:prstGeom prst="roundRect">
            <a:avLst>
              <a:gd name="adj" fmla="val 3636"/>
            </a:avLst>
          </a:prstGeom>
          <a:solidFill>
            <a:srgbClr val="F4F6FB"/>
          </a:solidFill>
          <a:ln w="12700">
            <a:solidFill>
              <a:srgbClr val="CADCFC"/>
            </a:solidFill>
            <a:prstDash val="solid"/>
          </a:ln>
        </p:spPr>
        <p:txBody>
          <a:bodyPr/>
          <a:lstStyle/>
          <a:p>
            <a:endParaRPr lang="es-AR"/>
          </a:p>
        </p:txBody>
      </p:sp>
      <p:sp>
        <p:nvSpPr>
          <p:cNvPr id="5" name="Text 3"/>
          <p:cNvSpPr/>
          <p:nvPr/>
        </p:nvSpPr>
        <p:spPr>
          <a:xfrm>
            <a:off x="777240" y="1691640"/>
            <a:ext cx="5852160" cy="1737360"/>
          </a:xfrm>
          <a:prstGeom prst="rect">
            <a:avLst/>
          </a:prstGeom>
          <a:noFill/>
          <a:ln/>
        </p:spPr>
        <p:txBody>
          <a:bodyPr wrap="square" rtlCol="0" anchor="t"/>
          <a:lstStyle/>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public int obtenerTope() {</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if (esVacia()) {</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throw new RuntimeException("Pila vacia");</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    return datos[tope - 1];</a:t>
            </a:r>
            <a:endParaRPr lang="en-US" sz="1500" dirty="0"/>
          </a:p>
          <a:p>
            <a:pPr marL="0" indent="0">
              <a:lnSpc>
                <a:spcPct val="110000"/>
              </a:lnSpc>
              <a:buNone/>
            </a:pPr>
            <a:r>
              <a:rPr lang="en-US" sz="1500" dirty="0">
                <a:solidFill>
                  <a:srgbClr val="1C1C2A"/>
                </a:solidFill>
                <a:latin typeface="Courier New" pitchFamily="34" charset="0"/>
                <a:ea typeface="Courier New" pitchFamily="34" charset="-122"/>
                <a:cs typeface="Courier New" pitchFamily="34" charset="-120"/>
              </a:rPr>
              <a:t>}</a:t>
            </a:r>
            <a:endParaRPr lang="en-US" sz="1500" dirty="0"/>
          </a:p>
        </p:txBody>
      </p:sp>
      <p:sp>
        <p:nvSpPr>
          <p:cNvPr id="6" name="Shape 4"/>
          <p:cNvSpPr/>
          <p:nvPr/>
        </p:nvSpPr>
        <p:spPr>
          <a:xfrm>
            <a:off x="7086600" y="1554480"/>
            <a:ext cx="4526280" cy="2011680"/>
          </a:xfrm>
          <a:prstGeom prst="roundRect">
            <a:avLst>
              <a:gd name="adj" fmla="val 4545"/>
            </a:avLst>
          </a:prstGeom>
          <a:solidFill>
            <a:srgbClr val="F5F7FC"/>
          </a:solidFill>
          <a:ln w="12700">
            <a:solidFill>
              <a:srgbClr val="CADCFC"/>
            </a:solidFill>
            <a:prstDash val="solid"/>
          </a:ln>
        </p:spPr>
        <p:txBody>
          <a:bodyPr/>
          <a:lstStyle/>
          <a:p>
            <a:endParaRPr lang="es-AR"/>
          </a:p>
        </p:txBody>
      </p:sp>
      <p:sp>
        <p:nvSpPr>
          <p:cNvPr id="7" name="Text 5"/>
          <p:cNvSpPr/>
          <p:nvPr/>
        </p:nvSpPr>
        <p:spPr>
          <a:xfrm>
            <a:off x="7315200" y="1691640"/>
            <a:ext cx="406908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¿Por qué tope - 1 y no tope?</a:t>
            </a:r>
            <a:endParaRPr lang="en-US" sz="1300" dirty="0"/>
          </a:p>
        </p:txBody>
      </p:sp>
      <p:sp>
        <p:nvSpPr>
          <p:cNvPr id="8" name="Text 6"/>
          <p:cNvSpPr/>
          <p:nvPr/>
        </p:nvSpPr>
        <p:spPr>
          <a:xfrm>
            <a:off x="7315200" y="2103120"/>
            <a:ext cx="4069080" cy="1371600"/>
          </a:xfrm>
          <a:prstGeom prst="rect">
            <a:avLst/>
          </a:prstGeom>
          <a:noFill/>
          <a:ln/>
        </p:spPr>
        <p:txBody>
          <a:bodyPr wrap="square" rtlCol="0" anchor="t"/>
          <a:lstStyle/>
          <a:p>
            <a:pPr marL="0" indent="0">
              <a:buNone/>
            </a:pPr>
            <a:r>
              <a:rPr lang="en-US" sz="1250" dirty="0">
                <a:solidFill>
                  <a:srgbClr val="1C1C2A"/>
                </a:solidFill>
                <a:latin typeface="Calibri" pitchFamily="34" charset="0"/>
                <a:ea typeface="Calibri" pitchFamily="34" charset="-122"/>
                <a:cs typeface="Calibri" pitchFamily="34" charset="-120"/>
              </a:rPr>
              <a:t>tope apunta al próximo lugar LIBRE. El último elemento apilado está una posición antes: datos[tope - 1].</a:t>
            </a:r>
            <a:endParaRPr lang="en-US" sz="1250" dirty="0"/>
          </a:p>
        </p:txBody>
      </p:sp>
      <p:sp>
        <p:nvSpPr>
          <p:cNvPr id="9" name="Shape 7"/>
          <p:cNvSpPr/>
          <p:nvPr/>
        </p:nvSpPr>
        <p:spPr>
          <a:xfrm>
            <a:off x="548640" y="3794760"/>
            <a:ext cx="11064240" cy="1965960"/>
          </a:xfrm>
          <a:prstGeom prst="roundRect">
            <a:avLst>
              <a:gd name="adj" fmla="val 4651"/>
            </a:avLst>
          </a:prstGeom>
          <a:solidFill>
            <a:srgbClr val="E8A33D"/>
          </a:solidFill>
          <a:ln/>
        </p:spPr>
        <p:txBody>
          <a:bodyPr/>
          <a:lstStyle/>
          <a:p>
            <a:endParaRPr lang="es-AR"/>
          </a:p>
        </p:txBody>
      </p:sp>
      <p:sp>
        <p:nvSpPr>
          <p:cNvPr id="10" name="Text 8"/>
          <p:cNvSpPr/>
          <p:nvPr/>
        </p:nvSpPr>
        <p:spPr>
          <a:xfrm>
            <a:off x="822960" y="3794760"/>
            <a:ext cx="10607040" cy="19659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Punto clave de diseño: obtenerTope() NO modifica tope ni el array — solo lee. Esto es exactamente lo que dice la especificación: "devuelve el elemento del tope sin eliminarlo". Comparen con desapilar(), que sí modifica el estado.</a:t>
            </a:r>
            <a:endParaRPr lang="en-US" sz="1450" dirty="0"/>
          </a:p>
        </p:txBody>
      </p:sp>
      <p:sp>
        <p:nvSpPr>
          <p:cNvPr id="11" name="Text 9"/>
          <p:cNvSpPr/>
          <p:nvPr/>
        </p:nvSpPr>
        <p:spPr>
          <a:xfrm>
            <a:off x="457200" y="6537960"/>
            <a:ext cx="82296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2" name="Text 10"/>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BLOQUE 12</a:t>
            </a:r>
            <a:endParaRPr lang="en-US" sz="130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La implementación estática</a:t>
            </a:r>
            <a:endParaRPr lang="en-US" sz="2800" dirty="0"/>
          </a:p>
        </p:txBody>
      </p:sp>
      <p:sp>
        <p:nvSpPr>
          <p:cNvPr id="4" name="Shape 2"/>
          <p:cNvSpPr/>
          <p:nvPr/>
        </p:nvSpPr>
        <p:spPr>
          <a:xfrm>
            <a:off x="548640" y="1554480"/>
            <a:ext cx="5394960" cy="4206240"/>
          </a:xfrm>
          <a:prstGeom prst="roundRect">
            <a:avLst>
              <a:gd name="adj" fmla="val 2174"/>
            </a:avLst>
          </a:prstGeom>
          <a:solidFill>
            <a:srgbClr val="2C5F2D"/>
          </a:solidFill>
          <a:ln/>
        </p:spPr>
        <p:txBody>
          <a:bodyPr/>
          <a:lstStyle/>
          <a:p>
            <a:endParaRPr lang="es-AR"/>
          </a:p>
        </p:txBody>
      </p:sp>
      <p:sp>
        <p:nvSpPr>
          <p:cNvPr id="5" name="Text 3"/>
          <p:cNvSpPr/>
          <p:nvPr/>
        </p:nvSpPr>
        <p:spPr>
          <a:xfrm>
            <a:off x="822960" y="1737360"/>
            <a:ext cx="484632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Ventajas</a:t>
            </a:r>
            <a:endParaRPr lang="en-US" sz="2000" dirty="0"/>
          </a:p>
        </p:txBody>
      </p:sp>
      <p:sp>
        <p:nvSpPr>
          <p:cNvPr id="6" name="Text 4"/>
          <p:cNvSpPr/>
          <p:nvPr/>
        </p:nvSpPr>
        <p:spPr>
          <a:xfrm>
            <a:off x="822960" y="2286000"/>
            <a:ext cx="4846320" cy="3200400"/>
          </a:xfrm>
          <a:prstGeom prst="rect">
            <a:avLst/>
          </a:prstGeom>
          <a:noFill/>
          <a:ln/>
        </p:spPr>
        <p:txBody>
          <a:bodyPr wrap="square" rtlCol="0" anchor="t"/>
          <a:lstStyle/>
          <a:p>
            <a:pPr marL="0" indent="0">
              <a:lnSpc>
                <a:spcPct val="130000"/>
              </a:lnSpc>
              <a:buNone/>
            </a:pPr>
            <a:r>
              <a:rPr lang="en-US" sz="1450" dirty="0">
                <a:solidFill>
                  <a:srgbClr val="E8F5E9"/>
                </a:solidFill>
                <a:latin typeface="Calibri" pitchFamily="34" charset="0"/>
                <a:ea typeface="Calibri" pitchFamily="34" charset="-122"/>
                <a:cs typeface="Calibri" pitchFamily="34" charset="-120"/>
              </a:rPr>
              <a:t>• Acceso directo por índice: muy rápido</a:t>
            </a:r>
            <a:endParaRPr lang="en-US" sz="1450" dirty="0"/>
          </a:p>
          <a:p>
            <a:pPr marL="0" indent="0">
              <a:lnSpc>
                <a:spcPct val="130000"/>
              </a:lnSpc>
              <a:buNone/>
            </a:pPr>
            <a:endParaRPr lang="en-US" sz="1450" dirty="0"/>
          </a:p>
          <a:p>
            <a:pPr marL="0" indent="0">
              <a:lnSpc>
                <a:spcPct val="130000"/>
              </a:lnSpc>
              <a:buNone/>
            </a:pPr>
            <a:r>
              <a:rPr lang="en-US" sz="1450" dirty="0">
                <a:solidFill>
                  <a:srgbClr val="E8F5E9"/>
                </a:solidFill>
                <a:latin typeface="Calibri" pitchFamily="34" charset="0"/>
                <a:ea typeface="Calibri" pitchFamily="34" charset="-122"/>
                <a:cs typeface="Calibri" pitchFamily="34" charset="-120"/>
              </a:rPr>
              <a:t>• Simple de implementar y entender</a:t>
            </a:r>
            <a:endParaRPr lang="en-US" sz="1450" dirty="0"/>
          </a:p>
          <a:p>
            <a:pPr marL="0" indent="0">
              <a:lnSpc>
                <a:spcPct val="130000"/>
              </a:lnSpc>
              <a:buNone/>
            </a:pPr>
            <a:endParaRPr lang="en-US" sz="1450" dirty="0"/>
          </a:p>
          <a:p>
            <a:pPr marL="0" indent="0">
              <a:lnSpc>
                <a:spcPct val="130000"/>
              </a:lnSpc>
              <a:buNone/>
            </a:pPr>
            <a:r>
              <a:rPr lang="en-US" sz="1450" dirty="0">
                <a:solidFill>
                  <a:srgbClr val="E8F5E9"/>
                </a:solidFill>
                <a:latin typeface="Calibri" pitchFamily="34" charset="0"/>
                <a:ea typeface="Calibri" pitchFamily="34" charset="-122"/>
                <a:cs typeface="Calibri" pitchFamily="34" charset="-120"/>
              </a:rPr>
              <a:t>• Buena localidad de memoria (el array es contiguo, lo que ayuda al rendimiento real)</a:t>
            </a:r>
            <a:endParaRPr lang="en-US" sz="1450" dirty="0"/>
          </a:p>
        </p:txBody>
      </p:sp>
      <p:sp>
        <p:nvSpPr>
          <p:cNvPr id="7" name="Shape 5"/>
          <p:cNvSpPr/>
          <p:nvPr/>
        </p:nvSpPr>
        <p:spPr>
          <a:xfrm>
            <a:off x="6172200" y="1554480"/>
            <a:ext cx="5440680" cy="4206240"/>
          </a:xfrm>
          <a:prstGeom prst="roundRect">
            <a:avLst>
              <a:gd name="adj" fmla="val 2174"/>
            </a:avLst>
          </a:prstGeom>
          <a:solidFill>
            <a:srgbClr val="8B2E2E"/>
          </a:solidFill>
          <a:ln/>
        </p:spPr>
        <p:txBody>
          <a:bodyPr/>
          <a:lstStyle/>
          <a:p>
            <a:endParaRPr lang="es-AR"/>
          </a:p>
        </p:txBody>
      </p:sp>
      <p:sp>
        <p:nvSpPr>
          <p:cNvPr id="8" name="Text 6"/>
          <p:cNvSpPr/>
          <p:nvPr/>
        </p:nvSpPr>
        <p:spPr>
          <a:xfrm>
            <a:off x="6446520" y="1737360"/>
            <a:ext cx="484632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Limitaciones</a:t>
            </a:r>
            <a:endParaRPr lang="en-US" sz="2000" dirty="0"/>
          </a:p>
        </p:txBody>
      </p:sp>
      <p:sp>
        <p:nvSpPr>
          <p:cNvPr id="9" name="Text 7"/>
          <p:cNvSpPr/>
          <p:nvPr/>
        </p:nvSpPr>
        <p:spPr>
          <a:xfrm>
            <a:off x="6446520" y="2286000"/>
            <a:ext cx="4846320" cy="3200400"/>
          </a:xfrm>
          <a:prstGeom prst="rect">
            <a:avLst/>
          </a:prstGeom>
          <a:noFill/>
          <a:ln/>
        </p:spPr>
        <p:txBody>
          <a:bodyPr wrap="square" rtlCol="0" anchor="t"/>
          <a:lstStyle/>
          <a:p>
            <a:pPr marL="0" indent="0">
              <a:lnSpc>
                <a:spcPct val="130000"/>
              </a:lnSpc>
              <a:buNone/>
            </a:pPr>
            <a:r>
              <a:rPr lang="en-US" sz="1450" dirty="0">
                <a:solidFill>
                  <a:srgbClr val="FCE8E8"/>
                </a:solidFill>
                <a:latin typeface="Calibri" pitchFamily="34" charset="0"/>
                <a:ea typeface="Calibri" pitchFamily="34" charset="-122"/>
                <a:cs typeface="Calibri" pitchFamily="34" charset="-120"/>
              </a:rPr>
              <a:t>• Tamaño fijo: hay que estimarlo de antemano</a:t>
            </a:r>
            <a:endParaRPr lang="en-US" sz="1450" dirty="0"/>
          </a:p>
          <a:p>
            <a:pPr marL="0" indent="0">
              <a:lnSpc>
                <a:spcPct val="130000"/>
              </a:lnSpc>
              <a:buNone/>
            </a:pPr>
            <a:endParaRPr lang="en-US" sz="1450" dirty="0"/>
          </a:p>
          <a:p>
            <a:pPr marL="0" indent="0">
              <a:lnSpc>
                <a:spcPct val="130000"/>
              </a:lnSpc>
              <a:buNone/>
            </a:pPr>
            <a:r>
              <a:rPr lang="en-US" sz="1450" dirty="0">
                <a:solidFill>
                  <a:srgbClr val="FCE8E8"/>
                </a:solidFill>
                <a:latin typeface="Calibri" pitchFamily="34" charset="0"/>
                <a:ea typeface="Calibri" pitchFamily="34" charset="-122"/>
                <a:cs typeface="Calibri" pitchFamily="34" charset="-120"/>
              </a:rPr>
              <a:t>• Desperdicio de memoria si se reserva de más</a:t>
            </a:r>
            <a:endParaRPr lang="en-US" sz="1450" dirty="0"/>
          </a:p>
          <a:p>
            <a:pPr marL="0" indent="0">
              <a:lnSpc>
                <a:spcPct val="130000"/>
              </a:lnSpc>
              <a:buNone/>
            </a:pPr>
            <a:endParaRPr lang="en-US" sz="1450" dirty="0"/>
          </a:p>
          <a:p>
            <a:pPr marL="0" indent="0">
              <a:lnSpc>
                <a:spcPct val="130000"/>
              </a:lnSpc>
              <a:buNone/>
            </a:pPr>
            <a:r>
              <a:rPr lang="en-US" sz="1450" dirty="0">
                <a:solidFill>
                  <a:srgbClr val="FCE8E8"/>
                </a:solidFill>
                <a:latin typeface="Calibri" pitchFamily="34" charset="0"/>
                <a:ea typeface="Calibri" pitchFamily="34" charset="-122"/>
                <a:cs typeface="Calibri" pitchFamily="34" charset="-120"/>
              </a:rPr>
              <a:t>• Excepción/error si se necesita más espacio del reservado</a:t>
            </a:r>
            <a:endParaRPr lang="en-US" sz="1450" dirty="0"/>
          </a:p>
        </p:txBody>
      </p:sp>
      <p:sp>
        <p:nvSpPr>
          <p:cNvPr id="10" name="Text 8"/>
          <p:cNvSpPr/>
          <p:nvPr/>
        </p:nvSpPr>
        <p:spPr>
          <a:xfrm>
            <a:off x="457200" y="6537960"/>
            <a:ext cx="82296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1" name="Text 9"/>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13</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400" b="1" dirty="0">
                <a:solidFill>
                  <a:srgbClr val="1B2A6E"/>
                </a:solidFill>
                <a:latin typeface="Cambria" pitchFamily="34" charset="0"/>
                <a:ea typeface="Cambria" pitchFamily="34" charset="-122"/>
                <a:cs typeface="Cambria" pitchFamily="34" charset="-120"/>
              </a:rPr>
              <a:t>TDA Cola</a:t>
            </a:r>
            <a:endParaRPr lang="en-US" sz="3400" dirty="0"/>
          </a:p>
        </p:txBody>
      </p:sp>
      <p:sp>
        <p:nvSpPr>
          <p:cNvPr id="4" name="Shape 2"/>
          <p:cNvSpPr/>
          <p:nvPr/>
        </p:nvSpPr>
        <p:spPr>
          <a:xfrm>
            <a:off x="502920" y="1600200"/>
            <a:ext cx="685800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58952" y="1801368"/>
            <a:ext cx="6345936" cy="4251960"/>
          </a:xfrm>
          <a:prstGeom prst="rect">
            <a:avLst/>
          </a:prstGeom>
          <a:noFill/>
          <a:ln/>
        </p:spPr>
        <p:txBody>
          <a:bodyPr wrap="square" lIns="0" tIns="0" rIns="0" bIns="0" rtlCol="0" anchor="t"/>
          <a:lstStyle/>
          <a:p>
            <a:pPr marL="0" indent="0">
              <a:lnSpc>
                <a:spcPct val="108000"/>
              </a:lnSpc>
              <a:buNone/>
            </a:pPr>
            <a:r>
              <a:rPr lang="en-US" sz="1350" dirty="0">
                <a:solidFill>
                  <a:srgbClr val="1B1B1B"/>
                </a:solidFill>
                <a:latin typeface="Courier New" pitchFamily="34" charset="0"/>
                <a:ea typeface="Courier New" pitchFamily="34" charset="-122"/>
                <a:cs typeface="Courier New" pitchFamily="34" charset="-120"/>
              </a:rPr>
              <a:t>TDA Cola
Operaciones:
</a:t>
            </a:r>
            <a:r>
              <a:rPr lang="en-US" sz="1350" b="1" dirty="0">
                <a:solidFill>
                  <a:srgbClr val="1B1B1B"/>
                </a:solidFill>
                <a:latin typeface="Courier New" pitchFamily="34" charset="0"/>
                <a:ea typeface="Courier New" pitchFamily="34" charset="-122"/>
                <a:cs typeface="Courier New" pitchFamily="34" charset="-120"/>
              </a:rPr>
              <a:t>  crear</a:t>
            </a:r>
            <a:r>
              <a:rPr lang="en-US" sz="1350" dirty="0">
                <a:solidFill>
                  <a:srgbClr val="1B1B1B"/>
                </a:solidFill>
                <a:latin typeface="Courier New" pitchFamily="34" charset="0"/>
                <a:ea typeface="Courier New" pitchFamily="34" charset="-122"/>
                <a:cs typeface="Courier New" pitchFamily="34" charset="-120"/>
              </a:rPr>
              <a:t>() -&gt; Cola
    post: devuelve una cola vacia
</a:t>
            </a:r>
            <a:r>
              <a:rPr lang="en-US" sz="1350" b="1" dirty="0">
                <a:solidFill>
                  <a:srgbClr val="1B1B1B"/>
                </a:solidFill>
                <a:latin typeface="Courier New" pitchFamily="34" charset="0"/>
                <a:ea typeface="Courier New" pitchFamily="34" charset="-122"/>
                <a:cs typeface="Courier New" pitchFamily="34" charset="-120"/>
              </a:rPr>
              <a:t>  encolar</a:t>
            </a:r>
            <a:r>
              <a:rPr lang="en-US" sz="1350" dirty="0">
                <a:solidFill>
                  <a:srgbClr val="1B1B1B"/>
                </a:solidFill>
                <a:latin typeface="Courier New" pitchFamily="34" charset="0"/>
                <a:ea typeface="Courier New" pitchFamily="34" charset="-122"/>
                <a:cs typeface="Courier New" pitchFamily="34" charset="-120"/>
              </a:rPr>
              <a:t>(c: Cola, x: elemento) -&gt; Cola
    post: x queda al final de c
</a:t>
            </a:r>
            <a:r>
              <a:rPr lang="en-US" sz="1350" b="1" dirty="0">
                <a:solidFill>
                  <a:srgbClr val="1B1B1B"/>
                </a:solidFill>
                <a:latin typeface="Courier New" pitchFamily="34" charset="0"/>
                <a:ea typeface="Courier New" pitchFamily="34" charset="-122"/>
                <a:cs typeface="Courier New" pitchFamily="34" charset="-120"/>
              </a:rPr>
              <a:t>  desencolar</a:t>
            </a:r>
            <a:r>
              <a:rPr lang="en-US" sz="1350" dirty="0">
                <a:solidFill>
                  <a:srgbClr val="1B1B1B"/>
                </a:solidFill>
                <a:latin typeface="Courier New" pitchFamily="34" charset="0"/>
                <a:ea typeface="Courier New" pitchFamily="34" charset="-122"/>
                <a:cs typeface="Courier New" pitchFamily="34" charset="-120"/>
              </a:rPr>
              <a:t>(c: Cola) -&gt; Cola
    pre:  c no esta vacia
    post: se elimina el elemento del frente de c
</a:t>
            </a:r>
            <a:r>
              <a:rPr lang="en-US" sz="1350" b="1" dirty="0">
                <a:solidFill>
                  <a:srgbClr val="1B1B1B"/>
                </a:solidFill>
                <a:latin typeface="Courier New" pitchFamily="34" charset="0"/>
                <a:ea typeface="Courier New" pitchFamily="34" charset="-122"/>
                <a:cs typeface="Courier New" pitchFamily="34" charset="-120"/>
              </a:rPr>
              <a:t>  primero</a:t>
            </a:r>
            <a:r>
              <a:rPr lang="en-US" sz="1350" dirty="0">
                <a:solidFill>
                  <a:srgbClr val="1B1B1B"/>
                </a:solidFill>
                <a:latin typeface="Courier New" pitchFamily="34" charset="0"/>
                <a:ea typeface="Courier New" pitchFamily="34" charset="-122"/>
                <a:cs typeface="Courier New" pitchFamily="34" charset="-120"/>
              </a:rPr>
              <a:t>(c: Cola) -&gt; elemento
    pre:  c no esta vacia
    post: devuelve el elemento del frente sin eliminarlo
</a:t>
            </a:r>
            <a:r>
              <a:rPr lang="en-US" sz="1350" b="1" dirty="0">
                <a:solidFill>
                  <a:srgbClr val="1B1B1B"/>
                </a:solidFill>
                <a:latin typeface="Courier New" pitchFamily="34" charset="0"/>
                <a:ea typeface="Courier New" pitchFamily="34" charset="-122"/>
                <a:cs typeface="Courier New" pitchFamily="34" charset="-120"/>
              </a:rPr>
              <a:t>  esVacia</a:t>
            </a:r>
            <a:r>
              <a:rPr lang="en-US" sz="1350" dirty="0">
                <a:solidFill>
                  <a:srgbClr val="1B1B1B"/>
                </a:solidFill>
                <a:latin typeface="Courier New" pitchFamily="34" charset="0"/>
                <a:ea typeface="Courier New" pitchFamily="34" charset="-122"/>
                <a:cs typeface="Courier New" pitchFamily="34" charset="-120"/>
              </a:rPr>
              <a:t>(c: Cola) -&gt; boolean
    post: devuelve true si c no tiene elementos
</a:t>
            </a:r>
            <a:r>
              <a:rPr lang="en-US" sz="1350" b="1" dirty="0">
                <a:solidFill>
                  <a:srgbClr val="1B1B1B"/>
                </a:solidFill>
                <a:latin typeface="Courier New" pitchFamily="34" charset="0"/>
                <a:ea typeface="Courier New" pitchFamily="34" charset="-122"/>
                <a:cs typeface="Courier New" pitchFamily="34" charset="-120"/>
              </a:rPr>
              <a:t>  esLlena</a:t>
            </a:r>
            <a:r>
              <a:rPr lang="en-US" sz="1350" dirty="0">
                <a:solidFill>
                  <a:srgbClr val="1B1B1B"/>
                </a:solidFill>
                <a:latin typeface="Courier New" pitchFamily="34" charset="0"/>
                <a:ea typeface="Courier New" pitchFamily="34" charset="-122"/>
                <a:cs typeface="Courier New" pitchFamily="34" charset="-120"/>
              </a:rPr>
              <a:t>(c: Cola) -&gt; boolean
    post: devuelve true si c alcanzo su capacidad maxima</a:t>
            </a:r>
            <a:endParaRPr lang="en-US" sz="1350" dirty="0"/>
          </a:p>
        </p:txBody>
      </p:sp>
      <p:sp>
        <p:nvSpPr>
          <p:cNvPr id="6" name="Shape 4"/>
          <p:cNvSpPr/>
          <p:nvPr/>
        </p:nvSpPr>
        <p:spPr>
          <a:xfrm>
            <a:off x="7635240" y="1600200"/>
            <a:ext cx="4053535" cy="4617720"/>
          </a:xfrm>
          <a:prstGeom prst="roundRect">
            <a:avLst>
              <a:gd name="adj" fmla="val 1805"/>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p:cNvSpPr txBox="1"/>
          <p:nvPr/>
        </p:nvSpPr>
        <p:spPr>
          <a:xfrm>
            <a:off x="7927848" y="1837944"/>
            <a:ext cx="3468319" cy="365760"/>
          </a:xfrm>
          <a:prstGeom prst="rect">
            <a:avLst/>
          </a:prstGeom>
          <a:noFill/>
          <a:ln/>
        </p:spPr>
        <p:txBody>
          <a:bodyPr wrap="square" lIns="0" tIns="0" rIns="0" bIns="0" rtlCol="0" anchor="t"/>
          <a:lstStyle/>
          <a:p>
            <a:pPr marL="0" indent="0">
              <a:lnSpc>
                <a:spcPct val="115000"/>
              </a:lnSpc>
              <a:buNone/>
            </a:pPr>
            <a:r>
              <a:rPr lang="en-US" sz="1500" b="1" dirty="0">
                <a:solidFill>
                  <a:srgbClr val="1B1B1B"/>
                </a:solidFill>
                <a:latin typeface="Arial" pitchFamily="34" charset="0"/>
                <a:ea typeface="Arial" pitchFamily="34" charset="-122"/>
                <a:cs typeface="Arial" pitchFamily="34" charset="-120"/>
              </a:rPr>
              <a:t>Detalle</a:t>
            </a:r>
            <a:endParaRPr lang="en-US" sz="1500" dirty="0"/>
          </a:p>
        </p:txBody>
      </p:sp>
      <p:sp>
        <p:nvSpPr>
          <p:cNvPr id="8" name="Text 6"/>
          <p:cNvSpPr txBox="1"/>
          <p:nvPr/>
        </p:nvSpPr>
        <p:spPr>
          <a:xfrm>
            <a:off x="7927848" y="2313432"/>
            <a:ext cx="3468319" cy="3703320"/>
          </a:xfrm>
          <a:prstGeom prst="rect">
            <a:avLst/>
          </a:prstGeom>
          <a:noFill/>
          <a:ln/>
        </p:spPr>
        <p:txBody>
          <a:bodyPr wrap="square" lIns="0" tIns="0" rIns="0" bIns="0" rtlCol="0" anchor="t"/>
          <a:lstStyle/>
          <a:p>
            <a:pPr marL="0" indent="0">
              <a:lnSpc>
                <a:spcPct val="115000"/>
              </a:lnSpc>
              <a:buNone/>
            </a:pPr>
            <a:r>
              <a:rPr lang="en-US" sz="1300" b="1" dirty="0">
                <a:solidFill>
                  <a:srgbClr val="1B1B1B"/>
                </a:solidFill>
                <a:latin typeface="Arial" pitchFamily="34" charset="0"/>
                <a:ea typeface="Arial" pitchFamily="34" charset="-122"/>
                <a:cs typeface="Arial" pitchFamily="34" charset="-120"/>
              </a:rPr>
              <a:t>Dominio: Cola = </a:t>
            </a:r>
            <a:r>
              <a:rPr lang="en-US" sz="1300" dirty="0">
                <a:solidFill>
                  <a:srgbClr val="1B1B1B"/>
                </a:solidFill>
                <a:latin typeface="Arial" pitchFamily="34" charset="0"/>
                <a:ea typeface="Arial" pitchFamily="34" charset="-122"/>
                <a:cs typeface="Arial" pitchFamily="34" charset="-120"/>
              </a:rPr>
              <a:t>Secuencia finita y ordenada de elementos, donde el primero en entrar es el primero en salir (FIFO).
</a:t>
            </a:r>
            <a:r>
              <a:rPr lang="en-US" sz="1300" b="1" dirty="0">
                <a:solidFill>
                  <a:srgbClr val="1B1B1B"/>
                </a:solidFill>
                <a:latin typeface="Arial" pitchFamily="34" charset="0"/>
                <a:ea typeface="Arial" pitchFamily="34" charset="-122"/>
                <a:cs typeface="Arial" pitchFamily="34" charset="-120"/>
              </a:rPr>
              <a:t>encolar: </a:t>
            </a:r>
            <a:r>
              <a:rPr lang="en-US" sz="1300" dirty="0">
                <a:solidFill>
                  <a:srgbClr val="1B1B1B"/>
                </a:solidFill>
                <a:latin typeface="Arial" pitchFamily="34" charset="0"/>
                <a:ea typeface="Arial" pitchFamily="34" charset="-122"/>
                <a:cs typeface="Arial" pitchFamily="34" charset="-120"/>
              </a:rPr>
              <a:t>“agregar x lo pone al final, detrás de todos los que ya esperan”
</a:t>
            </a:r>
            <a:r>
              <a:rPr lang="en-US" sz="1300" b="1" dirty="0">
                <a:solidFill>
                  <a:srgbClr val="1B1B1B"/>
                </a:solidFill>
                <a:latin typeface="Arial" pitchFamily="34" charset="0"/>
                <a:ea typeface="Arial" pitchFamily="34" charset="-122"/>
                <a:cs typeface="Arial" pitchFamily="34" charset="-120"/>
              </a:rPr>
              <a:t>desencolar: </a:t>
            </a:r>
            <a:r>
              <a:rPr lang="en-US" sz="1300" dirty="0">
                <a:solidFill>
                  <a:srgbClr val="1B1B1B"/>
                </a:solidFill>
                <a:latin typeface="Arial" pitchFamily="34" charset="0"/>
                <a:ea typeface="Arial" pitchFamily="34" charset="-122"/>
                <a:cs typeface="Arial" pitchFamily="34" charset="-120"/>
              </a:rPr>
              <a:t>“solo tiene sentido si hay algo para sacar” → de ahí la precondición
</a:t>
            </a:r>
            <a:r>
              <a:rPr lang="en-US" sz="1300" b="1" dirty="0">
                <a:solidFill>
                  <a:srgbClr val="1B1B1B"/>
                </a:solidFill>
                <a:latin typeface="Arial" pitchFamily="34" charset="0"/>
                <a:ea typeface="Arial" pitchFamily="34" charset="-122"/>
                <a:cs typeface="Arial" pitchFamily="34" charset="-120"/>
              </a:rPr>
              <a:t>primero: </a:t>
            </a:r>
            <a:r>
              <a:rPr lang="en-US" sz="1300" dirty="0">
                <a:solidFill>
                  <a:srgbClr val="1B1B1B"/>
                </a:solidFill>
                <a:latin typeface="Arial" pitchFamily="34" charset="0"/>
                <a:ea typeface="Arial" pitchFamily="34" charset="-122"/>
                <a:cs typeface="Arial" pitchFamily="34" charset="-120"/>
              </a:rPr>
              <a:t>“mirar sin sacar” — no modifica la cola</a:t>
            </a:r>
            <a:endParaRPr lang="en-US" sz="1300" dirty="0"/>
          </a:p>
        </p:txBody>
      </p:sp>
      <p:sp>
        <p:nvSpPr>
          <p:cNvPr id="9" name="Text 7"/>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0" name="Text 8"/>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D9CA2-D53F-0EBD-4CAE-7B742AF408F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54D878A-9A33-3AE0-C951-997A45C2F763}"/>
              </a:ext>
            </a:extLst>
          </p:cNvPr>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13</a:t>
            </a:r>
            <a:endParaRPr lang="en-US" sz="1200" dirty="0"/>
          </a:p>
        </p:txBody>
      </p:sp>
      <p:sp>
        <p:nvSpPr>
          <p:cNvPr id="3" name="Text 1">
            <a:extLst>
              <a:ext uri="{FF2B5EF4-FFF2-40B4-BE49-F238E27FC236}">
                <a16:creationId xmlns:a16="http://schemas.microsoft.com/office/drawing/2014/main" id="{4AA8214B-B12E-7FE3-C13A-FC5A08B61318}"/>
              </a:ext>
            </a:extLst>
          </p:cNvPr>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400" b="1" dirty="0">
                <a:solidFill>
                  <a:srgbClr val="1B2A6E"/>
                </a:solidFill>
                <a:latin typeface="Cambria" pitchFamily="34" charset="0"/>
                <a:ea typeface="Cambria" pitchFamily="34" charset="-122"/>
                <a:cs typeface="Cambria" pitchFamily="34" charset="-120"/>
              </a:rPr>
              <a:t>Cola</a:t>
            </a:r>
            <a:endParaRPr lang="en-US" sz="3400" dirty="0"/>
          </a:p>
        </p:txBody>
      </p:sp>
      <p:sp>
        <p:nvSpPr>
          <p:cNvPr id="9" name="Text 7">
            <a:extLst>
              <a:ext uri="{FF2B5EF4-FFF2-40B4-BE49-F238E27FC236}">
                <a16:creationId xmlns:a16="http://schemas.microsoft.com/office/drawing/2014/main" id="{077047F3-77E0-E01F-468E-E888E341BA6D}"/>
              </a:ext>
            </a:extLst>
          </p:cNvPr>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0" name="Text 8">
            <a:extLst>
              <a:ext uri="{FF2B5EF4-FFF2-40B4-BE49-F238E27FC236}">
                <a16:creationId xmlns:a16="http://schemas.microsoft.com/office/drawing/2014/main" id="{97DFCE19-A058-0DD4-2A06-05197D830ACB}"/>
              </a:ext>
            </a:extLst>
          </p:cNvPr>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24</a:t>
            </a:r>
            <a:endParaRPr lang="en-US" sz="1100" dirty="0"/>
          </a:p>
        </p:txBody>
      </p:sp>
      <p:pic>
        <p:nvPicPr>
          <p:cNvPr id="11" name="cola primero inicio">
            <a:hlinkClick r:id="" action="ppaction://media"/>
            <a:extLst>
              <a:ext uri="{FF2B5EF4-FFF2-40B4-BE49-F238E27FC236}">
                <a16:creationId xmlns:a16="http://schemas.microsoft.com/office/drawing/2014/main" id="{327A2705-F6FC-586B-3DF1-575EA154F47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466586" y="1074970"/>
            <a:ext cx="9002012" cy="5063632"/>
          </a:xfrm>
          <a:prstGeom prst="rect">
            <a:avLst/>
          </a:prstGeom>
        </p:spPr>
      </p:pic>
    </p:spTree>
    <p:extLst>
      <p:ext uri="{BB962C8B-B14F-4D97-AF65-F5344CB8AC3E}">
        <p14:creationId xmlns:p14="http://schemas.microsoft.com/office/powerpoint/2010/main" val="46086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04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13</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000" b="1" dirty="0">
                <a:solidFill>
                  <a:srgbClr val="1B2A6E"/>
                </a:solidFill>
                <a:latin typeface="Cambria" pitchFamily="34" charset="0"/>
                <a:ea typeface="Cambria" pitchFamily="34" charset="-122"/>
                <a:cs typeface="Cambria" pitchFamily="34" charset="-120"/>
              </a:rPr>
              <a:t>¿Por qué "cola estática"?</a:t>
            </a:r>
            <a:endParaRPr lang="en-US" sz="3000" dirty="0"/>
          </a:p>
        </p:txBody>
      </p:sp>
      <p:sp>
        <p:nvSpPr>
          <p:cNvPr id="4" name="Shape 2"/>
          <p:cNvSpPr/>
          <p:nvPr/>
        </p:nvSpPr>
        <p:spPr>
          <a:xfrm>
            <a:off x="502920" y="1600200"/>
            <a:ext cx="612648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95528" y="1874520"/>
            <a:ext cx="5541264" cy="1463040"/>
          </a:xfrm>
          <a:prstGeom prst="rect">
            <a:avLst/>
          </a:prstGeom>
          <a:noFill/>
          <a:ln/>
        </p:spPr>
        <p:txBody>
          <a:bodyPr wrap="square" lIns="0" tIns="0" rIns="0" bIns="0" rtlCol="0" anchor="t"/>
          <a:lstStyle/>
          <a:p>
            <a:pPr marL="0" indent="0">
              <a:lnSpc>
                <a:spcPct val="115000"/>
              </a:lnSpc>
              <a:buNone/>
            </a:pPr>
            <a:r>
              <a:rPr lang="en-US" sz="1400" dirty="0">
                <a:solidFill>
                  <a:srgbClr val="1B1B1B"/>
                </a:solidFill>
                <a:latin typeface="Arial" pitchFamily="34" charset="0"/>
                <a:ea typeface="Arial" pitchFamily="34" charset="-122"/>
                <a:cs typeface="Arial" pitchFamily="34" charset="-120"/>
              </a:rPr>
              <a:t>Se llama cola estática porque usa una estructura de tamaño FIJO, definido en el momento de crear el TDA — típicamente un array.</a:t>
            </a:r>
            <a:endParaRPr lang="en-US" sz="1400" dirty="0"/>
          </a:p>
        </p:txBody>
      </p:sp>
      <p:sp>
        <p:nvSpPr>
          <p:cNvPr id="6" name="Shape 4"/>
          <p:cNvSpPr/>
          <p:nvPr/>
        </p:nvSpPr>
        <p:spPr>
          <a:xfrm>
            <a:off x="795528" y="3154680"/>
            <a:ext cx="5541264" cy="2377440"/>
          </a:xfrm>
          <a:prstGeom prst="roundRect">
            <a:avLst>
              <a:gd name="adj" fmla="val 2308"/>
            </a:avLst>
          </a:prstGeom>
          <a:solidFill>
            <a:srgbClr val="FFFFFF"/>
          </a:solidFill>
          <a:ln w="12700">
            <a:solidFill>
              <a:srgbClr val="D7DCEE"/>
            </a:solidFill>
            <a:prstDash val="solid"/>
          </a:ln>
        </p:spPr>
        <p:txBody>
          <a:bodyPr/>
          <a:lstStyle/>
          <a:p>
            <a:endParaRPr lang="es-AR"/>
          </a:p>
        </p:txBody>
      </p:sp>
      <p:sp>
        <p:nvSpPr>
          <p:cNvPr id="7" name="Text 5"/>
          <p:cNvSpPr txBox="1"/>
          <p:nvPr/>
        </p:nvSpPr>
        <p:spPr>
          <a:xfrm>
            <a:off x="1024128" y="3383280"/>
            <a:ext cx="5084064" cy="1920240"/>
          </a:xfrm>
          <a:prstGeom prst="rect">
            <a:avLst/>
          </a:prstGeom>
          <a:noFill/>
          <a:ln/>
        </p:spPr>
        <p:txBody>
          <a:bodyPr wrap="square" lIns="0" tIns="0" rIns="0" bIns="0" rtlCol="0" anchor="t"/>
          <a:lstStyle/>
          <a:p>
            <a:pPr marL="0" indent="0">
              <a:lnSpc>
                <a:spcPct val="108000"/>
              </a:lnSpc>
              <a:buNone/>
            </a:pPr>
            <a:r>
              <a:rPr lang="en-US" sz="1300" dirty="0">
                <a:solidFill>
                  <a:srgbClr val="1B1B1B"/>
                </a:solidFill>
                <a:latin typeface="Courier New" pitchFamily="34" charset="0"/>
                <a:ea typeface="Courier New" pitchFamily="34" charset="-122"/>
                <a:cs typeface="Courier New" pitchFamily="34" charset="-120"/>
              </a:rPr>
              <a:t>ColaEstatica c = new ColaEstatica(50);
// la capacidad (50) queda fija
// para toda la vida del objeto</a:t>
            </a:r>
            <a:endParaRPr lang="en-US" sz="1300" dirty="0"/>
          </a:p>
        </p:txBody>
      </p:sp>
      <p:sp>
        <p:nvSpPr>
          <p:cNvPr id="8" name="Shape 6"/>
          <p:cNvSpPr/>
          <p:nvPr/>
        </p:nvSpPr>
        <p:spPr>
          <a:xfrm>
            <a:off x="6903720" y="1600200"/>
            <a:ext cx="4785055" cy="4617720"/>
          </a:xfrm>
          <a:prstGeom prst="roundRect">
            <a:avLst>
              <a:gd name="adj" fmla="val 1584"/>
            </a:avLst>
          </a:prstGeom>
          <a:solidFill>
            <a:srgbClr val="1B2A6E"/>
          </a:solidFill>
          <a:ln w="12700">
            <a:solidFill>
              <a:srgbClr val="1B2A6E"/>
            </a:solidFill>
            <a:prstDash val="solid"/>
          </a:ln>
          <a:effectLst>
            <a:outerShdw blurRad="76200" dist="25400" dir="5400000" algn="bl" rotWithShape="0">
              <a:srgbClr val="9AA3C7">
                <a:alpha val="25000"/>
              </a:srgbClr>
            </a:outerShdw>
          </a:effectLst>
        </p:spPr>
        <p:txBody>
          <a:bodyPr/>
          <a:lstStyle/>
          <a:p>
            <a:endParaRPr lang="es-AR"/>
          </a:p>
        </p:txBody>
      </p:sp>
      <p:sp>
        <p:nvSpPr>
          <p:cNvPr id="9" name="Text 7"/>
          <p:cNvSpPr txBox="1"/>
          <p:nvPr/>
        </p:nvSpPr>
        <p:spPr>
          <a:xfrm>
            <a:off x="7196328" y="1856232"/>
            <a:ext cx="4199839" cy="640080"/>
          </a:xfrm>
          <a:prstGeom prst="rect">
            <a:avLst/>
          </a:prstGeom>
          <a:noFill/>
          <a:ln/>
        </p:spPr>
        <p:txBody>
          <a:bodyPr wrap="square" lIns="0" tIns="0" rIns="0" bIns="0" rtlCol="0" anchor="t"/>
          <a:lstStyle/>
          <a:p>
            <a:pPr marL="0" indent="0">
              <a:lnSpc>
                <a:spcPct val="115000"/>
              </a:lnSpc>
              <a:buNone/>
            </a:pPr>
            <a:r>
              <a:rPr lang="en-US" sz="1400" b="1" dirty="0">
                <a:solidFill>
                  <a:srgbClr val="C9821E"/>
                </a:solidFill>
                <a:latin typeface="Arial" pitchFamily="34" charset="0"/>
                <a:ea typeface="Arial" pitchFamily="34" charset="-122"/>
                <a:cs typeface="Arial" pitchFamily="34" charset="-120"/>
              </a:rPr>
              <a:t>Elementos típicos de una implementación estática</a:t>
            </a:r>
            <a:endParaRPr lang="en-US" sz="1400" dirty="0"/>
          </a:p>
        </p:txBody>
      </p:sp>
      <p:sp>
        <p:nvSpPr>
          <p:cNvPr id="10" name="Text 8"/>
          <p:cNvSpPr txBox="1"/>
          <p:nvPr/>
        </p:nvSpPr>
        <p:spPr>
          <a:xfrm>
            <a:off x="7196328" y="2560320"/>
            <a:ext cx="4199839" cy="3429000"/>
          </a:xfrm>
          <a:prstGeom prst="rect">
            <a:avLst/>
          </a:prstGeom>
          <a:noFill/>
          <a:ln/>
        </p:spPr>
        <p:txBody>
          <a:bodyPr wrap="square" lIns="0" tIns="0" rIns="0" bIns="0" rtlCol="0" anchor="t"/>
          <a:lstStyle/>
          <a:p>
            <a:pPr marL="0" indent="0">
              <a:lnSpc>
                <a:spcPct val="115000"/>
              </a:lnSpc>
              <a:buNone/>
            </a:pPr>
            <a:r>
              <a:rPr lang="en-US" sz="1400" dirty="0">
                <a:solidFill>
                  <a:srgbClr val="FFFFFF"/>
                </a:solidFill>
                <a:latin typeface="Arial" pitchFamily="34" charset="0"/>
                <a:ea typeface="Arial" pitchFamily="34" charset="-122"/>
                <a:cs typeface="Arial" pitchFamily="34" charset="-120"/>
              </a:rPr>
              <a:t>• Un array que guarda los elementos
• Un índice para el frente y un contador de cuántos elementos hay
• Un valor fijo de capacidad máxima</a:t>
            </a:r>
            <a:endParaRPr lang="en-US" sz="1400" dirty="0"/>
          </a:p>
        </p:txBody>
      </p:sp>
      <p:sp>
        <p:nvSpPr>
          <p:cNvPr id="11" name="Text 9"/>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2" name="Text 10"/>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13</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2200" b="1" dirty="0">
                <a:solidFill>
                  <a:srgbClr val="1B2A6E"/>
                </a:solidFill>
                <a:latin typeface="Cambria" pitchFamily="34" charset="0"/>
                <a:ea typeface="Cambria" pitchFamily="34" charset="-122"/>
                <a:cs typeface="Cambria" pitchFamily="34" charset="-120"/>
              </a:rPr>
              <a:t>Estructura general de la clase (COLA - ARREGLO ESTÁTICO)</a:t>
            </a:r>
            <a:endParaRPr lang="en-US" sz="2200" dirty="0"/>
          </a:p>
        </p:txBody>
      </p:sp>
      <p:sp>
        <p:nvSpPr>
          <p:cNvPr id="4" name="Shape 2"/>
          <p:cNvSpPr/>
          <p:nvPr/>
        </p:nvSpPr>
        <p:spPr>
          <a:xfrm>
            <a:off x="502920" y="1600200"/>
            <a:ext cx="11185855" cy="4297680"/>
          </a:xfrm>
          <a:prstGeom prst="roundRect">
            <a:avLst>
              <a:gd name="adj" fmla="val 1702"/>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95528" y="1856232"/>
            <a:ext cx="10600639" cy="3840480"/>
          </a:xfrm>
          <a:prstGeom prst="rect">
            <a:avLst/>
          </a:prstGeom>
          <a:noFill/>
          <a:ln/>
        </p:spPr>
        <p:txBody>
          <a:bodyPr wrap="square" lIns="0" tIns="0" rIns="0" bIns="0" rtlCol="0" anchor="t"/>
          <a:lstStyle/>
          <a:p>
            <a:pPr marL="0" indent="0">
              <a:lnSpc>
                <a:spcPct val="108000"/>
              </a:lnSpc>
              <a:buNone/>
            </a:pPr>
            <a:r>
              <a:rPr lang="en-US" sz="1400" dirty="0">
                <a:solidFill>
                  <a:srgbClr val="1B1B1B"/>
                </a:solidFill>
                <a:latin typeface="Courier New" pitchFamily="34" charset="0"/>
                <a:ea typeface="Courier New" pitchFamily="34" charset="-122"/>
                <a:cs typeface="Courier New" pitchFamily="34" charset="-120"/>
              </a:rPr>
              <a:t>public class ColaEstatica {
    private TipoDato[] datos;   // el array
    private int frente;         // indice del primer elemento
    private int cantidad;       // cuantos elementos hay
    private int capacidad;      // tamano maximo
    public ColaEstatica(int capacidad) {
        this.capacidad = capacidad;
        this.datos = new TipoDato[capacidad];
        this.frente = 0;
        this.cantidad = 0;
    }
    // ... una operacion de la especificacion
    // = un metodo publico aca abajo
}</a:t>
            </a:r>
            <a:endParaRPr lang="en-US" sz="1400" dirty="0"/>
          </a:p>
        </p:txBody>
      </p:sp>
      <p:sp>
        <p:nvSpPr>
          <p:cNvPr id="6" name="Text 4"/>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7" name="Text 5"/>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14</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2200" b="1" dirty="0">
                <a:solidFill>
                  <a:srgbClr val="1B2A6E"/>
                </a:solidFill>
                <a:latin typeface="Cambria" pitchFamily="34" charset="0"/>
                <a:ea typeface="Cambria" pitchFamily="34" charset="-122"/>
                <a:cs typeface="Cambria" pitchFamily="34" charset="-120"/>
              </a:rPr>
              <a:t>Atributos y constructor (COLA - ARREGLO ESTÁTICO)</a:t>
            </a:r>
            <a:endParaRPr lang="en-US" sz="2200" dirty="0"/>
          </a:p>
        </p:txBody>
      </p:sp>
      <p:sp>
        <p:nvSpPr>
          <p:cNvPr id="4" name="Shape 2"/>
          <p:cNvSpPr/>
          <p:nvPr/>
        </p:nvSpPr>
        <p:spPr>
          <a:xfrm>
            <a:off x="502920" y="1600200"/>
            <a:ext cx="640080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58952" y="1819656"/>
            <a:ext cx="5888736" cy="4251960"/>
          </a:xfrm>
          <a:prstGeom prst="rect">
            <a:avLst/>
          </a:prstGeom>
          <a:noFill/>
          <a:ln/>
        </p:spPr>
        <p:txBody>
          <a:bodyPr wrap="square" lIns="0" tIns="0" rIns="0" bIns="0" rtlCol="0" anchor="t"/>
          <a:lstStyle/>
          <a:p>
            <a:pPr marL="0" indent="0">
              <a:lnSpc>
                <a:spcPct val="108000"/>
              </a:lnSpc>
              <a:buNone/>
            </a:pPr>
            <a:r>
              <a:rPr lang="en-US" sz="1350" dirty="0">
                <a:solidFill>
                  <a:srgbClr val="1B1B1B"/>
                </a:solidFill>
                <a:latin typeface="Courier New" pitchFamily="34" charset="0"/>
                <a:ea typeface="Courier New" pitchFamily="34" charset="-122"/>
                <a:cs typeface="Courier New" pitchFamily="34" charset="-120"/>
              </a:rPr>
              <a:t>public class ColaEstatica {
    private int[] datos;
    private int frente;     // indice del primer elemento
    private int cantidad;   // cuantos elementos hay
    private int capacidad;
    public ColaEstatica(int capacidad) {
        this.capacidad = capacidad;
        this.datos = new int[capacidad];
        this.frente = 0;
        this.cantidad = 0;
    }
}</a:t>
            </a:r>
            <a:endParaRPr lang="en-US" sz="1350" dirty="0"/>
          </a:p>
        </p:txBody>
      </p:sp>
      <p:sp>
        <p:nvSpPr>
          <p:cNvPr id="6" name="Text 4"/>
          <p:cNvSpPr txBox="1"/>
          <p:nvPr/>
        </p:nvSpPr>
        <p:spPr>
          <a:xfrm>
            <a:off x="7178040" y="1618488"/>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¿Por qué frente = 0 al inicio?</a:t>
            </a:r>
            <a:endParaRPr lang="en-US" sz="1400" dirty="0"/>
          </a:p>
        </p:txBody>
      </p:sp>
      <p:sp>
        <p:nvSpPr>
          <p:cNvPr id="7" name="Text 5"/>
          <p:cNvSpPr txBox="1"/>
          <p:nvPr/>
        </p:nvSpPr>
        <p:spPr>
          <a:xfrm>
            <a:off x="7178040" y="2057400"/>
            <a:ext cx="4510735" cy="146304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frente indica en qué posición del array está el primer elemento de la cola. Al crear la cola, no hay elementos: frente = 0 (apunta a la posición donde entrará el próximo).</a:t>
            </a:r>
            <a:endParaRPr lang="en-US" sz="1300" dirty="0"/>
          </a:p>
        </p:txBody>
      </p:sp>
      <p:sp>
        <p:nvSpPr>
          <p:cNvPr id="8" name="Text 6"/>
          <p:cNvSpPr txBox="1"/>
          <p:nvPr/>
        </p:nvSpPr>
        <p:spPr>
          <a:xfrm>
            <a:off x="7178040" y="3931920"/>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Corresponde a crear()</a:t>
            </a:r>
            <a:endParaRPr lang="en-US" sz="1400" dirty="0"/>
          </a:p>
        </p:txBody>
      </p:sp>
      <p:sp>
        <p:nvSpPr>
          <p:cNvPr id="9" name="Text 7"/>
          <p:cNvSpPr txBox="1"/>
          <p:nvPr/>
        </p:nvSpPr>
        <p:spPr>
          <a:xfrm>
            <a:off x="7178040" y="4370832"/>
            <a:ext cx="4510735" cy="128016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El constructor es la traducción directa de la operación crear() → Cola de la especificación de la Clase 1.</a:t>
            </a:r>
            <a:endParaRPr lang="en-US" sz="1300" dirty="0"/>
          </a:p>
        </p:txBody>
      </p:sp>
      <p:sp>
        <p:nvSpPr>
          <p:cNvPr id="10" name="Text 8"/>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1" name="Text 9"/>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14</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1900" b="1" dirty="0">
                <a:solidFill>
                  <a:srgbClr val="1B2A6E"/>
                </a:solidFill>
                <a:latin typeface="Cambria" pitchFamily="34" charset="0"/>
                <a:ea typeface="Cambria" pitchFamily="34" charset="-122"/>
                <a:cs typeface="Cambria" pitchFamily="34" charset="-120"/>
              </a:rPr>
              <a:t>Operaciones de consulta: esVacia, esLlena (COLA - ARREGLO ESTÁTICO)</a:t>
            </a:r>
            <a:endParaRPr lang="en-US" sz="1900" dirty="0"/>
          </a:p>
        </p:txBody>
      </p:sp>
      <p:sp>
        <p:nvSpPr>
          <p:cNvPr id="4" name="Shape 2"/>
          <p:cNvSpPr/>
          <p:nvPr/>
        </p:nvSpPr>
        <p:spPr>
          <a:xfrm>
            <a:off x="502920" y="1508760"/>
            <a:ext cx="6400800" cy="1783080"/>
          </a:xfrm>
          <a:prstGeom prst="roundRect">
            <a:avLst>
              <a:gd name="adj" fmla="val 4103"/>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58952" y="1709928"/>
            <a:ext cx="5888736" cy="1417320"/>
          </a:xfrm>
          <a:prstGeom prst="rect">
            <a:avLst/>
          </a:prstGeom>
          <a:noFill/>
          <a:ln/>
        </p:spPr>
        <p:txBody>
          <a:bodyPr wrap="square" lIns="0" tIns="0" rIns="0" bIns="0" rtlCol="0" anchor="t"/>
          <a:lstStyle/>
          <a:p>
            <a:pPr marL="0" indent="0">
              <a:lnSpc>
                <a:spcPct val="108000"/>
              </a:lnSpc>
              <a:buNone/>
            </a:pPr>
            <a:r>
              <a:rPr lang="en-US" sz="1300" dirty="0">
                <a:solidFill>
                  <a:srgbClr val="1B1B1B"/>
                </a:solidFill>
                <a:latin typeface="Courier New" pitchFamily="34" charset="0"/>
                <a:ea typeface="Courier New" pitchFamily="34" charset="-122"/>
                <a:cs typeface="Courier New" pitchFamily="34" charset="-120"/>
              </a:rPr>
              <a:t>public boolean esVacia() {
    return cantidad == 0;
}
public boolean esLlena() {
    return frente + cantidad == capacidad;
}</a:t>
            </a:r>
            <a:endParaRPr lang="en-US" sz="1300" dirty="0"/>
          </a:p>
        </p:txBody>
      </p:sp>
      <p:sp>
        <p:nvSpPr>
          <p:cNvPr id="6" name="Shape 4"/>
          <p:cNvSpPr/>
          <p:nvPr/>
        </p:nvSpPr>
        <p:spPr>
          <a:xfrm>
            <a:off x="7178040" y="1508760"/>
            <a:ext cx="4510735" cy="1783080"/>
          </a:xfrm>
          <a:prstGeom prst="roundRect">
            <a:avLst>
              <a:gd name="adj" fmla="val 4103"/>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p:cNvSpPr txBox="1"/>
          <p:nvPr/>
        </p:nvSpPr>
        <p:spPr>
          <a:xfrm>
            <a:off x="7434072" y="1728216"/>
            <a:ext cx="3998671" cy="141732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Estas dos operaciones son la base para escribir las precondiciones del resto de las operaciones — encolar necesita "no llena" y desencolar necesita "no vacía".</a:t>
            </a:r>
            <a:endParaRPr lang="en-US" sz="1300" dirty="0"/>
          </a:p>
        </p:txBody>
      </p:sp>
      <p:sp>
        <p:nvSpPr>
          <p:cNvPr id="8" name="Shape 6"/>
          <p:cNvSpPr/>
          <p:nvPr/>
        </p:nvSpPr>
        <p:spPr>
          <a:xfrm>
            <a:off x="502920" y="3474720"/>
            <a:ext cx="6400800" cy="2834640"/>
          </a:xfrm>
          <a:prstGeom prst="roundRect">
            <a:avLst>
              <a:gd name="adj" fmla="val 2581"/>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9" name="Text 7"/>
          <p:cNvSpPr txBox="1"/>
          <p:nvPr/>
        </p:nvSpPr>
        <p:spPr>
          <a:xfrm>
            <a:off x="740664" y="3621024"/>
            <a:ext cx="5925312" cy="2560320"/>
          </a:xfrm>
          <a:prstGeom prst="rect">
            <a:avLst/>
          </a:prstGeom>
          <a:noFill/>
          <a:ln/>
        </p:spPr>
        <p:txBody>
          <a:bodyPr wrap="square" lIns="0" tIns="0" rIns="0" bIns="0" rtlCol="0" anchor="t"/>
          <a:lstStyle/>
          <a:p>
            <a:pPr marL="0" indent="0">
              <a:lnSpc>
                <a:spcPct val="100000"/>
              </a:lnSpc>
              <a:buNone/>
            </a:pPr>
            <a:r>
              <a:rPr lang="en-US" sz="950" dirty="0">
                <a:solidFill>
                  <a:srgbClr val="1B1B1B"/>
                </a:solidFill>
                <a:latin typeface="Courier New" pitchFamily="34" charset="0"/>
                <a:ea typeface="Courier New" pitchFamily="34" charset="-122"/>
                <a:cs typeface="Courier New" pitchFamily="34" charset="-120"/>
              </a:rPr>
              <a:t>public void encolar(int x) {
    if (esLlena()) {
        throw new RuntimeException("Cola llena");
    }
    datos[frente + cantidad] = x;
    cantidad++;
}
public int desencolar() {
    if (esVacia()) {
        throw new RuntimeException("Cola vacia");
    }
    int x = datos[frente];
    frente++;
    cantidad--;
    return x;
}</a:t>
            </a:r>
            <a:endParaRPr lang="en-US" sz="950" dirty="0"/>
          </a:p>
        </p:txBody>
      </p:sp>
      <p:sp>
        <p:nvSpPr>
          <p:cNvPr id="10" name="Shape 8"/>
          <p:cNvSpPr/>
          <p:nvPr/>
        </p:nvSpPr>
        <p:spPr>
          <a:xfrm>
            <a:off x="7178040" y="3474720"/>
            <a:ext cx="4510735" cy="2834640"/>
          </a:xfrm>
          <a:prstGeom prst="roundRect">
            <a:avLst>
              <a:gd name="adj" fmla="val 2581"/>
            </a:avLst>
          </a:prstGeom>
          <a:solidFill>
            <a:srgbClr val="1B2A6E"/>
          </a:solidFill>
          <a:ln w="12700">
            <a:solidFill>
              <a:srgbClr val="1B2A6E"/>
            </a:solidFill>
            <a:prstDash val="solid"/>
          </a:ln>
          <a:effectLst>
            <a:outerShdw blurRad="76200" dist="25400" dir="5400000" algn="bl" rotWithShape="0">
              <a:srgbClr val="9AA3C7">
                <a:alpha val="25000"/>
              </a:srgbClr>
            </a:outerShdw>
          </a:effectLst>
        </p:spPr>
        <p:txBody>
          <a:bodyPr/>
          <a:lstStyle/>
          <a:p>
            <a:endParaRPr lang="es-AR"/>
          </a:p>
        </p:txBody>
      </p:sp>
      <p:sp>
        <p:nvSpPr>
          <p:cNvPr id="11" name="Text 9"/>
          <p:cNvSpPr txBox="1"/>
          <p:nvPr/>
        </p:nvSpPr>
        <p:spPr>
          <a:xfrm>
            <a:off x="7452360" y="3712464"/>
            <a:ext cx="3962095" cy="365760"/>
          </a:xfrm>
          <a:prstGeom prst="rect">
            <a:avLst/>
          </a:prstGeom>
          <a:noFill/>
          <a:ln/>
        </p:spPr>
        <p:txBody>
          <a:bodyPr wrap="square" lIns="0" tIns="0" rIns="0" bIns="0" rtlCol="0" anchor="t"/>
          <a:lstStyle/>
          <a:p>
            <a:pPr marL="0" indent="0">
              <a:lnSpc>
                <a:spcPct val="115000"/>
              </a:lnSpc>
              <a:buNone/>
            </a:pPr>
            <a:r>
              <a:rPr lang="en-US" sz="1300" b="1" dirty="0">
                <a:solidFill>
                  <a:srgbClr val="C9821E"/>
                </a:solidFill>
                <a:latin typeface="Arial" pitchFamily="34" charset="0"/>
                <a:ea typeface="Arial" pitchFamily="34" charset="-122"/>
                <a:cs typeface="Arial" pitchFamily="34" charset="-120"/>
              </a:rPr>
              <a:t>Traducción directa de pre/post</a:t>
            </a:r>
            <a:endParaRPr lang="en-US" sz="1300" dirty="0"/>
          </a:p>
        </p:txBody>
      </p:sp>
      <p:sp>
        <p:nvSpPr>
          <p:cNvPr id="12" name="Text 10"/>
          <p:cNvSpPr txBox="1"/>
          <p:nvPr/>
        </p:nvSpPr>
        <p:spPr>
          <a:xfrm>
            <a:off x="7452360" y="4187952"/>
            <a:ext cx="3962095" cy="1920240"/>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Arial" pitchFamily="34" charset="0"/>
                <a:ea typeface="Arial" pitchFamily="34" charset="-122"/>
                <a:cs typeface="Arial" pitchFamily="34" charset="-120"/>
              </a:rPr>
              <a:t>pre: “no está vacía”  →  if (esVacia()) throw…
post: “x queda al final”  →  datos[frente+cantidad]=x; cantidad++;</a:t>
            </a:r>
            <a:endParaRPr lang="en-US" sz="1250" dirty="0"/>
          </a:p>
        </p:txBody>
      </p:sp>
      <p:sp>
        <p:nvSpPr>
          <p:cNvPr id="13" name="Text 11"/>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4" name="Text 12"/>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14</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1900" b="1" dirty="0">
                <a:solidFill>
                  <a:srgbClr val="1B2A6E"/>
                </a:solidFill>
                <a:latin typeface="Cambria" pitchFamily="34" charset="0"/>
                <a:ea typeface="Cambria" pitchFamily="34" charset="-122"/>
                <a:cs typeface="Cambria" pitchFamily="34" charset="-120"/>
              </a:rPr>
              <a:t>Operación primero() — consultar sin eliminar (COLA - ARREGLO ESTÁTICO)</a:t>
            </a:r>
            <a:endParaRPr lang="en-US" sz="1900" dirty="0"/>
          </a:p>
        </p:txBody>
      </p:sp>
      <p:sp>
        <p:nvSpPr>
          <p:cNvPr id="4" name="Shape 2"/>
          <p:cNvSpPr/>
          <p:nvPr/>
        </p:nvSpPr>
        <p:spPr>
          <a:xfrm>
            <a:off x="502920" y="1600200"/>
            <a:ext cx="6400800" cy="2011680"/>
          </a:xfrm>
          <a:prstGeom prst="roundRect">
            <a:avLst>
              <a:gd name="adj" fmla="val 3636"/>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58952" y="1819656"/>
            <a:ext cx="5888736" cy="1645920"/>
          </a:xfrm>
          <a:prstGeom prst="rect">
            <a:avLst/>
          </a:prstGeom>
          <a:noFill/>
          <a:ln/>
        </p:spPr>
        <p:txBody>
          <a:bodyPr wrap="square" lIns="0" tIns="0" rIns="0" bIns="0" rtlCol="0" anchor="t"/>
          <a:lstStyle/>
          <a:p>
            <a:pPr marL="0" indent="0">
              <a:lnSpc>
                <a:spcPct val="108000"/>
              </a:lnSpc>
              <a:buNone/>
            </a:pPr>
            <a:r>
              <a:rPr lang="en-US" sz="1350" dirty="0">
                <a:solidFill>
                  <a:srgbClr val="1B1B1B"/>
                </a:solidFill>
                <a:latin typeface="Courier New" pitchFamily="34" charset="0"/>
                <a:ea typeface="Courier New" pitchFamily="34" charset="-122"/>
                <a:cs typeface="Courier New" pitchFamily="34" charset="-120"/>
              </a:rPr>
              <a:t>public int obtenerPrimero() {
    if (esVacia()) {
        throw new RuntimeException("Cola vacia");
    }
    return datos[frente];
}</a:t>
            </a:r>
            <a:endParaRPr lang="en-US" sz="1350" dirty="0"/>
          </a:p>
        </p:txBody>
      </p:sp>
      <p:sp>
        <p:nvSpPr>
          <p:cNvPr id="6" name="Shape 4"/>
          <p:cNvSpPr/>
          <p:nvPr/>
        </p:nvSpPr>
        <p:spPr>
          <a:xfrm>
            <a:off x="7178040" y="1600200"/>
            <a:ext cx="4510735" cy="2011680"/>
          </a:xfrm>
          <a:prstGeom prst="roundRect">
            <a:avLst>
              <a:gd name="adj" fmla="val 3636"/>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p:cNvSpPr txBox="1"/>
          <p:nvPr/>
        </p:nvSpPr>
        <p:spPr>
          <a:xfrm>
            <a:off x="7434072" y="1801368"/>
            <a:ext cx="3998671" cy="457200"/>
          </a:xfrm>
          <a:prstGeom prst="rect">
            <a:avLst/>
          </a:prstGeom>
          <a:noFill/>
          <a:ln/>
        </p:spPr>
        <p:txBody>
          <a:bodyPr wrap="square" lIns="0" tIns="0" rIns="0" bIns="0" rtlCol="0" anchor="t"/>
          <a:lstStyle/>
          <a:p>
            <a:pPr marL="0" indent="0">
              <a:lnSpc>
                <a:spcPct val="115000"/>
              </a:lnSpc>
              <a:buNone/>
            </a:pPr>
            <a:r>
              <a:rPr lang="en-US" sz="1300" b="1" dirty="0">
                <a:solidFill>
                  <a:srgbClr val="1B1B1B"/>
                </a:solidFill>
                <a:latin typeface="Arial" pitchFamily="34" charset="0"/>
                <a:ea typeface="Arial" pitchFamily="34" charset="-122"/>
                <a:cs typeface="Arial" pitchFamily="34" charset="-120"/>
              </a:rPr>
              <a:t>¿Por qué datos[frente] y no datos[0]?</a:t>
            </a:r>
            <a:endParaRPr lang="en-US" sz="1300" dirty="0"/>
          </a:p>
        </p:txBody>
      </p:sp>
      <p:sp>
        <p:nvSpPr>
          <p:cNvPr id="8" name="Text 6"/>
          <p:cNvSpPr txBox="1"/>
          <p:nvPr/>
        </p:nvSpPr>
        <p:spPr>
          <a:xfrm>
            <a:off x="7434072" y="2313432"/>
            <a:ext cx="3998671" cy="1143000"/>
          </a:xfrm>
          <a:prstGeom prst="rect">
            <a:avLst/>
          </a:prstGeom>
          <a:noFill/>
          <a:ln/>
        </p:spPr>
        <p:txBody>
          <a:bodyPr wrap="square" lIns="0" tIns="0" rIns="0" bIns="0" rtlCol="0" anchor="t"/>
          <a:lstStyle/>
          <a:p>
            <a:pPr marL="0" indent="0">
              <a:lnSpc>
                <a:spcPct val="115000"/>
              </a:lnSpc>
              <a:buNone/>
            </a:pPr>
            <a:r>
              <a:rPr lang="en-US" sz="1250" dirty="0">
                <a:solidFill>
                  <a:srgbClr val="1B1B1B"/>
                </a:solidFill>
                <a:latin typeface="Arial" pitchFamily="34" charset="0"/>
                <a:ea typeface="Arial" pitchFamily="34" charset="-122"/>
                <a:cs typeface="Arial" pitchFamily="34" charset="-120"/>
              </a:rPr>
              <a:t>frente indica en qué posición vive el primer elemento — no siempre es la posición 0, porque a medida que se desencola, frente avanza.</a:t>
            </a:r>
            <a:endParaRPr lang="en-US" sz="1250" dirty="0"/>
          </a:p>
        </p:txBody>
      </p:sp>
      <p:sp>
        <p:nvSpPr>
          <p:cNvPr id="9" name="Shape 7"/>
          <p:cNvSpPr/>
          <p:nvPr/>
        </p:nvSpPr>
        <p:spPr>
          <a:xfrm>
            <a:off x="502920" y="3840480"/>
            <a:ext cx="11185855" cy="2377440"/>
          </a:xfrm>
          <a:prstGeom prst="roundRect">
            <a:avLst>
              <a:gd name="adj" fmla="val 3077"/>
            </a:avLst>
          </a:prstGeom>
          <a:solidFill>
            <a:srgbClr val="DB9433"/>
          </a:solidFill>
          <a:ln w="12700">
            <a:solidFill>
              <a:srgbClr val="DB9433"/>
            </a:solidFill>
            <a:prstDash val="solid"/>
          </a:ln>
          <a:effectLst>
            <a:outerShdw blurRad="76200" dist="25400" dir="5400000" algn="bl" rotWithShape="0">
              <a:srgbClr val="9AA3C7">
                <a:alpha val="25000"/>
              </a:srgbClr>
            </a:outerShdw>
          </a:effectLst>
        </p:spPr>
        <p:txBody>
          <a:bodyPr/>
          <a:lstStyle/>
          <a:p>
            <a:endParaRPr lang="es-AR"/>
          </a:p>
        </p:txBody>
      </p:sp>
      <p:sp>
        <p:nvSpPr>
          <p:cNvPr id="10" name="Text 8"/>
          <p:cNvSpPr txBox="1"/>
          <p:nvPr/>
        </p:nvSpPr>
        <p:spPr>
          <a:xfrm>
            <a:off x="868680" y="4251960"/>
            <a:ext cx="10454335" cy="1554480"/>
          </a:xfrm>
          <a:prstGeom prst="rect">
            <a:avLst/>
          </a:prstGeom>
          <a:noFill/>
          <a:ln/>
        </p:spPr>
        <p:txBody>
          <a:bodyPr wrap="square" lIns="0" tIns="0" rIns="0" bIns="0" rtlCol="0" anchor="t"/>
          <a:lstStyle/>
          <a:p>
            <a:pPr marL="0" indent="0">
              <a:lnSpc>
                <a:spcPct val="115000"/>
              </a:lnSpc>
              <a:buNone/>
            </a:pPr>
            <a:r>
              <a:rPr lang="en-US" sz="1400" b="1" dirty="0">
                <a:solidFill>
                  <a:srgbClr val="FFFFFF"/>
                </a:solidFill>
                <a:latin typeface="Arial" pitchFamily="34" charset="0"/>
                <a:ea typeface="Arial" pitchFamily="34" charset="-122"/>
                <a:cs typeface="Arial" pitchFamily="34" charset="-120"/>
              </a:rPr>
              <a:t>Punto clave de diseño: obtenerPrimero() NO modifica frente ni el array — solo lee. Esto es exactamente lo que dice la especificación: “devuelve el elemento del frente sin eliminarlo”. Comparen con desencolar(), que sí modifica el estado.</a:t>
            </a:r>
            <a:endParaRPr lang="en-US" sz="1400" dirty="0"/>
          </a:p>
        </p:txBody>
      </p:sp>
      <p:sp>
        <p:nvSpPr>
          <p:cNvPr id="11" name="Text 9"/>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2" name="Text 10"/>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15</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200" b="1" dirty="0">
                <a:solidFill>
                  <a:srgbClr val="1B2A6E"/>
                </a:solidFill>
                <a:latin typeface="Cambria" pitchFamily="34" charset="0"/>
                <a:ea typeface="Cambria" pitchFamily="34" charset="-122"/>
                <a:cs typeface="Cambria" pitchFamily="34" charset="-120"/>
              </a:rPr>
              <a:t>Cola con </a:t>
            </a:r>
            <a:r>
              <a:rPr lang="en-US" sz="3200" b="1" dirty="0" err="1">
                <a:solidFill>
                  <a:srgbClr val="1B2A6E"/>
                </a:solidFill>
                <a:latin typeface="Cambria" pitchFamily="34" charset="0"/>
                <a:ea typeface="Cambria" pitchFamily="34" charset="-122"/>
                <a:cs typeface="Cambria" pitchFamily="34" charset="-120"/>
              </a:rPr>
              <a:t>Prioridad</a:t>
            </a:r>
            <a:r>
              <a:rPr lang="en-US" sz="3200" b="1" dirty="0">
                <a:solidFill>
                  <a:srgbClr val="1B2A6E"/>
                </a:solidFill>
                <a:latin typeface="Cambria" pitchFamily="34" charset="0"/>
                <a:ea typeface="Cambria" pitchFamily="34" charset="-122"/>
                <a:cs typeface="Cambria" pitchFamily="34" charset="-120"/>
              </a:rPr>
              <a:t> DESORDENADA</a:t>
            </a:r>
            <a:endParaRPr lang="en-US" sz="3200" dirty="0"/>
          </a:p>
        </p:txBody>
      </p:sp>
      <p:sp>
        <p:nvSpPr>
          <p:cNvPr id="9" name="Text 7"/>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0" name="Text 8"/>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30</a:t>
            </a:r>
            <a:endParaRPr lang="en-US" sz="1100" dirty="0"/>
          </a:p>
        </p:txBody>
      </p:sp>
      <p:pic>
        <p:nvPicPr>
          <p:cNvPr id="13" name="cola_prioridad_da_desordenado">
            <a:hlinkClick r:id="" action="ppaction://media"/>
            <a:extLst>
              <a:ext uri="{FF2B5EF4-FFF2-40B4-BE49-F238E27FC236}">
                <a16:creationId xmlns:a16="http://schemas.microsoft.com/office/drawing/2014/main" id="{11769E2F-C312-56CA-93AF-41425DA6B27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466362" y="1131146"/>
            <a:ext cx="9295546" cy="52287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29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7E268-5157-0D4B-71C4-4F81505775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43B3A49-2497-0DAA-4713-E3B52E828C30}"/>
              </a:ext>
            </a:extLst>
          </p:cNvPr>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15</a:t>
            </a:r>
            <a:endParaRPr lang="en-US" sz="1200" dirty="0"/>
          </a:p>
        </p:txBody>
      </p:sp>
      <p:sp>
        <p:nvSpPr>
          <p:cNvPr id="3" name="Text 1">
            <a:extLst>
              <a:ext uri="{FF2B5EF4-FFF2-40B4-BE49-F238E27FC236}">
                <a16:creationId xmlns:a16="http://schemas.microsoft.com/office/drawing/2014/main" id="{A3FE6495-02EA-DC03-1297-FF6DCAB688D9}"/>
              </a:ext>
            </a:extLst>
          </p:cNvPr>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200" b="1" dirty="0">
                <a:solidFill>
                  <a:srgbClr val="1B2A6E"/>
                </a:solidFill>
                <a:latin typeface="Cambria" pitchFamily="34" charset="0"/>
                <a:ea typeface="Cambria" pitchFamily="34" charset="-122"/>
                <a:cs typeface="Cambria" pitchFamily="34" charset="-120"/>
              </a:rPr>
              <a:t>Cola con </a:t>
            </a:r>
            <a:r>
              <a:rPr lang="en-US" sz="3200" b="1" dirty="0" err="1">
                <a:solidFill>
                  <a:srgbClr val="1B2A6E"/>
                </a:solidFill>
                <a:latin typeface="Cambria" pitchFamily="34" charset="0"/>
                <a:ea typeface="Cambria" pitchFamily="34" charset="-122"/>
                <a:cs typeface="Cambria" pitchFamily="34" charset="-120"/>
              </a:rPr>
              <a:t>Prioridad</a:t>
            </a:r>
            <a:r>
              <a:rPr lang="en-US" sz="3200" b="1" dirty="0">
                <a:solidFill>
                  <a:srgbClr val="1B2A6E"/>
                </a:solidFill>
                <a:latin typeface="Cambria" pitchFamily="34" charset="0"/>
                <a:ea typeface="Cambria" pitchFamily="34" charset="-122"/>
                <a:cs typeface="Cambria" pitchFamily="34" charset="-120"/>
              </a:rPr>
              <a:t> ORDENADA</a:t>
            </a:r>
            <a:endParaRPr lang="en-US" sz="3200" dirty="0"/>
          </a:p>
        </p:txBody>
      </p:sp>
      <p:sp>
        <p:nvSpPr>
          <p:cNvPr id="9" name="Text 7">
            <a:extLst>
              <a:ext uri="{FF2B5EF4-FFF2-40B4-BE49-F238E27FC236}">
                <a16:creationId xmlns:a16="http://schemas.microsoft.com/office/drawing/2014/main" id="{0B132079-028E-0CD6-AFAD-D80D57131F24}"/>
              </a:ext>
            </a:extLst>
          </p:cNvPr>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0" name="Text 8">
            <a:extLst>
              <a:ext uri="{FF2B5EF4-FFF2-40B4-BE49-F238E27FC236}">
                <a16:creationId xmlns:a16="http://schemas.microsoft.com/office/drawing/2014/main" id="{C3BAEC6F-4C43-5A76-031F-25501EB6F1FC}"/>
              </a:ext>
            </a:extLst>
          </p:cNvPr>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31</a:t>
            </a:r>
            <a:endParaRPr lang="en-US" sz="1100" dirty="0"/>
          </a:p>
        </p:txBody>
      </p:sp>
      <p:pic>
        <p:nvPicPr>
          <p:cNvPr id="11" name="cola_prioridad_da_ordenado">
            <a:hlinkClick r:id="" action="ppaction://media"/>
            <a:extLst>
              <a:ext uri="{FF2B5EF4-FFF2-40B4-BE49-F238E27FC236}">
                <a16:creationId xmlns:a16="http://schemas.microsoft.com/office/drawing/2014/main" id="{0B11C9B6-C59D-2DFB-AA41-21F5D658E09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445549" y="1104881"/>
            <a:ext cx="9300901" cy="5231757"/>
          </a:xfrm>
          <a:prstGeom prst="rect">
            <a:avLst/>
          </a:prstGeom>
        </p:spPr>
      </p:pic>
    </p:spTree>
    <p:extLst>
      <p:ext uri="{BB962C8B-B14F-4D97-AF65-F5344CB8AC3E}">
        <p14:creationId xmlns:p14="http://schemas.microsoft.com/office/powerpoint/2010/main" val="2378234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654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4CF8-77D0-C411-DDAF-4C90696ABE0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EA06D69-4DD8-DAD6-FAB1-7078FC2D3258}"/>
              </a:ext>
            </a:extLst>
          </p:cNvPr>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15</a:t>
            </a:r>
            <a:endParaRPr lang="en-US" sz="1200" dirty="0"/>
          </a:p>
        </p:txBody>
      </p:sp>
      <p:sp>
        <p:nvSpPr>
          <p:cNvPr id="3" name="Text 1">
            <a:extLst>
              <a:ext uri="{FF2B5EF4-FFF2-40B4-BE49-F238E27FC236}">
                <a16:creationId xmlns:a16="http://schemas.microsoft.com/office/drawing/2014/main" id="{6568E9D0-D4E2-3A45-8A10-3A4C34750652}"/>
              </a:ext>
            </a:extLst>
          </p:cNvPr>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200" b="1" dirty="0">
                <a:solidFill>
                  <a:srgbClr val="1B2A6E"/>
                </a:solidFill>
                <a:latin typeface="Cambria" pitchFamily="34" charset="0"/>
                <a:ea typeface="Cambria" pitchFamily="34" charset="-122"/>
                <a:cs typeface="Cambria" pitchFamily="34" charset="-120"/>
              </a:rPr>
              <a:t>TDA Cola con Prioridad</a:t>
            </a:r>
            <a:endParaRPr lang="en-US" sz="3200" dirty="0"/>
          </a:p>
        </p:txBody>
      </p:sp>
      <p:sp>
        <p:nvSpPr>
          <p:cNvPr id="4" name="Shape 2">
            <a:extLst>
              <a:ext uri="{FF2B5EF4-FFF2-40B4-BE49-F238E27FC236}">
                <a16:creationId xmlns:a16="http://schemas.microsoft.com/office/drawing/2014/main" id="{B4E2076F-C42C-27FC-8C23-673D165E56AC}"/>
              </a:ext>
            </a:extLst>
          </p:cNvPr>
          <p:cNvSpPr/>
          <p:nvPr/>
        </p:nvSpPr>
        <p:spPr>
          <a:xfrm>
            <a:off x="502920" y="1600200"/>
            <a:ext cx="685800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a:extLst>
              <a:ext uri="{FF2B5EF4-FFF2-40B4-BE49-F238E27FC236}">
                <a16:creationId xmlns:a16="http://schemas.microsoft.com/office/drawing/2014/main" id="{76A2FBF7-95CB-286F-7980-5A676ED51B03}"/>
              </a:ext>
            </a:extLst>
          </p:cNvPr>
          <p:cNvSpPr txBox="1"/>
          <p:nvPr/>
        </p:nvSpPr>
        <p:spPr>
          <a:xfrm>
            <a:off x="758952" y="1801368"/>
            <a:ext cx="6345936" cy="4251960"/>
          </a:xfrm>
          <a:prstGeom prst="rect">
            <a:avLst/>
          </a:prstGeom>
          <a:noFill/>
          <a:ln/>
        </p:spPr>
        <p:txBody>
          <a:bodyPr wrap="square" lIns="0" tIns="0" rIns="0" bIns="0" rtlCol="0" anchor="t"/>
          <a:lstStyle/>
          <a:p>
            <a:pPr marL="0" indent="0">
              <a:lnSpc>
                <a:spcPct val="108000"/>
              </a:lnSpc>
              <a:buNone/>
            </a:pPr>
            <a:r>
              <a:rPr lang="en-US" sz="1250" dirty="0">
                <a:solidFill>
                  <a:srgbClr val="1B1B1B"/>
                </a:solidFill>
                <a:latin typeface="Courier New" pitchFamily="34" charset="0"/>
                <a:ea typeface="Courier New" pitchFamily="34" charset="-122"/>
                <a:cs typeface="Courier New" pitchFamily="34" charset="-120"/>
              </a:rPr>
              <a:t>TDA ColaPrioridad
Operaciones:
</a:t>
            </a:r>
            <a:r>
              <a:rPr lang="en-US" sz="1250" b="1" dirty="0">
                <a:solidFill>
                  <a:srgbClr val="1B1B1B"/>
                </a:solidFill>
                <a:latin typeface="Courier New" pitchFamily="34" charset="0"/>
                <a:ea typeface="Courier New" pitchFamily="34" charset="-122"/>
                <a:cs typeface="Courier New" pitchFamily="34" charset="-120"/>
              </a:rPr>
              <a:t>  crear</a:t>
            </a:r>
            <a:r>
              <a:rPr lang="en-US" sz="1250" dirty="0">
                <a:solidFill>
                  <a:srgbClr val="1B1B1B"/>
                </a:solidFill>
                <a:latin typeface="Courier New" pitchFamily="34" charset="0"/>
                <a:ea typeface="Courier New" pitchFamily="34" charset="-122"/>
                <a:cs typeface="Courier New" pitchFamily="34" charset="-120"/>
              </a:rPr>
              <a:t>() -&gt; ColaPrioridad
    post: devuelve una cola de prioridad vacia
</a:t>
            </a:r>
            <a:r>
              <a:rPr lang="en-US" sz="1250" b="1" dirty="0">
                <a:solidFill>
                  <a:srgbClr val="1B1B1B"/>
                </a:solidFill>
                <a:latin typeface="Courier New" pitchFamily="34" charset="0"/>
                <a:ea typeface="Courier New" pitchFamily="34" charset="-122"/>
                <a:cs typeface="Courier New" pitchFamily="34" charset="-120"/>
              </a:rPr>
              <a:t>  encolar</a:t>
            </a:r>
            <a:r>
              <a:rPr lang="en-US" sz="1250" dirty="0">
                <a:solidFill>
                  <a:srgbClr val="1B1B1B"/>
                </a:solidFill>
                <a:latin typeface="Courier New" pitchFamily="34" charset="0"/>
                <a:ea typeface="Courier New" pitchFamily="34" charset="-122"/>
                <a:cs typeface="Courier New" pitchFamily="34" charset="-120"/>
              </a:rPr>
              <a:t>(cp: ColaPrioridad, x: elemento) -&gt; ColaPrioridad
    post: x queda incorporado a cp
</a:t>
            </a:r>
            <a:r>
              <a:rPr lang="en-US" sz="1250" b="1" dirty="0">
                <a:solidFill>
                  <a:srgbClr val="1B1B1B"/>
                </a:solidFill>
                <a:latin typeface="Courier New" pitchFamily="34" charset="0"/>
                <a:ea typeface="Courier New" pitchFamily="34" charset="-122"/>
                <a:cs typeface="Courier New" pitchFamily="34" charset="-120"/>
              </a:rPr>
              <a:t>  desencolar</a:t>
            </a:r>
            <a:r>
              <a:rPr lang="en-US" sz="1250" dirty="0">
                <a:solidFill>
                  <a:srgbClr val="1B1B1B"/>
                </a:solidFill>
                <a:latin typeface="Courier New" pitchFamily="34" charset="0"/>
                <a:ea typeface="Courier New" pitchFamily="34" charset="-122"/>
                <a:cs typeface="Courier New" pitchFamily="34" charset="-120"/>
              </a:rPr>
              <a:t>(cp: ColaPrioridad) -&gt; ColaPrioridad
    pre:  cp no esta vacia
    post: se elimina de cp el elemento de mayor prioridad
</a:t>
            </a:r>
            <a:r>
              <a:rPr lang="en-US" sz="1250" b="1" dirty="0">
                <a:solidFill>
                  <a:srgbClr val="1B1B1B"/>
                </a:solidFill>
                <a:latin typeface="Courier New" pitchFamily="34" charset="0"/>
                <a:ea typeface="Courier New" pitchFamily="34" charset="-122"/>
                <a:cs typeface="Courier New" pitchFamily="34" charset="-120"/>
              </a:rPr>
              <a:t>  primero</a:t>
            </a:r>
            <a:r>
              <a:rPr lang="en-US" sz="1250" dirty="0">
                <a:solidFill>
                  <a:srgbClr val="1B1B1B"/>
                </a:solidFill>
                <a:latin typeface="Courier New" pitchFamily="34" charset="0"/>
                <a:ea typeface="Courier New" pitchFamily="34" charset="-122"/>
                <a:cs typeface="Courier New" pitchFamily="34" charset="-120"/>
              </a:rPr>
              <a:t>(cp: ColaPrioridad) -&gt; elemento
    pre:  cp no esta vacia
    post: devuelve el elemento de mayor prioridad sin eliminarlo
</a:t>
            </a:r>
            <a:r>
              <a:rPr lang="en-US" sz="1250" b="1" dirty="0">
                <a:solidFill>
                  <a:srgbClr val="1B1B1B"/>
                </a:solidFill>
                <a:latin typeface="Courier New" pitchFamily="34" charset="0"/>
                <a:ea typeface="Courier New" pitchFamily="34" charset="-122"/>
                <a:cs typeface="Courier New" pitchFamily="34" charset="-120"/>
              </a:rPr>
              <a:t>  esVacia</a:t>
            </a:r>
            <a:r>
              <a:rPr lang="en-US" sz="1250" dirty="0">
                <a:solidFill>
                  <a:srgbClr val="1B1B1B"/>
                </a:solidFill>
                <a:latin typeface="Courier New" pitchFamily="34" charset="0"/>
                <a:ea typeface="Courier New" pitchFamily="34" charset="-122"/>
                <a:cs typeface="Courier New" pitchFamily="34" charset="-120"/>
              </a:rPr>
              <a:t>(cp: ColaPrioridad) -&gt; boolean
    post: devuelve true si cp no tiene elementos
</a:t>
            </a:r>
            <a:r>
              <a:rPr lang="en-US" sz="1250" b="1" dirty="0">
                <a:solidFill>
                  <a:srgbClr val="1B1B1B"/>
                </a:solidFill>
                <a:latin typeface="Courier New" pitchFamily="34" charset="0"/>
                <a:ea typeface="Courier New" pitchFamily="34" charset="-122"/>
                <a:cs typeface="Courier New" pitchFamily="34" charset="-120"/>
              </a:rPr>
              <a:t>  esLlena</a:t>
            </a:r>
            <a:r>
              <a:rPr lang="en-US" sz="1250" dirty="0">
                <a:solidFill>
                  <a:srgbClr val="1B1B1B"/>
                </a:solidFill>
                <a:latin typeface="Courier New" pitchFamily="34" charset="0"/>
                <a:ea typeface="Courier New" pitchFamily="34" charset="-122"/>
                <a:cs typeface="Courier New" pitchFamily="34" charset="-120"/>
              </a:rPr>
              <a:t>(cp: ColaPrioridad) -&gt; boolean
    post: devuelve true si cp alcanzo su capacidad maxima</a:t>
            </a:r>
            <a:endParaRPr lang="en-US" sz="1250" dirty="0"/>
          </a:p>
        </p:txBody>
      </p:sp>
      <p:sp>
        <p:nvSpPr>
          <p:cNvPr id="6" name="Shape 4">
            <a:extLst>
              <a:ext uri="{FF2B5EF4-FFF2-40B4-BE49-F238E27FC236}">
                <a16:creationId xmlns:a16="http://schemas.microsoft.com/office/drawing/2014/main" id="{2E28E4AB-BAD0-6EC3-053E-EDC41CC0BEEC}"/>
              </a:ext>
            </a:extLst>
          </p:cNvPr>
          <p:cNvSpPr/>
          <p:nvPr/>
        </p:nvSpPr>
        <p:spPr>
          <a:xfrm>
            <a:off x="7635240" y="1600200"/>
            <a:ext cx="4053535" cy="4617720"/>
          </a:xfrm>
          <a:prstGeom prst="roundRect">
            <a:avLst>
              <a:gd name="adj" fmla="val 1805"/>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a:extLst>
              <a:ext uri="{FF2B5EF4-FFF2-40B4-BE49-F238E27FC236}">
                <a16:creationId xmlns:a16="http://schemas.microsoft.com/office/drawing/2014/main" id="{67EA2B78-29A2-AD10-4DD9-7C8A26E85FDB}"/>
              </a:ext>
            </a:extLst>
          </p:cNvPr>
          <p:cNvSpPr txBox="1"/>
          <p:nvPr/>
        </p:nvSpPr>
        <p:spPr>
          <a:xfrm>
            <a:off x="7927848" y="1837944"/>
            <a:ext cx="3468319" cy="365760"/>
          </a:xfrm>
          <a:prstGeom prst="rect">
            <a:avLst/>
          </a:prstGeom>
          <a:noFill/>
          <a:ln/>
        </p:spPr>
        <p:txBody>
          <a:bodyPr wrap="square" lIns="0" tIns="0" rIns="0" bIns="0" rtlCol="0" anchor="t"/>
          <a:lstStyle/>
          <a:p>
            <a:pPr marL="0" indent="0">
              <a:lnSpc>
                <a:spcPct val="115000"/>
              </a:lnSpc>
              <a:buNone/>
            </a:pPr>
            <a:r>
              <a:rPr lang="en-US" sz="1500" b="1" dirty="0">
                <a:solidFill>
                  <a:srgbClr val="1B1B1B"/>
                </a:solidFill>
                <a:latin typeface="Arial" pitchFamily="34" charset="0"/>
                <a:ea typeface="Arial" pitchFamily="34" charset="-122"/>
                <a:cs typeface="Arial" pitchFamily="34" charset="-120"/>
              </a:rPr>
              <a:t>Detalle</a:t>
            </a:r>
            <a:endParaRPr lang="en-US" sz="1500" dirty="0"/>
          </a:p>
        </p:txBody>
      </p:sp>
      <p:sp>
        <p:nvSpPr>
          <p:cNvPr id="8" name="Text 6">
            <a:extLst>
              <a:ext uri="{FF2B5EF4-FFF2-40B4-BE49-F238E27FC236}">
                <a16:creationId xmlns:a16="http://schemas.microsoft.com/office/drawing/2014/main" id="{856852A8-63BA-5CFD-0E87-59CF89E366E1}"/>
              </a:ext>
            </a:extLst>
          </p:cNvPr>
          <p:cNvSpPr txBox="1"/>
          <p:nvPr/>
        </p:nvSpPr>
        <p:spPr>
          <a:xfrm>
            <a:off x="7927848" y="2313432"/>
            <a:ext cx="3468319" cy="3703320"/>
          </a:xfrm>
          <a:prstGeom prst="rect">
            <a:avLst/>
          </a:prstGeom>
          <a:noFill/>
          <a:ln/>
        </p:spPr>
        <p:txBody>
          <a:bodyPr wrap="square" lIns="0" tIns="0" rIns="0" bIns="0" rtlCol="0" anchor="t"/>
          <a:lstStyle/>
          <a:p>
            <a:pPr marL="0" indent="0">
              <a:lnSpc>
                <a:spcPct val="115000"/>
              </a:lnSpc>
              <a:buNone/>
            </a:pPr>
            <a:r>
              <a:rPr lang="en-US" sz="1250" b="1" dirty="0">
                <a:solidFill>
                  <a:srgbClr val="1B1B1B"/>
                </a:solidFill>
                <a:latin typeface="Arial" pitchFamily="34" charset="0"/>
                <a:ea typeface="Arial" pitchFamily="34" charset="-122"/>
                <a:cs typeface="Arial" pitchFamily="34" charset="-120"/>
              </a:rPr>
              <a:t>Dominio: ColaPrioridad = </a:t>
            </a:r>
            <a:r>
              <a:rPr lang="en-US" sz="1250" dirty="0">
                <a:solidFill>
                  <a:srgbClr val="1B1B1B"/>
                </a:solidFill>
                <a:latin typeface="Arial" pitchFamily="34" charset="0"/>
                <a:ea typeface="Arial" pitchFamily="34" charset="-122"/>
                <a:cs typeface="Arial" pitchFamily="34" charset="-120"/>
              </a:rPr>
              <a:t>Secuencia finita de elementos con una prioridad asociada, donde sale primero el de mayor prioridad — no necesariamente el que entró primero.
</a:t>
            </a:r>
            <a:r>
              <a:rPr lang="en-US" sz="1250" b="1" dirty="0">
                <a:solidFill>
                  <a:srgbClr val="1B1B1B"/>
                </a:solidFill>
                <a:latin typeface="Arial" pitchFamily="34" charset="0"/>
                <a:ea typeface="Arial" pitchFamily="34" charset="-122"/>
                <a:cs typeface="Arial" pitchFamily="34" charset="-120"/>
              </a:rPr>
              <a:t>encolar: </a:t>
            </a:r>
            <a:r>
              <a:rPr lang="en-US" sz="1250" dirty="0">
                <a:solidFill>
                  <a:srgbClr val="1B1B1B"/>
                </a:solidFill>
                <a:latin typeface="Arial" pitchFamily="34" charset="0"/>
                <a:ea typeface="Arial" pitchFamily="34" charset="-122"/>
                <a:cs typeface="Arial" pitchFamily="34" charset="-120"/>
              </a:rPr>
              <a:t>“agregar x — dónde queda ubicado depende de la implementación”
</a:t>
            </a:r>
            <a:r>
              <a:rPr lang="en-US" sz="1250" b="1" dirty="0">
                <a:solidFill>
                  <a:srgbClr val="1B1B1B"/>
                </a:solidFill>
                <a:latin typeface="Arial" pitchFamily="34" charset="0"/>
                <a:ea typeface="Arial" pitchFamily="34" charset="-122"/>
                <a:cs typeface="Arial" pitchFamily="34" charset="-120"/>
              </a:rPr>
              <a:t>desencolar: </a:t>
            </a:r>
            <a:r>
              <a:rPr lang="en-US" sz="1250" dirty="0">
                <a:solidFill>
                  <a:srgbClr val="1B1B1B"/>
                </a:solidFill>
                <a:latin typeface="Arial" pitchFamily="34" charset="0"/>
                <a:ea typeface="Arial" pitchFamily="34" charset="-122"/>
                <a:cs typeface="Arial" pitchFamily="34" charset="-120"/>
              </a:rPr>
              <a:t>“siempre saca al de mayor prioridad, sin importar cuándo entró”
</a:t>
            </a:r>
            <a:r>
              <a:rPr lang="en-US" sz="1250" b="1" dirty="0">
                <a:solidFill>
                  <a:srgbClr val="1B1B1B"/>
                </a:solidFill>
                <a:latin typeface="Arial" pitchFamily="34" charset="0"/>
                <a:ea typeface="Arial" pitchFamily="34" charset="-122"/>
                <a:cs typeface="Arial" pitchFamily="34" charset="-120"/>
              </a:rPr>
              <a:t>primero: </a:t>
            </a:r>
            <a:r>
              <a:rPr lang="en-US" sz="1250" dirty="0">
                <a:solidFill>
                  <a:srgbClr val="1B1B1B"/>
                </a:solidFill>
                <a:latin typeface="Arial" pitchFamily="34" charset="0"/>
                <a:ea typeface="Arial" pitchFamily="34" charset="-122"/>
                <a:cs typeface="Arial" pitchFamily="34" charset="-120"/>
              </a:rPr>
              <a:t>“mirar sin sacar” — no modifica la cola</a:t>
            </a:r>
            <a:endParaRPr lang="en-US" sz="1250" dirty="0"/>
          </a:p>
        </p:txBody>
      </p:sp>
      <p:sp>
        <p:nvSpPr>
          <p:cNvPr id="9" name="Text 7">
            <a:extLst>
              <a:ext uri="{FF2B5EF4-FFF2-40B4-BE49-F238E27FC236}">
                <a16:creationId xmlns:a16="http://schemas.microsoft.com/office/drawing/2014/main" id="{DB763A82-1ADE-A35E-C4E1-F91091940C62}"/>
              </a:ext>
            </a:extLst>
          </p:cNvPr>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0" name="Text 8">
            <a:extLst>
              <a:ext uri="{FF2B5EF4-FFF2-40B4-BE49-F238E27FC236}">
                <a16:creationId xmlns:a16="http://schemas.microsoft.com/office/drawing/2014/main" id="{2CA9D636-E643-EEF4-7DD4-0933DBB4471C}"/>
              </a:ext>
            </a:extLst>
          </p:cNvPr>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32</a:t>
            </a:r>
            <a:endParaRPr lang="en-US" sz="1100" dirty="0"/>
          </a:p>
        </p:txBody>
      </p:sp>
    </p:spTree>
    <p:extLst>
      <p:ext uri="{BB962C8B-B14F-4D97-AF65-F5344CB8AC3E}">
        <p14:creationId xmlns:p14="http://schemas.microsoft.com/office/powerpoint/2010/main" val="39044271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15</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000" b="1" dirty="0">
                <a:solidFill>
                  <a:srgbClr val="1B2A6E"/>
                </a:solidFill>
                <a:latin typeface="Cambria" pitchFamily="34" charset="0"/>
                <a:ea typeface="Cambria" pitchFamily="34" charset="-122"/>
                <a:cs typeface="Cambria" pitchFamily="34" charset="-120"/>
              </a:rPr>
              <a:t>¿Ordenada o desordenada?</a:t>
            </a:r>
            <a:endParaRPr lang="en-US" sz="3000" dirty="0"/>
          </a:p>
        </p:txBody>
      </p:sp>
      <p:sp>
        <p:nvSpPr>
          <p:cNvPr id="4" name="Shape 2"/>
          <p:cNvSpPr/>
          <p:nvPr/>
        </p:nvSpPr>
        <p:spPr>
          <a:xfrm>
            <a:off x="502920" y="1600200"/>
            <a:ext cx="5455768"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95528" y="1856232"/>
            <a:ext cx="4870552" cy="365760"/>
          </a:xfrm>
          <a:prstGeom prst="rect">
            <a:avLst/>
          </a:prstGeom>
          <a:noFill/>
          <a:ln/>
        </p:spPr>
        <p:txBody>
          <a:bodyPr wrap="square" lIns="0" tIns="0" rIns="0" bIns="0" rtlCol="0" anchor="t"/>
          <a:lstStyle/>
          <a:p>
            <a:pPr marL="0" indent="0">
              <a:lnSpc>
                <a:spcPct val="115000"/>
              </a:lnSpc>
              <a:buNone/>
            </a:pPr>
            <a:r>
              <a:rPr lang="en-US" sz="1500" b="1" dirty="0">
                <a:solidFill>
                  <a:srgbClr val="1B1B1B"/>
                </a:solidFill>
                <a:latin typeface="Arial" pitchFamily="34" charset="0"/>
                <a:ea typeface="Arial" pitchFamily="34" charset="-122"/>
                <a:cs typeface="Arial" pitchFamily="34" charset="-120"/>
              </a:rPr>
              <a:t>Cola de prioridad ORDENADA</a:t>
            </a:r>
            <a:endParaRPr lang="en-US" sz="1500" dirty="0"/>
          </a:p>
        </p:txBody>
      </p:sp>
      <p:sp>
        <p:nvSpPr>
          <p:cNvPr id="6" name="Text 4"/>
          <p:cNvSpPr txBox="1"/>
          <p:nvPr/>
        </p:nvSpPr>
        <p:spPr>
          <a:xfrm>
            <a:off x="795528" y="2350008"/>
            <a:ext cx="4870552" cy="822960"/>
          </a:xfrm>
          <a:prstGeom prst="rect">
            <a:avLst/>
          </a:prstGeom>
          <a:noFill/>
          <a:ln/>
        </p:spPr>
        <p:txBody>
          <a:bodyPr wrap="square" lIns="0" tIns="0" rIns="0" bIns="0" rtlCol="0" anchor="t"/>
          <a:lstStyle/>
          <a:p>
            <a:pPr marL="0" indent="0">
              <a:lnSpc>
                <a:spcPct val="140000"/>
              </a:lnSpc>
              <a:buNone/>
            </a:pPr>
            <a:r>
              <a:rPr lang="en-US" sz="1350" b="1" dirty="0">
                <a:solidFill>
                  <a:srgbClr val="1B1B1B"/>
                </a:solidFill>
                <a:latin typeface="Arial" pitchFamily="34" charset="0"/>
                <a:ea typeface="Arial" pitchFamily="34" charset="-122"/>
                <a:cs typeface="Arial" pitchFamily="34" charset="-120"/>
              </a:rPr>
              <a:t>encolar():  O(n)</a:t>
            </a:r>
            <a:r>
              <a:rPr lang="en-US" sz="1350" dirty="0">
                <a:solidFill>
                  <a:srgbClr val="1B1B1B"/>
                </a:solidFill>
                <a:latin typeface="Arial" pitchFamily="34" charset="0"/>
                <a:ea typeface="Arial" pitchFamily="34" charset="-122"/>
                <a:cs typeface="Arial" pitchFamily="34" charset="-120"/>
              </a:rPr>
              <a:t>
</a:t>
            </a:r>
            <a:r>
              <a:rPr lang="en-US" sz="1350" b="1" dirty="0">
                <a:solidFill>
                  <a:srgbClr val="1B1B1B"/>
                </a:solidFill>
                <a:latin typeface="Arial" pitchFamily="34" charset="0"/>
                <a:ea typeface="Arial" pitchFamily="34" charset="-122"/>
                <a:cs typeface="Arial" pitchFamily="34" charset="-120"/>
              </a:rPr>
              <a:t>desencolar():  O(1)</a:t>
            </a:r>
            <a:endParaRPr lang="en-US" sz="1350" dirty="0"/>
          </a:p>
        </p:txBody>
      </p:sp>
      <p:sp>
        <p:nvSpPr>
          <p:cNvPr id="7" name="Text 5"/>
          <p:cNvSpPr txBox="1"/>
          <p:nvPr/>
        </p:nvSpPr>
        <p:spPr>
          <a:xfrm>
            <a:off x="795528" y="3383280"/>
            <a:ext cx="4870552" cy="2606040"/>
          </a:xfrm>
          <a:prstGeom prst="rect">
            <a:avLst/>
          </a:prstGeom>
          <a:noFill/>
          <a:ln/>
        </p:spPr>
        <p:txBody>
          <a:bodyPr wrap="square" lIns="0" tIns="0" rIns="0" bIns="0" rtlCol="0" anchor="t"/>
          <a:lstStyle/>
          <a:p>
            <a:pPr marL="0" indent="0">
              <a:lnSpc>
                <a:spcPct val="115000"/>
              </a:lnSpc>
              <a:buNone/>
            </a:pPr>
            <a:r>
              <a:rPr lang="en-US" sz="1350" dirty="0">
                <a:solidFill>
                  <a:srgbClr val="1B1B1B"/>
                </a:solidFill>
                <a:latin typeface="Arial" pitchFamily="34" charset="0"/>
                <a:ea typeface="Arial" pitchFamily="34" charset="-122"/>
                <a:cs typeface="Arial" pitchFamily="34" charset="-120"/>
              </a:rPr>
              <a:t>El array se mantiene siempre ordenado por prioridad. encolar() busca el lugar que le corresponde a x y corre elementos para hacerle lugar. A cambio, desencolar() es inmediato: el de mayor prioridad siempre vive en el mismo extremo del array.</a:t>
            </a:r>
            <a:endParaRPr lang="en-US" sz="1350" dirty="0"/>
          </a:p>
        </p:txBody>
      </p:sp>
      <p:sp>
        <p:nvSpPr>
          <p:cNvPr id="8" name="Shape 6"/>
          <p:cNvSpPr/>
          <p:nvPr/>
        </p:nvSpPr>
        <p:spPr>
          <a:xfrm>
            <a:off x="6233008" y="1600200"/>
            <a:ext cx="5455768"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9" name="Text 7"/>
          <p:cNvSpPr txBox="1"/>
          <p:nvPr/>
        </p:nvSpPr>
        <p:spPr>
          <a:xfrm>
            <a:off x="6525616" y="1856232"/>
            <a:ext cx="4870552" cy="365760"/>
          </a:xfrm>
          <a:prstGeom prst="rect">
            <a:avLst/>
          </a:prstGeom>
          <a:noFill/>
          <a:ln/>
        </p:spPr>
        <p:txBody>
          <a:bodyPr wrap="square" lIns="0" tIns="0" rIns="0" bIns="0" rtlCol="0" anchor="t"/>
          <a:lstStyle/>
          <a:p>
            <a:pPr marL="0" indent="0">
              <a:lnSpc>
                <a:spcPct val="115000"/>
              </a:lnSpc>
              <a:buNone/>
            </a:pPr>
            <a:r>
              <a:rPr lang="en-US" sz="1500" b="1" dirty="0">
                <a:solidFill>
                  <a:srgbClr val="1B1B1B"/>
                </a:solidFill>
                <a:latin typeface="Arial" pitchFamily="34" charset="0"/>
                <a:ea typeface="Arial" pitchFamily="34" charset="-122"/>
                <a:cs typeface="Arial" pitchFamily="34" charset="-120"/>
              </a:rPr>
              <a:t>Cola de prioridad DESORDENADA</a:t>
            </a:r>
            <a:endParaRPr lang="en-US" sz="1500" dirty="0"/>
          </a:p>
        </p:txBody>
      </p:sp>
      <p:sp>
        <p:nvSpPr>
          <p:cNvPr id="10" name="Text 8"/>
          <p:cNvSpPr txBox="1"/>
          <p:nvPr/>
        </p:nvSpPr>
        <p:spPr>
          <a:xfrm>
            <a:off x="6525616" y="2350008"/>
            <a:ext cx="4870552" cy="822960"/>
          </a:xfrm>
          <a:prstGeom prst="rect">
            <a:avLst/>
          </a:prstGeom>
          <a:noFill/>
          <a:ln/>
        </p:spPr>
        <p:txBody>
          <a:bodyPr wrap="square" lIns="0" tIns="0" rIns="0" bIns="0" rtlCol="0" anchor="t"/>
          <a:lstStyle/>
          <a:p>
            <a:pPr marL="0" indent="0">
              <a:lnSpc>
                <a:spcPct val="140000"/>
              </a:lnSpc>
              <a:buNone/>
            </a:pPr>
            <a:r>
              <a:rPr lang="en-US" sz="1350" b="1" dirty="0">
                <a:solidFill>
                  <a:srgbClr val="1B1B1B"/>
                </a:solidFill>
                <a:latin typeface="Arial" pitchFamily="34" charset="0"/>
                <a:ea typeface="Arial" pitchFamily="34" charset="-122"/>
                <a:cs typeface="Arial" pitchFamily="34" charset="-120"/>
              </a:rPr>
              <a:t>encolar():  O(1)</a:t>
            </a:r>
            <a:r>
              <a:rPr lang="en-US" sz="1350" dirty="0">
                <a:solidFill>
                  <a:srgbClr val="1B1B1B"/>
                </a:solidFill>
                <a:latin typeface="Arial" pitchFamily="34" charset="0"/>
                <a:ea typeface="Arial" pitchFamily="34" charset="-122"/>
                <a:cs typeface="Arial" pitchFamily="34" charset="-120"/>
              </a:rPr>
              <a:t>
</a:t>
            </a:r>
            <a:r>
              <a:rPr lang="en-US" sz="1350" b="1" dirty="0">
                <a:solidFill>
                  <a:srgbClr val="1B1B1B"/>
                </a:solidFill>
                <a:latin typeface="Arial" pitchFamily="34" charset="0"/>
                <a:ea typeface="Arial" pitchFamily="34" charset="-122"/>
                <a:cs typeface="Arial" pitchFamily="34" charset="-120"/>
              </a:rPr>
              <a:t>desencolar():  O(n)</a:t>
            </a:r>
            <a:endParaRPr lang="en-US" sz="1350" dirty="0"/>
          </a:p>
        </p:txBody>
      </p:sp>
      <p:sp>
        <p:nvSpPr>
          <p:cNvPr id="11" name="Text 9"/>
          <p:cNvSpPr txBox="1"/>
          <p:nvPr/>
        </p:nvSpPr>
        <p:spPr>
          <a:xfrm>
            <a:off x="6525616" y="3383280"/>
            <a:ext cx="4870552" cy="2606040"/>
          </a:xfrm>
          <a:prstGeom prst="rect">
            <a:avLst/>
          </a:prstGeom>
          <a:noFill/>
          <a:ln/>
        </p:spPr>
        <p:txBody>
          <a:bodyPr wrap="square" lIns="0" tIns="0" rIns="0" bIns="0" rtlCol="0" anchor="t"/>
          <a:lstStyle/>
          <a:p>
            <a:pPr marL="0" indent="0">
              <a:lnSpc>
                <a:spcPct val="115000"/>
              </a:lnSpc>
              <a:buNone/>
            </a:pPr>
            <a:r>
              <a:rPr lang="en-US" sz="1350" dirty="0">
                <a:solidFill>
                  <a:srgbClr val="1B1B1B"/>
                </a:solidFill>
                <a:latin typeface="Arial" pitchFamily="34" charset="0"/>
                <a:ea typeface="Arial" pitchFamily="34" charset="-122"/>
                <a:cs typeface="Arial" pitchFamily="34" charset="-120"/>
              </a:rPr>
              <a:t>encolar() simplemente agrega x al final, sin acomodar nada. A cambio, desencolar() tiene que recorrer todo el array para encontrar cuál es el de mayor prioridad antes de poder sacarlo.</a:t>
            </a:r>
            <a:endParaRPr lang="en-US" sz="1350" dirty="0"/>
          </a:p>
        </p:txBody>
      </p:sp>
      <p:sp>
        <p:nvSpPr>
          <p:cNvPr id="12" name="Text 10"/>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3" name="Text 11"/>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16</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2600" b="1" dirty="0">
                <a:solidFill>
                  <a:srgbClr val="1B2A6E"/>
                </a:solidFill>
                <a:latin typeface="Cambria" pitchFamily="34" charset="0"/>
                <a:ea typeface="Cambria" pitchFamily="34" charset="-122"/>
                <a:cs typeface="Cambria" pitchFamily="34" charset="-120"/>
              </a:rPr>
              <a:t>Estructura y atributos (ORDENADA)</a:t>
            </a:r>
            <a:endParaRPr lang="en-US" sz="2600" dirty="0"/>
          </a:p>
        </p:txBody>
      </p:sp>
      <p:sp>
        <p:nvSpPr>
          <p:cNvPr id="4" name="Shape 2"/>
          <p:cNvSpPr/>
          <p:nvPr/>
        </p:nvSpPr>
        <p:spPr>
          <a:xfrm>
            <a:off x="502920" y="1600200"/>
            <a:ext cx="640080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58952" y="1819656"/>
            <a:ext cx="5888736" cy="4251960"/>
          </a:xfrm>
          <a:prstGeom prst="rect">
            <a:avLst/>
          </a:prstGeom>
          <a:noFill/>
          <a:ln/>
        </p:spPr>
        <p:txBody>
          <a:bodyPr wrap="square" lIns="0" tIns="0" rIns="0" bIns="0" rtlCol="0" anchor="t"/>
          <a:lstStyle/>
          <a:p>
            <a:pPr marL="0" indent="0">
              <a:lnSpc>
                <a:spcPct val="108000"/>
              </a:lnSpc>
              <a:buNone/>
            </a:pPr>
            <a:r>
              <a:rPr lang="en-US" sz="1350" dirty="0">
                <a:solidFill>
                  <a:srgbClr val="1B1B1B"/>
                </a:solidFill>
                <a:latin typeface="Courier New" pitchFamily="34" charset="0"/>
                <a:ea typeface="Courier New" pitchFamily="34" charset="-122"/>
                <a:cs typeface="Courier New" pitchFamily="34" charset="-120"/>
              </a:rPr>
              <a:t>public class ColaPrioridadOrdenada {
    private int[] datos;   // ordenado ascendente
    private int cantidad;  // cuantos elementos hay
    private int capacidad;
    public ColaPrioridadOrdenada(int capacidad) {
        this.capacidad = capacidad;
        this.datos = new int[capacidad];
        this.cantidad = 0;
    }
}</a:t>
            </a:r>
            <a:endParaRPr lang="en-US" sz="1350" dirty="0"/>
          </a:p>
        </p:txBody>
      </p:sp>
      <p:sp>
        <p:nvSpPr>
          <p:cNvPr id="6" name="Text 4"/>
          <p:cNvSpPr txBox="1"/>
          <p:nvPr/>
        </p:nvSpPr>
        <p:spPr>
          <a:xfrm>
            <a:off x="7178040" y="1618488"/>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El invariante clave</a:t>
            </a:r>
            <a:endParaRPr lang="en-US" sz="1400" dirty="0"/>
          </a:p>
        </p:txBody>
      </p:sp>
      <p:sp>
        <p:nvSpPr>
          <p:cNvPr id="7" name="Text 5"/>
          <p:cNvSpPr txBox="1"/>
          <p:nvPr/>
        </p:nvSpPr>
        <p:spPr>
          <a:xfrm>
            <a:off x="7178040" y="2057400"/>
            <a:ext cx="4510735" cy="173736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datos[0 .. cantidad-1] está siempre ordenado de menor a mayor prioridad. Por eso el elemento de mayor prioridad vive siempre en la misma posición: datos[cantidad - 1].</a:t>
            </a:r>
            <a:endParaRPr lang="en-US" sz="1300" dirty="0"/>
          </a:p>
        </p:txBody>
      </p:sp>
      <p:sp>
        <p:nvSpPr>
          <p:cNvPr id="8" name="Text 6"/>
          <p:cNvSpPr txBox="1"/>
          <p:nvPr/>
        </p:nvSpPr>
        <p:spPr>
          <a:xfrm>
            <a:off x="7178040" y="4069080"/>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Corresponde a crear()</a:t>
            </a:r>
            <a:endParaRPr lang="en-US" sz="1400" dirty="0"/>
          </a:p>
        </p:txBody>
      </p:sp>
      <p:sp>
        <p:nvSpPr>
          <p:cNvPr id="9" name="Text 7"/>
          <p:cNvSpPr txBox="1"/>
          <p:nvPr/>
        </p:nvSpPr>
        <p:spPr>
          <a:xfrm>
            <a:off x="7178040" y="4507992"/>
            <a:ext cx="4510735" cy="118872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El constructor es la traducción directa de crear() → ColaPrioridad, igual que en Pila y en Cola.</a:t>
            </a:r>
            <a:endParaRPr lang="en-US" sz="1300" dirty="0"/>
          </a:p>
        </p:txBody>
      </p:sp>
      <p:sp>
        <p:nvSpPr>
          <p:cNvPr id="10" name="Text 8"/>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1" name="Text 9"/>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16</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2200" b="1" dirty="0">
                <a:solidFill>
                  <a:srgbClr val="1B2A6E"/>
                </a:solidFill>
                <a:latin typeface="Cambria" pitchFamily="34" charset="0"/>
                <a:ea typeface="Cambria" pitchFamily="34" charset="-122"/>
                <a:cs typeface="Cambria" pitchFamily="34" charset="-120"/>
              </a:rPr>
              <a:t>Operaciones: encolar y desencolar (ORDENADA)</a:t>
            </a:r>
            <a:endParaRPr lang="en-US" sz="2200" dirty="0"/>
          </a:p>
        </p:txBody>
      </p:sp>
      <p:sp>
        <p:nvSpPr>
          <p:cNvPr id="4" name="Shape 2"/>
          <p:cNvSpPr/>
          <p:nvPr/>
        </p:nvSpPr>
        <p:spPr>
          <a:xfrm>
            <a:off x="502920" y="1417320"/>
            <a:ext cx="6400800" cy="2148840"/>
          </a:xfrm>
          <a:prstGeom prst="roundRect">
            <a:avLst>
              <a:gd name="adj" fmla="val 340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22376" y="1563624"/>
            <a:ext cx="5961888" cy="1874520"/>
          </a:xfrm>
          <a:prstGeom prst="rect">
            <a:avLst/>
          </a:prstGeom>
          <a:noFill/>
          <a:ln/>
        </p:spPr>
        <p:txBody>
          <a:bodyPr wrap="square" lIns="0" tIns="0" rIns="0" bIns="0" rtlCol="0" anchor="t"/>
          <a:lstStyle/>
          <a:p>
            <a:pPr marL="0" indent="0">
              <a:lnSpc>
                <a:spcPct val="100000"/>
              </a:lnSpc>
              <a:buNone/>
            </a:pPr>
            <a:r>
              <a:rPr lang="en-US" sz="1000" dirty="0">
                <a:solidFill>
                  <a:srgbClr val="1B1B1B"/>
                </a:solidFill>
                <a:latin typeface="Courier New" pitchFamily="34" charset="0"/>
                <a:ea typeface="Courier New" pitchFamily="34" charset="-122"/>
                <a:cs typeface="Courier New" pitchFamily="34" charset="-120"/>
              </a:rPr>
              <a:t>public void encolar(int x) {
    if (esLlena()) {
        throw new RuntimeException("Cola llena");
    }
    int i = cantidad - 1;
    while (i &gt;= 0 &amp;&amp; datos[i] &gt; x) {
        datos[i + 1] = datos[i];
        i--;
    }
    datos[i + 1] = x;
    cantidad++;
}</a:t>
            </a:r>
            <a:endParaRPr lang="en-US" sz="1000" dirty="0"/>
          </a:p>
        </p:txBody>
      </p:sp>
      <p:sp>
        <p:nvSpPr>
          <p:cNvPr id="6" name="Shape 4"/>
          <p:cNvSpPr/>
          <p:nvPr/>
        </p:nvSpPr>
        <p:spPr>
          <a:xfrm>
            <a:off x="7178040" y="1417320"/>
            <a:ext cx="4510735" cy="2148840"/>
          </a:xfrm>
          <a:prstGeom prst="roundRect">
            <a:avLst>
              <a:gd name="adj" fmla="val 340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p:cNvSpPr txBox="1"/>
          <p:nvPr/>
        </p:nvSpPr>
        <p:spPr>
          <a:xfrm>
            <a:off x="7434072" y="1600200"/>
            <a:ext cx="3998671" cy="1819656"/>
          </a:xfrm>
          <a:prstGeom prst="rect">
            <a:avLst/>
          </a:prstGeom>
          <a:noFill/>
          <a:ln/>
        </p:spPr>
        <p:txBody>
          <a:bodyPr wrap="square" lIns="0" tIns="0" rIns="0" bIns="0" rtlCol="0" anchor="t"/>
          <a:lstStyle/>
          <a:p>
            <a:pPr marL="0" indent="0">
              <a:lnSpc>
                <a:spcPct val="115000"/>
              </a:lnSpc>
              <a:buNone/>
            </a:pPr>
            <a:r>
              <a:rPr lang="en-US" sz="1200" b="1" dirty="0">
                <a:solidFill>
                  <a:srgbClr val="1B1B1B"/>
                </a:solidFill>
                <a:latin typeface="Arial" pitchFamily="34" charset="0"/>
                <a:ea typeface="Arial" pitchFamily="34" charset="-122"/>
                <a:cs typeface="Arial" pitchFamily="34" charset="-120"/>
              </a:rPr>
              <a:t>encolar()</a:t>
            </a:r>
            <a:r>
              <a:rPr lang="en-US" sz="1200" dirty="0">
                <a:solidFill>
                  <a:srgbClr val="1B1B1B"/>
                </a:solidFill>
                <a:latin typeface="Arial" pitchFamily="34" charset="0"/>
                <a:ea typeface="Arial" pitchFamily="34" charset="-122"/>
                <a:cs typeface="Arial" pitchFamily="34" charset="-120"/>
              </a:rPr>
              <a:t> hace lo mismo que una inserción por ordenamiento por inserción: corre los elementos mayores un lugar a la derecha hasta encontrar el hueco de x. En el peor caso (insertar el de menor prioridad) hay que correr todo el array.</a:t>
            </a:r>
            <a:endParaRPr lang="en-US" sz="1200" dirty="0"/>
          </a:p>
        </p:txBody>
      </p:sp>
      <p:sp>
        <p:nvSpPr>
          <p:cNvPr id="8" name="Shape 6"/>
          <p:cNvSpPr/>
          <p:nvPr/>
        </p:nvSpPr>
        <p:spPr>
          <a:xfrm>
            <a:off x="502920" y="3703320"/>
            <a:ext cx="6400800" cy="2651760"/>
          </a:xfrm>
          <a:prstGeom prst="roundRect">
            <a:avLst>
              <a:gd name="adj" fmla="val 2759"/>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9" name="Text 7"/>
          <p:cNvSpPr txBox="1"/>
          <p:nvPr/>
        </p:nvSpPr>
        <p:spPr>
          <a:xfrm>
            <a:off x="722376" y="3831336"/>
            <a:ext cx="5961888" cy="2414016"/>
          </a:xfrm>
          <a:prstGeom prst="rect">
            <a:avLst/>
          </a:prstGeom>
          <a:noFill/>
          <a:ln/>
        </p:spPr>
        <p:txBody>
          <a:bodyPr wrap="square" lIns="0" tIns="0" rIns="0" bIns="0" rtlCol="0" anchor="t"/>
          <a:lstStyle/>
          <a:p>
            <a:pPr marL="0" indent="0">
              <a:lnSpc>
                <a:spcPct val="100000"/>
              </a:lnSpc>
              <a:buNone/>
            </a:pPr>
            <a:r>
              <a:rPr lang="en-US" sz="1000" dirty="0">
                <a:solidFill>
                  <a:srgbClr val="1B1B1B"/>
                </a:solidFill>
                <a:latin typeface="Courier New" pitchFamily="34" charset="0"/>
                <a:ea typeface="Courier New" pitchFamily="34" charset="-122"/>
                <a:cs typeface="Courier New" pitchFamily="34" charset="-120"/>
              </a:rPr>
              <a:t>public int desencolar() {
    if (esVacia()) {
        throw new RuntimeException("Cola vacia");
    }
    cantidad--;
    return datos[cantidad];
}
public int obtenerPrimero() {
    if (esVacia()) {
        throw new RuntimeException("Cola vacia");
    }
    return datos[cantidad - 1];
}</a:t>
            </a:r>
            <a:endParaRPr lang="en-US" sz="1000" dirty="0"/>
          </a:p>
        </p:txBody>
      </p:sp>
      <p:sp>
        <p:nvSpPr>
          <p:cNvPr id="10" name="Shape 8"/>
          <p:cNvSpPr/>
          <p:nvPr/>
        </p:nvSpPr>
        <p:spPr>
          <a:xfrm>
            <a:off x="7178040" y="3703320"/>
            <a:ext cx="4510735" cy="2651760"/>
          </a:xfrm>
          <a:prstGeom prst="roundRect">
            <a:avLst>
              <a:gd name="adj" fmla="val 2759"/>
            </a:avLst>
          </a:prstGeom>
          <a:solidFill>
            <a:srgbClr val="1BAF7A"/>
          </a:solidFill>
          <a:ln w="12700">
            <a:solidFill>
              <a:srgbClr val="1BAF7A"/>
            </a:solidFill>
            <a:prstDash val="solid"/>
          </a:ln>
          <a:effectLst>
            <a:outerShdw blurRad="76200" dist="25400" dir="5400000" algn="bl" rotWithShape="0">
              <a:srgbClr val="9AA3C7">
                <a:alpha val="25000"/>
              </a:srgbClr>
            </a:outerShdw>
          </a:effectLst>
        </p:spPr>
        <p:txBody>
          <a:bodyPr/>
          <a:lstStyle/>
          <a:p>
            <a:endParaRPr lang="es-AR"/>
          </a:p>
        </p:txBody>
      </p:sp>
      <p:sp>
        <p:nvSpPr>
          <p:cNvPr id="11" name="Text 9"/>
          <p:cNvSpPr txBox="1"/>
          <p:nvPr/>
        </p:nvSpPr>
        <p:spPr>
          <a:xfrm>
            <a:off x="7452360" y="3941064"/>
            <a:ext cx="3962095" cy="365760"/>
          </a:xfrm>
          <a:prstGeom prst="rect">
            <a:avLst/>
          </a:prstGeom>
          <a:noFill/>
          <a:ln/>
        </p:spPr>
        <p:txBody>
          <a:bodyPr wrap="square" lIns="0" tIns="0" rIns="0" bIns="0" rtlCol="0" anchor="t"/>
          <a:lstStyle/>
          <a:p>
            <a:pPr marL="0" indent="0">
              <a:lnSpc>
                <a:spcPct val="115000"/>
              </a:lnSpc>
              <a:buNone/>
            </a:pPr>
            <a:r>
              <a:rPr lang="en-US" sz="1300" b="1" dirty="0">
                <a:solidFill>
                  <a:srgbClr val="FFFFFF"/>
                </a:solidFill>
                <a:latin typeface="Arial" pitchFamily="34" charset="0"/>
                <a:ea typeface="Arial" pitchFamily="34" charset="-122"/>
                <a:cs typeface="Arial" pitchFamily="34" charset="-120"/>
              </a:rPr>
              <a:t>Por qué es O(1)</a:t>
            </a:r>
            <a:endParaRPr lang="en-US" sz="1300" dirty="0"/>
          </a:p>
        </p:txBody>
      </p:sp>
      <p:sp>
        <p:nvSpPr>
          <p:cNvPr id="12" name="Text 10"/>
          <p:cNvSpPr txBox="1"/>
          <p:nvPr/>
        </p:nvSpPr>
        <p:spPr>
          <a:xfrm>
            <a:off x="7452360" y="4416552"/>
            <a:ext cx="3962095" cy="1737360"/>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Arial" pitchFamily="34" charset="0"/>
                <a:ea typeface="Arial" pitchFamily="34" charset="-122"/>
                <a:cs typeface="Arial" pitchFamily="34" charset="-120"/>
              </a:rPr>
              <a:t>Como el array ya está ordenado, el elemento de mayor prioridad está siempre en la última posición ocupada. Sacarlo es tan simple como bajar cantidad en uno — ninguna búsqueda, ningún corrimiento.</a:t>
            </a:r>
            <a:endParaRPr lang="en-US" sz="1250" dirty="0"/>
          </a:p>
        </p:txBody>
      </p:sp>
      <p:sp>
        <p:nvSpPr>
          <p:cNvPr id="13" name="Text 11"/>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4" name="Text 12"/>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17</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2600" b="1" dirty="0">
                <a:solidFill>
                  <a:srgbClr val="1B2A6E"/>
                </a:solidFill>
                <a:latin typeface="Cambria" pitchFamily="34" charset="0"/>
                <a:ea typeface="Cambria" pitchFamily="34" charset="-122"/>
                <a:cs typeface="Cambria" pitchFamily="34" charset="-120"/>
              </a:rPr>
              <a:t>Estructura y atributos (DESORDENADA)</a:t>
            </a:r>
            <a:endParaRPr lang="en-US" sz="2600" dirty="0"/>
          </a:p>
        </p:txBody>
      </p:sp>
      <p:sp>
        <p:nvSpPr>
          <p:cNvPr id="4" name="Shape 2"/>
          <p:cNvSpPr/>
          <p:nvPr/>
        </p:nvSpPr>
        <p:spPr>
          <a:xfrm>
            <a:off x="502920" y="1600200"/>
            <a:ext cx="640080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58952" y="1819656"/>
            <a:ext cx="5888736" cy="4251960"/>
          </a:xfrm>
          <a:prstGeom prst="rect">
            <a:avLst/>
          </a:prstGeom>
          <a:noFill/>
          <a:ln/>
        </p:spPr>
        <p:txBody>
          <a:bodyPr wrap="square" lIns="0" tIns="0" rIns="0" bIns="0" rtlCol="0" anchor="t"/>
          <a:lstStyle/>
          <a:p>
            <a:pPr marL="0" indent="0">
              <a:lnSpc>
                <a:spcPct val="108000"/>
              </a:lnSpc>
              <a:buNone/>
            </a:pPr>
            <a:r>
              <a:rPr lang="en-US" sz="1350" dirty="0">
                <a:solidFill>
                  <a:srgbClr val="1B1B1B"/>
                </a:solidFill>
                <a:latin typeface="Courier New" pitchFamily="34" charset="0"/>
                <a:ea typeface="Courier New" pitchFamily="34" charset="-122"/>
                <a:cs typeface="Courier New" pitchFamily="34" charset="-120"/>
              </a:rPr>
              <a:t>public class ColaPrioridadDesordenada {
    private int[] datos;   // sin ningun orden particular
    private int cantidad;
    private int capacidad;
    public ColaPrioridadDesordenada(int capacidad) {
        this.capacidad = capacidad;
        this.datos = new int[capacidad];
        this.cantidad = 0;
    }
}</a:t>
            </a:r>
            <a:endParaRPr lang="en-US" sz="1350" dirty="0"/>
          </a:p>
        </p:txBody>
      </p:sp>
      <p:sp>
        <p:nvSpPr>
          <p:cNvPr id="6" name="Text 4"/>
          <p:cNvSpPr txBox="1"/>
          <p:nvPr/>
        </p:nvSpPr>
        <p:spPr>
          <a:xfrm>
            <a:off x="7178040" y="1618488"/>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Sin invariante de orden</a:t>
            </a:r>
            <a:endParaRPr lang="en-US" sz="1400" dirty="0"/>
          </a:p>
        </p:txBody>
      </p:sp>
      <p:sp>
        <p:nvSpPr>
          <p:cNvPr id="7" name="Text 5"/>
          <p:cNvSpPr txBox="1"/>
          <p:nvPr/>
        </p:nvSpPr>
        <p:spPr>
          <a:xfrm>
            <a:off x="7178040" y="2057400"/>
            <a:ext cx="4510735" cy="201168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A diferencia de la versión ordenada, acá no hay ninguna garantía sobre cómo quedan acomodados los elementos en datos[0 .. cantidad-1]. Eso es justo lo que hace rápido a encolar() y lento a desencolar().</a:t>
            </a:r>
            <a:endParaRPr lang="en-US" sz="1300" dirty="0"/>
          </a:p>
        </p:txBody>
      </p:sp>
      <p:sp>
        <p:nvSpPr>
          <p:cNvPr id="8" name="Text 6"/>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9" name="Text 7"/>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17</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2200" b="1" dirty="0">
                <a:solidFill>
                  <a:srgbClr val="1B2A6E"/>
                </a:solidFill>
                <a:latin typeface="Cambria" pitchFamily="34" charset="0"/>
                <a:ea typeface="Cambria" pitchFamily="34" charset="-122"/>
                <a:cs typeface="Cambria" pitchFamily="34" charset="-120"/>
              </a:rPr>
              <a:t>Operaciones: encolar y desencolar (DESORDENADA)</a:t>
            </a:r>
            <a:endParaRPr lang="en-US" sz="2200" dirty="0"/>
          </a:p>
        </p:txBody>
      </p:sp>
      <p:sp>
        <p:nvSpPr>
          <p:cNvPr id="4" name="Shape 2"/>
          <p:cNvSpPr/>
          <p:nvPr/>
        </p:nvSpPr>
        <p:spPr>
          <a:xfrm>
            <a:off x="502920" y="1417320"/>
            <a:ext cx="6400800" cy="1508760"/>
          </a:xfrm>
          <a:prstGeom prst="roundRect">
            <a:avLst>
              <a:gd name="adj" fmla="val 4848"/>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40664" y="1563624"/>
            <a:ext cx="5925312" cy="1234440"/>
          </a:xfrm>
          <a:prstGeom prst="rect">
            <a:avLst/>
          </a:prstGeom>
          <a:noFill/>
          <a:ln/>
        </p:spPr>
        <p:txBody>
          <a:bodyPr wrap="square" lIns="0" tIns="0" rIns="0" bIns="0" rtlCol="0" anchor="t"/>
          <a:lstStyle/>
          <a:p>
            <a:pPr marL="0" indent="0">
              <a:lnSpc>
                <a:spcPct val="100000"/>
              </a:lnSpc>
              <a:buNone/>
            </a:pPr>
            <a:r>
              <a:rPr lang="en-US" sz="1100" dirty="0">
                <a:solidFill>
                  <a:srgbClr val="1B1B1B"/>
                </a:solidFill>
                <a:latin typeface="Courier New" pitchFamily="34" charset="0"/>
                <a:ea typeface="Courier New" pitchFamily="34" charset="-122"/>
                <a:cs typeface="Courier New" pitchFamily="34" charset="-120"/>
              </a:rPr>
              <a:t>public void encolar(int x) {
    if (esLlena()) {
        throw new RuntimeException("Cola llena");
    }
    datos[cantidad] = x;
    cantidad++;
}</a:t>
            </a:r>
            <a:endParaRPr lang="en-US" sz="1100" dirty="0"/>
          </a:p>
        </p:txBody>
      </p:sp>
      <p:sp>
        <p:nvSpPr>
          <p:cNvPr id="6" name="Shape 4"/>
          <p:cNvSpPr/>
          <p:nvPr/>
        </p:nvSpPr>
        <p:spPr>
          <a:xfrm>
            <a:off x="7178040" y="1417320"/>
            <a:ext cx="4510735" cy="1508760"/>
          </a:xfrm>
          <a:prstGeom prst="roundRect">
            <a:avLst>
              <a:gd name="adj" fmla="val 4848"/>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p:cNvSpPr txBox="1"/>
          <p:nvPr/>
        </p:nvSpPr>
        <p:spPr>
          <a:xfrm>
            <a:off x="7434072" y="1600200"/>
            <a:ext cx="3998671" cy="1179576"/>
          </a:xfrm>
          <a:prstGeom prst="rect">
            <a:avLst/>
          </a:prstGeom>
          <a:noFill/>
          <a:ln/>
        </p:spPr>
        <p:txBody>
          <a:bodyPr wrap="square" lIns="0" tIns="0" rIns="0" bIns="0" rtlCol="0" anchor="t"/>
          <a:lstStyle/>
          <a:p>
            <a:pPr marL="0" indent="0">
              <a:lnSpc>
                <a:spcPct val="115000"/>
              </a:lnSpc>
              <a:buNone/>
            </a:pPr>
            <a:r>
              <a:rPr lang="en-US" sz="1200" b="1" dirty="0">
                <a:solidFill>
                  <a:srgbClr val="1B1B1B"/>
                </a:solidFill>
                <a:latin typeface="Arial" pitchFamily="34" charset="0"/>
                <a:ea typeface="Arial" pitchFamily="34" charset="-122"/>
                <a:cs typeface="Arial" pitchFamily="34" charset="-120"/>
              </a:rPr>
              <a:t>encolar()</a:t>
            </a:r>
            <a:r>
              <a:rPr lang="en-US" sz="1200" dirty="0">
                <a:solidFill>
                  <a:srgbClr val="1B1B1B"/>
                </a:solidFill>
                <a:latin typeface="Arial" pitchFamily="34" charset="0"/>
                <a:ea typeface="Arial" pitchFamily="34" charset="-122"/>
                <a:cs typeface="Arial" pitchFamily="34" charset="-120"/>
              </a:rPr>
              <a:t> no necesita saber nada sobre prioridades: agrega x en la primera posición libre. Por eso es O(1), igual que en una cola común.</a:t>
            </a:r>
            <a:endParaRPr lang="en-US" sz="1200" dirty="0"/>
          </a:p>
        </p:txBody>
      </p:sp>
      <p:sp>
        <p:nvSpPr>
          <p:cNvPr id="8" name="Shape 6"/>
          <p:cNvSpPr/>
          <p:nvPr/>
        </p:nvSpPr>
        <p:spPr>
          <a:xfrm>
            <a:off x="502920" y="3063240"/>
            <a:ext cx="6400800" cy="3291840"/>
          </a:xfrm>
          <a:prstGeom prst="roundRect">
            <a:avLst>
              <a:gd name="adj" fmla="val 2222"/>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9" name="Text 7"/>
          <p:cNvSpPr txBox="1"/>
          <p:nvPr/>
        </p:nvSpPr>
        <p:spPr>
          <a:xfrm>
            <a:off x="704088" y="3172968"/>
            <a:ext cx="5998464" cy="3072384"/>
          </a:xfrm>
          <a:prstGeom prst="rect">
            <a:avLst/>
          </a:prstGeom>
          <a:noFill/>
          <a:ln/>
        </p:spPr>
        <p:txBody>
          <a:bodyPr wrap="square" lIns="0" tIns="0" rIns="0" bIns="0" rtlCol="0" anchor="t"/>
          <a:lstStyle/>
          <a:p>
            <a:pPr marL="0" indent="0">
              <a:lnSpc>
                <a:spcPct val="100000"/>
              </a:lnSpc>
              <a:buNone/>
            </a:pPr>
            <a:r>
              <a:rPr lang="en-US" sz="900" dirty="0">
                <a:solidFill>
                  <a:srgbClr val="1B1B1B"/>
                </a:solidFill>
                <a:latin typeface="Courier New" pitchFamily="34" charset="0"/>
                <a:ea typeface="Courier New" pitchFamily="34" charset="-122"/>
                <a:cs typeface="Courier New" pitchFamily="34" charset="-120"/>
              </a:rPr>
              <a:t>private int indiceDelMaximo() {
    int idxMax = 0;
    for (int i = 1; i &lt; cantidad; i++) {
        if (datos[i] &gt; datos[idxMax]) {
            idxMax = i;
        }
    }
    return idxMax;
}
public int desencolar() {
    if (esVacia()) throw new RuntimeException("Cola vacia");
    int idx = indiceDelMaximo();
    int maximo = datos[idx];
    datos[idx] = datos[cantidad - 1];
    cantidad--;
    return maximo;
}
public int obtenerPrimero() {
    if (esVacia()) throw new RuntimeException("Cola vacia");
    return datos[indiceDelMaximo()];
}</a:t>
            </a:r>
            <a:endParaRPr lang="en-US" sz="900" dirty="0"/>
          </a:p>
        </p:txBody>
      </p:sp>
      <p:sp>
        <p:nvSpPr>
          <p:cNvPr id="10" name="Shape 8"/>
          <p:cNvSpPr/>
          <p:nvPr/>
        </p:nvSpPr>
        <p:spPr>
          <a:xfrm>
            <a:off x="7178040" y="3063240"/>
            <a:ext cx="4510735" cy="3291840"/>
          </a:xfrm>
          <a:prstGeom prst="roundRect">
            <a:avLst>
              <a:gd name="adj" fmla="val 2222"/>
            </a:avLst>
          </a:prstGeom>
          <a:solidFill>
            <a:srgbClr val="DB9433"/>
          </a:solidFill>
          <a:ln w="12700">
            <a:solidFill>
              <a:srgbClr val="DB9433"/>
            </a:solidFill>
            <a:prstDash val="solid"/>
          </a:ln>
          <a:effectLst>
            <a:outerShdw blurRad="76200" dist="25400" dir="5400000" algn="bl" rotWithShape="0">
              <a:srgbClr val="9AA3C7">
                <a:alpha val="25000"/>
              </a:srgbClr>
            </a:outerShdw>
          </a:effectLst>
        </p:spPr>
        <p:txBody>
          <a:bodyPr/>
          <a:lstStyle/>
          <a:p>
            <a:endParaRPr lang="es-AR"/>
          </a:p>
        </p:txBody>
      </p:sp>
      <p:sp>
        <p:nvSpPr>
          <p:cNvPr id="11" name="Text 9"/>
          <p:cNvSpPr txBox="1"/>
          <p:nvPr/>
        </p:nvSpPr>
        <p:spPr>
          <a:xfrm>
            <a:off x="7452360" y="3300984"/>
            <a:ext cx="3962095" cy="365760"/>
          </a:xfrm>
          <a:prstGeom prst="rect">
            <a:avLst/>
          </a:prstGeom>
          <a:noFill/>
          <a:ln/>
        </p:spPr>
        <p:txBody>
          <a:bodyPr wrap="square" lIns="0" tIns="0" rIns="0" bIns="0" rtlCol="0" anchor="t"/>
          <a:lstStyle/>
          <a:p>
            <a:pPr marL="0" indent="0">
              <a:lnSpc>
                <a:spcPct val="115000"/>
              </a:lnSpc>
              <a:buNone/>
            </a:pPr>
            <a:r>
              <a:rPr lang="en-US" sz="1300" b="1" dirty="0">
                <a:solidFill>
                  <a:srgbClr val="FFFFFF"/>
                </a:solidFill>
                <a:latin typeface="Arial" pitchFamily="34" charset="0"/>
                <a:ea typeface="Arial" pitchFamily="34" charset="-122"/>
                <a:cs typeface="Arial" pitchFamily="34" charset="-120"/>
              </a:rPr>
              <a:t>Por qué es O(n)</a:t>
            </a:r>
            <a:endParaRPr lang="en-US" sz="1300" dirty="0"/>
          </a:p>
        </p:txBody>
      </p:sp>
      <p:sp>
        <p:nvSpPr>
          <p:cNvPr id="12" name="Text 10"/>
          <p:cNvSpPr txBox="1"/>
          <p:nvPr/>
        </p:nvSpPr>
        <p:spPr>
          <a:xfrm>
            <a:off x="7452360" y="3776472"/>
            <a:ext cx="3962095" cy="2377440"/>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Arial" pitchFamily="34" charset="0"/>
                <a:ea typeface="Arial" pitchFamily="34" charset="-122"/>
                <a:cs typeface="Arial" pitchFamily="34" charset="-120"/>
              </a:rPr>
              <a:t>No hay atajos: como los elementos no están ordenados, la única forma de saber cuál tiene mayor prioridad es recorrerlos todos. El truco de reemplazar por el último (en vez de correr todo el resto) evita un segundo O(n), pero la búsqueda inicial sigue siendo obligatoria.</a:t>
            </a:r>
            <a:endParaRPr lang="en-US" sz="1250" dirty="0"/>
          </a:p>
        </p:txBody>
      </p:sp>
      <p:sp>
        <p:nvSpPr>
          <p:cNvPr id="13" name="Text 11"/>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4" name="Text 12"/>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18</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400" b="1" dirty="0">
                <a:solidFill>
                  <a:srgbClr val="1B2A6E"/>
                </a:solidFill>
                <a:latin typeface="Cambria" pitchFamily="34" charset="0"/>
                <a:ea typeface="Cambria" pitchFamily="34" charset="-122"/>
                <a:cs typeface="Cambria" pitchFamily="34" charset="-120"/>
              </a:rPr>
              <a:t>Conjunto</a:t>
            </a:r>
            <a:endParaRPr lang="en-US" sz="3400" dirty="0"/>
          </a:p>
        </p:txBody>
      </p:sp>
      <p:sp>
        <p:nvSpPr>
          <p:cNvPr id="9" name="Text 7"/>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0" name="Text 8"/>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38</a:t>
            </a:r>
            <a:endParaRPr lang="en-US" sz="1100" dirty="0"/>
          </a:p>
        </p:txBody>
      </p:sp>
      <p:pic>
        <p:nvPicPr>
          <p:cNvPr id="11" name="conjunto">
            <a:hlinkClick r:id="" action="ppaction://media"/>
            <a:extLst>
              <a:ext uri="{FF2B5EF4-FFF2-40B4-BE49-F238E27FC236}">
                <a16:creationId xmlns:a16="http://schemas.microsoft.com/office/drawing/2014/main" id="{18F0978A-3B79-590F-BE82-77D15E3DAD0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587239" y="1163852"/>
            <a:ext cx="9017522" cy="50723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45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54FD6-0B4A-233F-0412-FE17BEEAE0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5297ADB-AEC7-A3BD-0E8F-1010359A668D}"/>
              </a:ext>
            </a:extLst>
          </p:cNvPr>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18</a:t>
            </a:r>
            <a:endParaRPr lang="en-US" sz="1200" dirty="0"/>
          </a:p>
        </p:txBody>
      </p:sp>
      <p:sp>
        <p:nvSpPr>
          <p:cNvPr id="3" name="Text 1">
            <a:extLst>
              <a:ext uri="{FF2B5EF4-FFF2-40B4-BE49-F238E27FC236}">
                <a16:creationId xmlns:a16="http://schemas.microsoft.com/office/drawing/2014/main" id="{742104B3-68D1-F13E-0E50-44E059AB354D}"/>
              </a:ext>
            </a:extLst>
          </p:cNvPr>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400" b="1" dirty="0">
                <a:solidFill>
                  <a:srgbClr val="1B2A6E"/>
                </a:solidFill>
                <a:latin typeface="Cambria" pitchFamily="34" charset="0"/>
                <a:ea typeface="Cambria" pitchFamily="34" charset="-122"/>
                <a:cs typeface="Cambria" pitchFamily="34" charset="-120"/>
              </a:rPr>
              <a:t>TDA Conjunto</a:t>
            </a:r>
            <a:endParaRPr lang="en-US" sz="3400" dirty="0"/>
          </a:p>
        </p:txBody>
      </p:sp>
      <p:sp>
        <p:nvSpPr>
          <p:cNvPr id="4" name="Shape 2">
            <a:extLst>
              <a:ext uri="{FF2B5EF4-FFF2-40B4-BE49-F238E27FC236}">
                <a16:creationId xmlns:a16="http://schemas.microsoft.com/office/drawing/2014/main" id="{F5ABC58D-6573-E746-11FE-E60B00F76F3D}"/>
              </a:ext>
            </a:extLst>
          </p:cNvPr>
          <p:cNvSpPr/>
          <p:nvPr/>
        </p:nvSpPr>
        <p:spPr>
          <a:xfrm>
            <a:off x="502920" y="1600200"/>
            <a:ext cx="685800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a:extLst>
              <a:ext uri="{FF2B5EF4-FFF2-40B4-BE49-F238E27FC236}">
                <a16:creationId xmlns:a16="http://schemas.microsoft.com/office/drawing/2014/main" id="{43560264-640A-2B63-3D01-5D8945E3DC3D}"/>
              </a:ext>
            </a:extLst>
          </p:cNvPr>
          <p:cNvSpPr txBox="1"/>
          <p:nvPr/>
        </p:nvSpPr>
        <p:spPr>
          <a:xfrm>
            <a:off x="758952" y="1801368"/>
            <a:ext cx="6345936" cy="4251960"/>
          </a:xfrm>
          <a:prstGeom prst="rect">
            <a:avLst/>
          </a:prstGeom>
          <a:noFill/>
          <a:ln/>
        </p:spPr>
        <p:txBody>
          <a:bodyPr wrap="square" lIns="0" tIns="0" rIns="0" bIns="0" rtlCol="0" anchor="t"/>
          <a:lstStyle/>
          <a:p>
            <a:pPr marL="0" indent="0">
              <a:lnSpc>
                <a:spcPct val="108000"/>
              </a:lnSpc>
              <a:buNone/>
            </a:pPr>
            <a:r>
              <a:rPr lang="en-US" sz="1250" dirty="0">
                <a:solidFill>
                  <a:srgbClr val="1B1B1B"/>
                </a:solidFill>
                <a:latin typeface="Courier New" pitchFamily="34" charset="0"/>
                <a:ea typeface="Courier New" pitchFamily="34" charset="-122"/>
                <a:cs typeface="Courier New" pitchFamily="34" charset="-120"/>
              </a:rPr>
              <a:t>TDA Conjunto
Operaciones:
</a:t>
            </a:r>
            <a:r>
              <a:rPr lang="en-US" sz="1250" b="1" dirty="0">
                <a:solidFill>
                  <a:srgbClr val="1B1B1B"/>
                </a:solidFill>
                <a:latin typeface="Courier New" pitchFamily="34" charset="0"/>
                <a:ea typeface="Courier New" pitchFamily="34" charset="-122"/>
                <a:cs typeface="Courier New" pitchFamily="34" charset="-120"/>
              </a:rPr>
              <a:t>  crear</a:t>
            </a:r>
            <a:r>
              <a:rPr lang="en-US" sz="1250" dirty="0">
                <a:solidFill>
                  <a:srgbClr val="1B1B1B"/>
                </a:solidFill>
                <a:latin typeface="Courier New" pitchFamily="34" charset="0"/>
                <a:ea typeface="Courier New" pitchFamily="34" charset="-122"/>
                <a:cs typeface="Courier New" pitchFamily="34" charset="-120"/>
              </a:rPr>
              <a:t>() -&gt; Conjunto
    post: devuelve un conjunto vacio
</a:t>
            </a:r>
            <a:r>
              <a:rPr lang="en-US" sz="1250" b="1" dirty="0">
                <a:solidFill>
                  <a:srgbClr val="1B1B1B"/>
                </a:solidFill>
                <a:latin typeface="Courier New" pitchFamily="34" charset="0"/>
                <a:ea typeface="Courier New" pitchFamily="34" charset="-122"/>
                <a:cs typeface="Courier New" pitchFamily="34" charset="-120"/>
              </a:rPr>
              <a:t>  pertenece</a:t>
            </a:r>
            <a:r>
              <a:rPr lang="en-US" sz="1250" dirty="0">
                <a:solidFill>
                  <a:srgbClr val="1B1B1B"/>
                </a:solidFill>
                <a:latin typeface="Courier New" pitchFamily="34" charset="0"/>
                <a:ea typeface="Courier New" pitchFamily="34" charset="-122"/>
                <a:cs typeface="Courier New" pitchFamily="34" charset="-120"/>
              </a:rPr>
              <a:t>(c: Conjunto, x: elemento) -&gt; boolean
    post: devuelve true si x esta en c
</a:t>
            </a:r>
            <a:r>
              <a:rPr lang="en-US" sz="1250" b="1" dirty="0">
                <a:solidFill>
                  <a:srgbClr val="1B1B1B"/>
                </a:solidFill>
                <a:latin typeface="Courier New" pitchFamily="34" charset="0"/>
                <a:ea typeface="Courier New" pitchFamily="34" charset="-122"/>
                <a:cs typeface="Courier New" pitchFamily="34" charset="-120"/>
              </a:rPr>
              <a:t>  agregar</a:t>
            </a:r>
            <a:r>
              <a:rPr lang="en-US" sz="1250" dirty="0">
                <a:solidFill>
                  <a:srgbClr val="1B1B1B"/>
                </a:solidFill>
                <a:latin typeface="Courier New" pitchFamily="34" charset="0"/>
                <a:ea typeface="Courier New" pitchFamily="34" charset="-122"/>
                <a:cs typeface="Courier New" pitchFamily="34" charset="-120"/>
              </a:rPr>
              <a:t>(c: Conjunto, x: elemento) -&gt; Conjunto
    pre:  x no pertenece a c
    post: x pertenece a c
</a:t>
            </a:r>
            <a:r>
              <a:rPr lang="en-US" sz="1250" b="1" dirty="0">
                <a:solidFill>
                  <a:srgbClr val="1B1B1B"/>
                </a:solidFill>
                <a:latin typeface="Courier New" pitchFamily="34" charset="0"/>
                <a:ea typeface="Courier New" pitchFamily="34" charset="-122"/>
                <a:cs typeface="Courier New" pitchFamily="34" charset="-120"/>
              </a:rPr>
              <a:t>  sacar</a:t>
            </a:r>
            <a:r>
              <a:rPr lang="en-US" sz="1250" dirty="0">
                <a:solidFill>
                  <a:srgbClr val="1B1B1B"/>
                </a:solidFill>
                <a:latin typeface="Courier New" pitchFamily="34" charset="0"/>
                <a:ea typeface="Courier New" pitchFamily="34" charset="-122"/>
                <a:cs typeface="Courier New" pitchFamily="34" charset="-120"/>
              </a:rPr>
              <a:t>(c: Conjunto, x: elemento) -&gt; Conjunto
    pre:  x pertenece a c
    post: x no pertenece a c
</a:t>
            </a:r>
            <a:r>
              <a:rPr lang="en-US" sz="1250" b="1" dirty="0">
                <a:solidFill>
                  <a:srgbClr val="1B1B1B"/>
                </a:solidFill>
                <a:latin typeface="Courier New" pitchFamily="34" charset="0"/>
                <a:ea typeface="Courier New" pitchFamily="34" charset="-122"/>
                <a:cs typeface="Courier New" pitchFamily="34" charset="-120"/>
              </a:rPr>
              <a:t>  esVacio</a:t>
            </a:r>
            <a:r>
              <a:rPr lang="en-US" sz="1250" dirty="0">
                <a:solidFill>
                  <a:srgbClr val="1B1B1B"/>
                </a:solidFill>
                <a:latin typeface="Courier New" pitchFamily="34" charset="0"/>
                <a:ea typeface="Courier New" pitchFamily="34" charset="-122"/>
                <a:cs typeface="Courier New" pitchFamily="34" charset="-120"/>
              </a:rPr>
              <a:t>(c: Conjunto) -&gt; boolean
    post: devuelve true si c no tiene elementos
</a:t>
            </a:r>
            <a:r>
              <a:rPr lang="en-US" sz="1250" b="1" dirty="0">
                <a:solidFill>
                  <a:srgbClr val="1B1B1B"/>
                </a:solidFill>
                <a:latin typeface="Courier New" pitchFamily="34" charset="0"/>
                <a:ea typeface="Courier New" pitchFamily="34" charset="-122"/>
                <a:cs typeface="Courier New" pitchFamily="34" charset="-120"/>
              </a:rPr>
              <a:t>  esLleno</a:t>
            </a:r>
            <a:r>
              <a:rPr lang="en-US" sz="1250" dirty="0">
                <a:solidFill>
                  <a:srgbClr val="1B1B1B"/>
                </a:solidFill>
                <a:latin typeface="Courier New" pitchFamily="34" charset="0"/>
                <a:ea typeface="Courier New" pitchFamily="34" charset="-122"/>
                <a:cs typeface="Courier New" pitchFamily="34" charset="-120"/>
              </a:rPr>
              <a:t>(c: Conjunto) -&gt; boolean
    post: devuelve true si c alcanzo su capacidad maxima</a:t>
            </a:r>
            <a:endParaRPr lang="en-US" sz="1250" dirty="0"/>
          </a:p>
        </p:txBody>
      </p:sp>
      <p:sp>
        <p:nvSpPr>
          <p:cNvPr id="6" name="Shape 4">
            <a:extLst>
              <a:ext uri="{FF2B5EF4-FFF2-40B4-BE49-F238E27FC236}">
                <a16:creationId xmlns:a16="http://schemas.microsoft.com/office/drawing/2014/main" id="{4584FB29-ADC6-38E9-25C9-6685AB93B1EE}"/>
              </a:ext>
            </a:extLst>
          </p:cNvPr>
          <p:cNvSpPr/>
          <p:nvPr/>
        </p:nvSpPr>
        <p:spPr>
          <a:xfrm>
            <a:off x="7635240" y="1600200"/>
            <a:ext cx="4053535" cy="4617720"/>
          </a:xfrm>
          <a:prstGeom prst="roundRect">
            <a:avLst>
              <a:gd name="adj" fmla="val 1805"/>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a:extLst>
              <a:ext uri="{FF2B5EF4-FFF2-40B4-BE49-F238E27FC236}">
                <a16:creationId xmlns:a16="http://schemas.microsoft.com/office/drawing/2014/main" id="{52619F02-9DD6-A895-0F33-E09CDDE5FE66}"/>
              </a:ext>
            </a:extLst>
          </p:cNvPr>
          <p:cNvSpPr txBox="1"/>
          <p:nvPr/>
        </p:nvSpPr>
        <p:spPr>
          <a:xfrm>
            <a:off x="7927848" y="1837944"/>
            <a:ext cx="3468319" cy="365760"/>
          </a:xfrm>
          <a:prstGeom prst="rect">
            <a:avLst/>
          </a:prstGeom>
          <a:noFill/>
          <a:ln/>
        </p:spPr>
        <p:txBody>
          <a:bodyPr wrap="square" lIns="0" tIns="0" rIns="0" bIns="0" rtlCol="0" anchor="t"/>
          <a:lstStyle/>
          <a:p>
            <a:pPr marL="0" indent="0">
              <a:lnSpc>
                <a:spcPct val="115000"/>
              </a:lnSpc>
              <a:buNone/>
            </a:pPr>
            <a:r>
              <a:rPr lang="en-US" sz="1500" b="1" dirty="0">
                <a:solidFill>
                  <a:srgbClr val="1B1B1B"/>
                </a:solidFill>
                <a:latin typeface="Arial" pitchFamily="34" charset="0"/>
                <a:ea typeface="Arial" pitchFamily="34" charset="-122"/>
                <a:cs typeface="Arial" pitchFamily="34" charset="-120"/>
              </a:rPr>
              <a:t>Detalle</a:t>
            </a:r>
            <a:endParaRPr lang="en-US" sz="1500" dirty="0"/>
          </a:p>
        </p:txBody>
      </p:sp>
      <p:sp>
        <p:nvSpPr>
          <p:cNvPr id="8" name="Text 6">
            <a:extLst>
              <a:ext uri="{FF2B5EF4-FFF2-40B4-BE49-F238E27FC236}">
                <a16:creationId xmlns:a16="http://schemas.microsoft.com/office/drawing/2014/main" id="{AF69091B-0D14-AA19-C701-84521B89AF6D}"/>
              </a:ext>
            </a:extLst>
          </p:cNvPr>
          <p:cNvSpPr txBox="1"/>
          <p:nvPr/>
        </p:nvSpPr>
        <p:spPr>
          <a:xfrm>
            <a:off x="7927848" y="2313432"/>
            <a:ext cx="3468319" cy="3703320"/>
          </a:xfrm>
          <a:prstGeom prst="rect">
            <a:avLst/>
          </a:prstGeom>
          <a:noFill/>
          <a:ln/>
        </p:spPr>
        <p:txBody>
          <a:bodyPr wrap="square" lIns="0" tIns="0" rIns="0" bIns="0" rtlCol="0" anchor="t"/>
          <a:lstStyle/>
          <a:p>
            <a:pPr marL="0" indent="0">
              <a:lnSpc>
                <a:spcPct val="115000"/>
              </a:lnSpc>
              <a:buNone/>
            </a:pPr>
            <a:r>
              <a:rPr lang="en-US" sz="1200" b="1" dirty="0">
                <a:solidFill>
                  <a:srgbClr val="1B1B1B"/>
                </a:solidFill>
                <a:latin typeface="Arial" pitchFamily="34" charset="0"/>
                <a:ea typeface="Arial" pitchFamily="34" charset="-122"/>
                <a:cs typeface="Arial" pitchFamily="34" charset="-120"/>
              </a:rPr>
              <a:t>Dominio: Conjunto = </a:t>
            </a:r>
            <a:r>
              <a:rPr lang="en-US" sz="1200" dirty="0">
                <a:solidFill>
                  <a:srgbClr val="1B1B1B"/>
                </a:solidFill>
                <a:latin typeface="Arial" pitchFamily="34" charset="0"/>
                <a:ea typeface="Arial" pitchFamily="34" charset="-122"/>
                <a:cs typeface="Arial" pitchFamily="34" charset="-120"/>
              </a:rPr>
              <a:t>Colección finita de elementos SIN REPETIDOS y sin ningún orden implícito — un elemento está o no está, no hay “primero” ni “último”.
</a:t>
            </a:r>
            <a:r>
              <a:rPr lang="en-US" sz="1200" b="1" dirty="0">
                <a:solidFill>
                  <a:srgbClr val="1B1B1B"/>
                </a:solidFill>
                <a:latin typeface="Arial" pitchFamily="34" charset="0"/>
                <a:ea typeface="Arial" pitchFamily="34" charset="-122"/>
                <a:cs typeface="Arial" pitchFamily="34" charset="-120"/>
              </a:rPr>
              <a:t>pertenece: </a:t>
            </a:r>
            <a:r>
              <a:rPr lang="en-US" sz="1200" dirty="0">
                <a:solidFill>
                  <a:srgbClr val="1B1B1B"/>
                </a:solidFill>
                <a:latin typeface="Arial" pitchFamily="34" charset="0"/>
                <a:ea typeface="Arial" pitchFamily="34" charset="-122"/>
                <a:cs typeface="Arial" pitchFamily="34" charset="-120"/>
              </a:rPr>
              <a:t>“la pregunta central del TDA — todo lo demás se apoya en ella”
</a:t>
            </a:r>
            <a:r>
              <a:rPr lang="en-US" sz="1200" b="1" dirty="0">
                <a:solidFill>
                  <a:srgbClr val="1B1B1B"/>
                </a:solidFill>
                <a:latin typeface="Arial" pitchFamily="34" charset="0"/>
                <a:ea typeface="Arial" pitchFamily="34" charset="-122"/>
                <a:cs typeface="Arial" pitchFamily="34" charset="-120"/>
              </a:rPr>
              <a:t>agregar: </a:t>
            </a:r>
            <a:r>
              <a:rPr lang="en-US" sz="1200" dirty="0">
                <a:solidFill>
                  <a:srgbClr val="1B1B1B"/>
                </a:solidFill>
                <a:latin typeface="Arial" pitchFamily="34" charset="0"/>
                <a:ea typeface="Arial" pitchFamily="34" charset="-122"/>
                <a:cs typeface="Arial" pitchFamily="34" charset="-120"/>
              </a:rPr>
              <a:t>“la precondición evita duplicados: no tiene sentido agregar algo que ya está”
</a:t>
            </a:r>
            <a:r>
              <a:rPr lang="en-US" sz="1200" b="1" dirty="0">
                <a:solidFill>
                  <a:srgbClr val="1B1B1B"/>
                </a:solidFill>
                <a:latin typeface="Arial" pitchFamily="34" charset="0"/>
                <a:ea typeface="Arial" pitchFamily="34" charset="-122"/>
                <a:cs typeface="Arial" pitchFamily="34" charset="-120"/>
              </a:rPr>
              <a:t>sacar: </a:t>
            </a:r>
            <a:r>
              <a:rPr lang="en-US" sz="1200" dirty="0">
                <a:solidFill>
                  <a:srgbClr val="1B1B1B"/>
                </a:solidFill>
                <a:latin typeface="Arial" pitchFamily="34" charset="0"/>
                <a:ea typeface="Arial" pitchFamily="34" charset="-122"/>
                <a:cs typeface="Arial" pitchFamily="34" charset="-120"/>
              </a:rPr>
              <a:t>“solo tiene sentido si el elemento realmente está” → de ahí la precondición</a:t>
            </a:r>
            <a:endParaRPr lang="en-US" sz="1200" dirty="0"/>
          </a:p>
        </p:txBody>
      </p:sp>
      <p:sp>
        <p:nvSpPr>
          <p:cNvPr id="9" name="Text 7">
            <a:extLst>
              <a:ext uri="{FF2B5EF4-FFF2-40B4-BE49-F238E27FC236}">
                <a16:creationId xmlns:a16="http://schemas.microsoft.com/office/drawing/2014/main" id="{A3ACCA2C-F16E-23DC-F15C-0C48D48C6081}"/>
              </a:ext>
            </a:extLst>
          </p:cNvPr>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0" name="Text 8">
            <a:extLst>
              <a:ext uri="{FF2B5EF4-FFF2-40B4-BE49-F238E27FC236}">
                <a16:creationId xmlns:a16="http://schemas.microsoft.com/office/drawing/2014/main" id="{8E3C8A38-7D57-C388-C716-ACAF4E555CE7}"/>
              </a:ext>
            </a:extLst>
          </p:cNvPr>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39</a:t>
            </a:r>
            <a:endParaRPr lang="en-US" sz="1100" dirty="0"/>
          </a:p>
        </p:txBody>
      </p:sp>
    </p:spTree>
    <p:extLst>
      <p:ext uri="{BB962C8B-B14F-4D97-AF65-F5344CB8AC3E}">
        <p14:creationId xmlns:p14="http://schemas.microsoft.com/office/powerpoint/2010/main" val="27429665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18</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000" b="1" dirty="0">
                <a:solidFill>
                  <a:srgbClr val="1B2A6E"/>
                </a:solidFill>
                <a:latin typeface="Cambria" pitchFamily="34" charset="0"/>
                <a:ea typeface="Cambria" pitchFamily="34" charset="-122"/>
                <a:cs typeface="Cambria" pitchFamily="34" charset="-120"/>
              </a:rPr>
              <a:t>¿Ordenado o desordenado?</a:t>
            </a:r>
            <a:endParaRPr lang="en-US" sz="3000" dirty="0"/>
          </a:p>
        </p:txBody>
      </p:sp>
      <p:sp>
        <p:nvSpPr>
          <p:cNvPr id="4" name="Shape 2"/>
          <p:cNvSpPr/>
          <p:nvPr/>
        </p:nvSpPr>
        <p:spPr>
          <a:xfrm>
            <a:off x="502920" y="1600200"/>
            <a:ext cx="5455768"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95528" y="1837944"/>
            <a:ext cx="4870552" cy="365760"/>
          </a:xfrm>
          <a:prstGeom prst="rect">
            <a:avLst/>
          </a:prstGeom>
          <a:noFill/>
          <a:ln/>
        </p:spPr>
        <p:txBody>
          <a:bodyPr wrap="square" lIns="0" tIns="0" rIns="0" bIns="0" rtlCol="0" anchor="t"/>
          <a:lstStyle/>
          <a:p>
            <a:pPr marL="0" indent="0">
              <a:lnSpc>
                <a:spcPct val="115000"/>
              </a:lnSpc>
              <a:buNone/>
            </a:pPr>
            <a:r>
              <a:rPr lang="en-US" sz="1500" b="1" dirty="0">
                <a:solidFill>
                  <a:srgbClr val="1B1B1B"/>
                </a:solidFill>
                <a:latin typeface="Arial" pitchFamily="34" charset="0"/>
                <a:ea typeface="Arial" pitchFamily="34" charset="-122"/>
                <a:cs typeface="Arial" pitchFamily="34" charset="-120"/>
              </a:rPr>
              <a:t>Conjunto ORDENADO</a:t>
            </a:r>
            <a:endParaRPr lang="en-US" sz="1500" dirty="0"/>
          </a:p>
        </p:txBody>
      </p:sp>
      <p:sp>
        <p:nvSpPr>
          <p:cNvPr id="6" name="Text 4"/>
          <p:cNvSpPr txBox="1"/>
          <p:nvPr/>
        </p:nvSpPr>
        <p:spPr>
          <a:xfrm>
            <a:off x="795528" y="2295144"/>
            <a:ext cx="4870552" cy="1188720"/>
          </a:xfrm>
          <a:prstGeom prst="rect">
            <a:avLst/>
          </a:prstGeom>
          <a:noFill/>
          <a:ln/>
        </p:spPr>
        <p:txBody>
          <a:bodyPr wrap="square" lIns="0" tIns="0" rIns="0" bIns="0" rtlCol="0" anchor="t"/>
          <a:lstStyle/>
          <a:p>
            <a:pPr marL="0" indent="0">
              <a:lnSpc>
                <a:spcPct val="135000"/>
              </a:lnSpc>
              <a:buNone/>
            </a:pPr>
            <a:r>
              <a:rPr lang="en-US" sz="1350" b="1" dirty="0">
                <a:solidFill>
                  <a:srgbClr val="1B1B1B"/>
                </a:solidFill>
                <a:latin typeface="Arial" pitchFamily="34" charset="0"/>
                <a:ea typeface="Arial" pitchFamily="34" charset="-122"/>
                <a:cs typeface="Arial" pitchFamily="34" charset="-120"/>
              </a:rPr>
              <a:t>pertenece():  O(log n)</a:t>
            </a:r>
            <a:r>
              <a:rPr lang="en-US" sz="1350" dirty="0">
                <a:solidFill>
                  <a:srgbClr val="1B1B1B"/>
                </a:solidFill>
                <a:latin typeface="Arial" pitchFamily="34" charset="0"/>
                <a:ea typeface="Arial" pitchFamily="34" charset="-122"/>
                <a:cs typeface="Arial" pitchFamily="34" charset="-120"/>
              </a:rPr>
              <a:t>
</a:t>
            </a:r>
            <a:r>
              <a:rPr lang="en-US" sz="1350" b="1" dirty="0">
                <a:solidFill>
                  <a:srgbClr val="1B1B1B"/>
                </a:solidFill>
                <a:latin typeface="Arial" pitchFamily="34" charset="0"/>
                <a:ea typeface="Arial" pitchFamily="34" charset="-122"/>
                <a:cs typeface="Arial" pitchFamily="34" charset="-120"/>
              </a:rPr>
              <a:t>agregar():  O(n)</a:t>
            </a:r>
            <a:r>
              <a:rPr lang="en-US" sz="1350" dirty="0">
                <a:solidFill>
                  <a:srgbClr val="1B1B1B"/>
                </a:solidFill>
                <a:latin typeface="Arial" pitchFamily="34" charset="0"/>
                <a:ea typeface="Arial" pitchFamily="34" charset="-122"/>
                <a:cs typeface="Arial" pitchFamily="34" charset="-120"/>
              </a:rPr>
              <a:t>
</a:t>
            </a:r>
            <a:r>
              <a:rPr lang="en-US" sz="1350" b="1" dirty="0">
                <a:solidFill>
                  <a:srgbClr val="1B1B1B"/>
                </a:solidFill>
                <a:latin typeface="Arial" pitchFamily="34" charset="0"/>
                <a:ea typeface="Arial" pitchFamily="34" charset="-122"/>
                <a:cs typeface="Arial" pitchFamily="34" charset="-120"/>
              </a:rPr>
              <a:t>sacar():  O(n)</a:t>
            </a:r>
            <a:endParaRPr lang="en-US" sz="1350" dirty="0"/>
          </a:p>
        </p:txBody>
      </p:sp>
      <p:sp>
        <p:nvSpPr>
          <p:cNvPr id="7" name="Text 5"/>
          <p:cNvSpPr txBox="1"/>
          <p:nvPr/>
        </p:nvSpPr>
        <p:spPr>
          <a:xfrm>
            <a:off x="795528" y="3566160"/>
            <a:ext cx="4870552" cy="242316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El array se mantiene ordenado y sin repetidos. Eso permite usar búsqueda binaria para pertenece() — solo O(log n) en vez de recorrer todo. agregar() y sacar() siguen siendo O(n): encontrar la posición es rápido, pero insertar o borrar en el medio de un array ordenado obliga a correr el resto.</a:t>
            </a:r>
            <a:endParaRPr lang="en-US" sz="1300" dirty="0"/>
          </a:p>
        </p:txBody>
      </p:sp>
      <p:sp>
        <p:nvSpPr>
          <p:cNvPr id="8" name="Shape 6"/>
          <p:cNvSpPr/>
          <p:nvPr/>
        </p:nvSpPr>
        <p:spPr>
          <a:xfrm>
            <a:off x="6233008" y="1600200"/>
            <a:ext cx="5455768"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9" name="Text 7"/>
          <p:cNvSpPr txBox="1"/>
          <p:nvPr/>
        </p:nvSpPr>
        <p:spPr>
          <a:xfrm>
            <a:off x="6525616" y="1837944"/>
            <a:ext cx="4870552" cy="365760"/>
          </a:xfrm>
          <a:prstGeom prst="rect">
            <a:avLst/>
          </a:prstGeom>
          <a:noFill/>
          <a:ln/>
        </p:spPr>
        <p:txBody>
          <a:bodyPr wrap="square" lIns="0" tIns="0" rIns="0" bIns="0" rtlCol="0" anchor="t"/>
          <a:lstStyle/>
          <a:p>
            <a:pPr marL="0" indent="0">
              <a:lnSpc>
                <a:spcPct val="115000"/>
              </a:lnSpc>
              <a:buNone/>
            </a:pPr>
            <a:r>
              <a:rPr lang="en-US" sz="1500" b="1" dirty="0">
                <a:solidFill>
                  <a:srgbClr val="1B1B1B"/>
                </a:solidFill>
                <a:latin typeface="Arial" pitchFamily="34" charset="0"/>
                <a:ea typeface="Arial" pitchFamily="34" charset="-122"/>
                <a:cs typeface="Arial" pitchFamily="34" charset="-120"/>
              </a:rPr>
              <a:t>Conjunto DESORDENADO</a:t>
            </a:r>
            <a:endParaRPr lang="en-US" sz="1500" dirty="0"/>
          </a:p>
        </p:txBody>
      </p:sp>
      <p:sp>
        <p:nvSpPr>
          <p:cNvPr id="10" name="Text 8"/>
          <p:cNvSpPr txBox="1"/>
          <p:nvPr/>
        </p:nvSpPr>
        <p:spPr>
          <a:xfrm>
            <a:off x="6525616" y="2295144"/>
            <a:ext cx="4870552" cy="1188720"/>
          </a:xfrm>
          <a:prstGeom prst="rect">
            <a:avLst/>
          </a:prstGeom>
          <a:noFill/>
          <a:ln/>
        </p:spPr>
        <p:txBody>
          <a:bodyPr wrap="square" lIns="0" tIns="0" rIns="0" bIns="0" rtlCol="0" anchor="t"/>
          <a:lstStyle/>
          <a:p>
            <a:pPr marL="0" indent="0">
              <a:lnSpc>
                <a:spcPct val="135000"/>
              </a:lnSpc>
              <a:buNone/>
            </a:pPr>
            <a:r>
              <a:rPr lang="en-US" sz="1350" b="1" dirty="0">
                <a:solidFill>
                  <a:srgbClr val="1B1B1B"/>
                </a:solidFill>
                <a:latin typeface="Arial" pitchFamily="34" charset="0"/>
                <a:ea typeface="Arial" pitchFamily="34" charset="-122"/>
                <a:cs typeface="Arial" pitchFamily="34" charset="-120"/>
              </a:rPr>
              <a:t>pertenece():  O(n)</a:t>
            </a:r>
            <a:r>
              <a:rPr lang="en-US" sz="1350" dirty="0">
                <a:solidFill>
                  <a:srgbClr val="1B1B1B"/>
                </a:solidFill>
                <a:latin typeface="Arial" pitchFamily="34" charset="0"/>
                <a:ea typeface="Arial" pitchFamily="34" charset="-122"/>
                <a:cs typeface="Arial" pitchFamily="34" charset="-120"/>
              </a:rPr>
              <a:t>
</a:t>
            </a:r>
            <a:r>
              <a:rPr lang="en-US" sz="1350" b="1" dirty="0">
                <a:solidFill>
                  <a:srgbClr val="1B1B1B"/>
                </a:solidFill>
                <a:latin typeface="Arial" pitchFamily="34" charset="0"/>
                <a:ea typeface="Arial" pitchFamily="34" charset="-122"/>
                <a:cs typeface="Arial" pitchFamily="34" charset="-120"/>
              </a:rPr>
              <a:t>agregar():  O(n)</a:t>
            </a:r>
            <a:r>
              <a:rPr lang="en-US" sz="1350" dirty="0">
                <a:solidFill>
                  <a:srgbClr val="1B1B1B"/>
                </a:solidFill>
                <a:latin typeface="Arial" pitchFamily="34" charset="0"/>
                <a:ea typeface="Arial" pitchFamily="34" charset="-122"/>
                <a:cs typeface="Arial" pitchFamily="34" charset="-120"/>
              </a:rPr>
              <a:t>
</a:t>
            </a:r>
            <a:r>
              <a:rPr lang="en-US" sz="1350" b="1" dirty="0">
                <a:solidFill>
                  <a:srgbClr val="1B1B1B"/>
                </a:solidFill>
                <a:latin typeface="Arial" pitchFamily="34" charset="0"/>
                <a:ea typeface="Arial" pitchFamily="34" charset="-122"/>
                <a:cs typeface="Arial" pitchFamily="34" charset="-120"/>
              </a:rPr>
              <a:t>sacar():  O(n)</a:t>
            </a:r>
            <a:endParaRPr lang="en-US" sz="1350" dirty="0"/>
          </a:p>
        </p:txBody>
      </p:sp>
      <p:sp>
        <p:nvSpPr>
          <p:cNvPr id="11" name="Text 9"/>
          <p:cNvSpPr txBox="1"/>
          <p:nvPr/>
        </p:nvSpPr>
        <p:spPr>
          <a:xfrm>
            <a:off x="6525616" y="3566160"/>
            <a:ext cx="4870552" cy="242316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Sin ningún orden, pertenece() tiene que recorrer todo el array en el peor caso. agregar() hereda ese mismo costo porque necesita revisar que x no esté ya. sacar(), en cambio, una vez que encontró el elemento lo borra en O(1) reemplazándolo por el último — el costo real está en la búsqueda, no en el borrado.</a:t>
            </a:r>
            <a:endParaRPr lang="en-US" sz="1300" dirty="0"/>
          </a:p>
        </p:txBody>
      </p:sp>
      <p:sp>
        <p:nvSpPr>
          <p:cNvPr id="12" name="Text 10"/>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3" name="Text 11"/>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19</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2600" b="1" dirty="0">
                <a:solidFill>
                  <a:srgbClr val="1B2A6E"/>
                </a:solidFill>
                <a:latin typeface="Cambria" pitchFamily="34" charset="0"/>
                <a:ea typeface="Cambria" pitchFamily="34" charset="-122"/>
                <a:cs typeface="Cambria" pitchFamily="34" charset="-120"/>
              </a:rPr>
              <a:t>Estructura y atributos (ORDENADO)</a:t>
            </a:r>
            <a:endParaRPr lang="en-US" sz="2600" dirty="0"/>
          </a:p>
        </p:txBody>
      </p:sp>
      <p:sp>
        <p:nvSpPr>
          <p:cNvPr id="4" name="Shape 2"/>
          <p:cNvSpPr/>
          <p:nvPr/>
        </p:nvSpPr>
        <p:spPr>
          <a:xfrm>
            <a:off x="502920" y="1600200"/>
            <a:ext cx="640080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58952" y="1819656"/>
            <a:ext cx="5888736" cy="4251960"/>
          </a:xfrm>
          <a:prstGeom prst="rect">
            <a:avLst/>
          </a:prstGeom>
          <a:noFill/>
          <a:ln/>
        </p:spPr>
        <p:txBody>
          <a:bodyPr wrap="square" lIns="0" tIns="0" rIns="0" bIns="0" rtlCol="0" anchor="t"/>
          <a:lstStyle/>
          <a:p>
            <a:pPr marL="0" indent="0">
              <a:lnSpc>
                <a:spcPct val="108000"/>
              </a:lnSpc>
              <a:buNone/>
            </a:pPr>
            <a:r>
              <a:rPr lang="en-US" sz="1350" dirty="0">
                <a:solidFill>
                  <a:srgbClr val="1B1B1B"/>
                </a:solidFill>
                <a:latin typeface="Courier New" pitchFamily="34" charset="0"/>
                <a:ea typeface="Courier New" pitchFamily="34" charset="-122"/>
                <a:cs typeface="Courier New" pitchFamily="34" charset="-120"/>
              </a:rPr>
              <a:t>public class ConjuntoOrdenado {
    private int[] datos;   // ordenado, sin repetidos
    private int cantidad;
    private int capacidad;
    public ConjuntoOrdenado(int capacidad) {
        this.capacidad = capacidad;
        this.datos = new int[capacidad];
        this.cantidad = 0;
    }
}</a:t>
            </a:r>
            <a:endParaRPr lang="en-US" sz="1350" dirty="0"/>
          </a:p>
        </p:txBody>
      </p:sp>
      <p:sp>
        <p:nvSpPr>
          <p:cNvPr id="6" name="Text 4"/>
          <p:cNvSpPr txBox="1"/>
          <p:nvPr/>
        </p:nvSpPr>
        <p:spPr>
          <a:xfrm>
            <a:off x="7178040" y="1618488"/>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El invariante clave</a:t>
            </a:r>
            <a:endParaRPr lang="en-US" sz="1400" dirty="0"/>
          </a:p>
        </p:txBody>
      </p:sp>
      <p:sp>
        <p:nvSpPr>
          <p:cNvPr id="7" name="Text 5"/>
          <p:cNvSpPr txBox="1"/>
          <p:nvPr/>
        </p:nvSpPr>
        <p:spPr>
          <a:xfrm>
            <a:off x="7178040" y="2057400"/>
            <a:ext cx="4510735" cy="173736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datos[0 .. cantidad-1] está siempre ordenado y sin elementos repetidos. Ese orden es lo que va a permitir usar búsqueda binaria en pertenece().</a:t>
            </a:r>
            <a:endParaRPr lang="en-US" sz="1300" dirty="0"/>
          </a:p>
        </p:txBody>
      </p:sp>
      <p:sp>
        <p:nvSpPr>
          <p:cNvPr id="8" name="Text 6"/>
          <p:cNvSpPr txBox="1"/>
          <p:nvPr/>
        </p:nvSpPr>
        <p:spPr>
          <a:xfrm>
            <a:off x="7178040" y="4069080"/>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Corresponde a crear()</a:t>
            </a:r>
            <a:endParaRPr lang="en-US" sz="1400" dirty="0"/>
          </a:p>
        </p:txBody>
      </p:sp>
      <p:sp>
        <p:nvSpPr>
          <p:cNvPr id="9" name="Text 7"/>
          <p:cNvSpPr txBox="1"/>
          <p:nvPr/>
        </p:nvSpPr>
        <p:spPr>
          <a:xfrm>
            <a:off x="7178040" y="4507992"/>
            <a:ext cx="4510735" cy="118872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El constructor es la traducción directa de crear() → Conjunto, igual que en Pila, Cola y ColaPrioridad.</a:t>
            </a:r>
            <a:endParaRPr lang="en-US" sz="1300" dirty="0"/>
          </a:p>
        </p:txBody>
      </p:sp>
      <p:sp>
        <p:nvSpPr>
          <p:cNvPr id="10" name="Text 8"/>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1" name="Text 9"/>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19</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2000" b="1" dirty="0">
                <a:solidFill>
                  <a:srgbClr val="1B2A6E"/>
                </a:solidFill>
                <a:latin typeface="Cambria" pitchFamily="34" charset="0"/>
                <a:ea typeface="Cambria" pitchFamily="34" charset="-122"/>
                <a:cs typeface="Cambria" pitchFamily="34" charset="-120"/>
              </a:rPr>
              <a:t>Operación pertenece() — búsqueda binaria (ORDENADO)</a:t>
            </a:r>
            <a:endParaRPr lang="en-US" sz="2000" dirty="0"/>
          </a:p>
        </p:txBody>
      </p:sp>
      <p:sp>
        <p:nvSpPr>
          <p:cNvPr id="4" name="Shape 2"/>
          <p:cNvSpPr/>
          <p:nvPr/>
        </p:nvSpPr>
        <p:spPr>
          <a:xfrm>
            <a:off x="502920" y="1417320"/>
            <a:ext cx="6400800" cy="1783080"/>
          </a:xfrm>
          <a:prstGeom prst="roundRect">
            <a:avLst>
              <a:gd name="adj" fmla="val 4103"/>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04088" y="1545336"/>
            <a:ext cx="5998464" cy="1545336"/>
          </a:xfrm>
          <a:prstGeom prst="rect">
            <a:avLst/>
          </a:prstGeom>
          <a:noFill/>
          <a:ln/>
        </p:spPr>
        <p:txBody>
          <a:bodyPr wrap="square" lIns="0" tIns="0" rIns="0" bIns="0" rtlCol="0" anchor="t"/>
          <a:lstStyle/>
          <a:p>
            <a:pPr marL="0" indent="0">
              <a:lnSpc>
                <a:spcPct val="100000"/>
              </a:lnSpc>
              <a:buNone/>
            </a:pPr>
            <a:r>
              <a:rPr lang="en-US" sz="950" dirty="0">
                <a:solidFill>
                  <a:srgbClr val="1B1B1B"/>
                </a:solidFill>
                <a:latin typeface="Courier New" pitchFamily="34" charset="0"/>
                <a:ea typeface="Courier New" pitchFamily="34" charset="-122"/>
                <a:cs typeface="Courier New" pitchFamily="34" charset="-120"/>
              </a:rPr>
              <a:t>public void agregar(int x) {
    if (esLleno()) throw new RuntimeException("Conjunto lleno");
    if (pertenece(x)) throw new IllegalArgumentException("x ya esta");
    int i = cantidad - 1;
    while (i &gt;= 0 &amp;&amp; datos[i] &gt; x) {
        datos[i + 1] = datos[i];
        i--;
    }
    datos[i + 1] = x;
    cantidad++;
}</a:t>
            </a:r>
            <a:endParaRPr lang="en-US" sz="950" dirty="0"/>
          </a:p>
        </p:txBody>
      </p:sp>
      <p:sp>
        <p:nvSpPr>
          <p:cNvPr id="6" name="Shape 4"/>
          <p:cNvSpPr/>
          <p:nvPr/>
        </p:nvSpPr>
        <p:spPr>
          <a:xfrm>
            <a:off x="7178040" y="1417320"/>
            <a:ext cx="4510735" cy="1783080"/>
          </a:xfrm>
          <a:prstGeom prst="roundRect">
            <a:avLst>
              <a:gd name="adj" fmla="val 4103"/>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p:cNvSpPr txBox="1"/>
          <p:nvPr/>
        </p:nvSpPr>
        <p:spPr>
          <a:xfrm>
            <a:off x="7434072" y="1600200"/>
            <a:ext cx="3998671" cy="1453896"/>
          </a:xfrm>
          <a:prstGeom prst="rect">
            <a:avLst/>
          </a:prstGeom>
          <a:noFill/>
          <a:ln/>
        </p:spPr>
        <p:txBody>
          <a:bodyPr wrap="square" lIns="0" tIns="0" rIns="0" bIns="0" rtlCol="0" anchor="t"/>
          <a:lstStyle/>
          <a:p>
            <a:pPr marL="0" indent="0">
              <a:lnSpc>
                <a:spcPct val="115000"/>
              </a:lnSpc>
              <a:buNone/>
            </a:pPr>
            <a:r>
              <a:rPr lang="en-US" sz="1250" b="1" dirty="0">
                <a:solidFill>
                  <a:srgbClr val="1B1B1B"/>
                </a:solidFill>
                <a:latin typeface="Arial" pitchFamily="34" charset="0"/>
                <a:ea typeface="Arial" pitchFamily="34" charset="-122"/>
                <a:cs typeface="Arial" pitchFamily="34" charset="-120"/>
              </a:rPr>
              <a:t>agregar()</a:t>
            </a:r>
            <a:r>
              <a:rPr lang="en-US" sz="1250" dirty="0">
                <a:solidFill>
                  <a:srgbClr val="1B1B1B"/>
                </a:solidFill>
                <a:latin typeface="Arial" pitchFamily="34" charset="0"/>
                <a:ea typeface="Arial" pitchFamily="34" charset="-122"/>
                <a:cs typeface="Arial" pitchFamily="34" charset="-120"/>
              </a:rPr>
              <a:t> todavía tiene que correr elementos para mantener el orden — sigue siendo O(n), igual que en un conjunto desordenado. La búsqueda de duplicados es rápida (O(log n)); lo caro es el corrimiento.</a:t>
            </a:r>
            <a:endParaRPr lang="en-US" sz="1250" dirty="0"/>
          </a:p>
        </p:txBody>
      </p:sp>
      <p:sp>
        <p:nvSpPr>
          <p:cNvPr id="8" name="Shape 6"/>
          <p:cNvSpPr/>
          <p:nvPr/>
        </p:nvSpPr>
        <p:spPr>
          <a:xfrm>
            <a:off x="502920" y="3337560"/>
            <a:ext cx="6400800" cy="3017520"/>
          </a:xfrm>
          <a:prstGeom prst="roundRect">
            <a:avLst>
              <a:gd name="adj" fmla="val 242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9" name="Text 7"/>
          <p:cNvSpPr txBox="1"/>
          <p:nvPr/>
        </p:nvSpPr>
        <p:spPr>
          <a:xfrm>
            <a:off x="704088" y="3447288"/>
            <a:ext cx="5998464" cy="2798064"/>
          </a:xfrm>
          <a:prstGeom prst="rect">
            <a:avLst/>
          </a:prstGeom>
          <a:noFill/>
          <a:ln/>
        </p:spPr>
        <p:txBody>
          <a:bodyPr wrap="square" lIns="0" tIns="0" rIns="0" bIns="0" rtlCol="0" anchor="t"/>
          <a:lstStyle/>
          <a:p>
            <a:pPr marL="0" indent="0">
              <a:lnSpc>
                <a:spcPct val="100000"/>
              </a:lnSpc>
              <a:buNone/>
            </a:pPr>
            <a:r>
              <a:rPr lang="en-US" sz="900" dirty="0">
                <a:solidFill>
                  <a:srgbClr val="1B1B1B"/>
                </a:solidFill>
                <a:latin typeface="Courier New" pitchFamily="34" charset="0"/>
                <a:ea typeface="Courier New" pitchFamily="34" charset="-122"/>
                <a:cs typeface="Courier New" pitchFamily="34" charset="-120"/>
              </a:rPr>
              <a:t>public boolean pertenece(int x) {
    return indiceDe(x) != -1;
}
private int indiceDe(int x) {
    int izq = 0, der = cantidad - 1;
    while (izq &lt;= der) {
        int medio = (izq + der) / 2;
        if (datos[medio] == x) {
            return medio;
        } else if (datos[medio] &lt; x) {
            izq = medio + 1;
        } else {
            der = medio - 1;
        }
    }
    return -1;
}</a:t>
            </a:r>
            <a:endParaRPr lang="en-US" sz="900" dirty="0"/>
          </a:p>
        </p:txBody>
      </p:sp>
      <p:sp>
        <p:nvSpPr>
          <p:cNvPr id="10" name="Shape 8"/>
          <p:cNvSpPr/>
          <p:nvPr/>
        </p:nvSpPr>
        <p:spPr>
          <a:xfrm>
            <a:off x="7178040" y="3337560"/>
            <a:ext cx="4510735" cy="3017520"/>
          </a:xfrm>
          <a:prstGeom prst="roundRect">
            <a:avLst>
              <a:gd name="adj" fmla="val 2424"/>
            </a:avLst>
          </a:prstGeom>
          <a:solidFill>
            <a:srgbClr val="1BAF7A"/>
          </a:solidFill>
          <a:ln w="12700">
            <a:solidFill>
              <a:srgbClr val="1BAF7A"/>
            </a:solidFill>
            <a:prstDash val="solid"/>
          </a:ln>
          <a:effectLst>
            <a:outerShdw blurRad="76200" dist="25400" dir="5400000" algn="bl" rotWithShape="0">
              <a:srgbClr val="9AA3C7">
                <a:alpha val="25000"/>
              </a:srgbClr>
            </a:outerShdw>
          </a:effectLst>
        </p:spPr>
        <p:txBody>
          <a:bodyPr/>
          <a:lstStyle/>
          <a:p>
            <a:endParaRPr lang="es-AR"/>
          </a:p>
        </p:txBody>
      </p:sp>
      <p:sp>
        <p:nvSpPr>
          <p:cNvPr id="11" name="Text 9"/>
          <p:cNvSpPr txBox="1"/>
          <p:nvPr/>
        </p:nvSpPr>
        <p:spPr>
          <a:xfrm>
            <a:off x="7452360" y="3575304"/>
            <a:ext cx="3962095" cy="365760"/>
          </a:xfrm>
          <a:prstGeom prst="rect">
            <a:avLst/>
          </a:prstGeom>
          <a:noFill/>
          <a:ln/>
        </p:spPr>
        <p:txBody>
          <a:bodyPr wrap="square" lIns="0" tIns="0" rIns="0" bIns="0" rtlCol="0" anchor="t"/>
          <a:lstStyle/>
          <a:p>
            <a:pPr marL="0" indent="0">
              <a:lnSpc>
                <a:spcPct val="115000"/>
              </a:lnSpc>
              <a:buNone/>
            </a:pPr>
            <a:r>
              <a:rPr lang="en-US" sz="1300" b="1" dirty="0">
                <a:solidFill>
                  <a:srgbClr val="FFFFFF"/>
                </a:solidFill>
                <a:latin typeface="Arial" pitchFamily="34" charset="0"/>
                <a:ea typeface="Arial" pitchFamily="34" charset="-122"/>
                <a:cs typeface="Arial" pitchFamily="34" charset="-120"/>
              </a:rPr>
              <a:t>Por qué es O(log n)</a:t>
            </a:r>
            <a:endParaRPr lang="en-US" sz="1300" dirty="0"/>
          </a:p>
        </p:txBody>
      </p:sp>
      <p:sp>
        <p:nvSpPr>
          <p:cNvPr id="12" name="Text 10"/>
          <p:cNvSpPr txBox="1"/>
          <p:nvPr/>
        </p:nvSpPr>
        <p:spPr>
          <a:xfrm>
            <a:off x="7452360" y="4050792"/>
            <a:ext cx="3962095" cy="2103120"/>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Arial" pitchFamily="34" charset="0"/>
                <a:ea typeface="Arial" pitchFamily="34" charset="-122"/>
                <a:cs typeface="Arial" pitchFamily="34" charset="-120"/>
              </a:rPr>
              <a:t>Como el array está ordenado, en cada paso se puede descartar la mitad de lo que queda por revisar: mirar el medio y decidir si x está a la izquierda o a la derecha. Eso es exactamente lo que hace posible una búsqueda binaria.</a:t>
            </a:r>
            <a:endParaRPr lang="en-US" sz="1250" dirty="0"/>
          </a:p>
        </p:txBody>
      </p:sp>
      <p:sp>
        <p:nvSpPr>
          <p:cNvPr id="13" name="Text 11"/>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4" name="Text 12"/>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20</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2600" b="1" dirty="0">
                <a:solidFill>
                  <a:srgbClr val="1B2A6E"/>
                </a:solidFill>
                <a:latin typeface="Cambria" pitchFamily="34" charset="0"/>
                <a:ea typeface="Cambria" pitchFamily="34" charset="-122"/>
                <a:cs typeface="Cambria" pitchFamily="34" charset="-120"/>
              </a:rPr>
              <a:t>Estructura y atributos (DESORDENADO)</a:t>
            </a:r>
            <a:endParaRPr lang="en-US" sz="2600" dirty="0"/>
          </a:p>
        </p:txBody>
      </p:sp>
      <p:sp>
        <p:nvSpPr>
          <p:cNvPr id="4" name="Shape 2"/>
          <p:cNvSpPr/>
          <p:nvPr/>
        </p:nvSpPr>
        <p:spPr>
          <a:xfrm>
            <a:off x="502920" y="1600200"/>
            <a:ext cx="640080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58952" y="1819656"/>
            <a:ext cx="5888736" cy="4251960"/>
          </a:xfrm>
          <a:prstGeom prst="rect">
            <a:avLst/>
          </a:prstGeom>
          <a:noFill/>
          <a:ln/>
        </p:spPr>
        <p:txBody>
          <a:bodyPr wrap="square" lIns="0" tIns="0" rIns="0" bIns="0" rtlCol="0" anchor="t"/>
          <a:lstStyle/>
          <a:p>
            <a:pPr marL="0" indent="0">
              <a:lnSpc>
                <a:spcPct val="108000"/>
              </a:lnSpc>
              <a:buNone/>
            </a:pPr>
            <a:r>
              <a:rPr lang="en-US" sz="1350" dirty="0">
                <a:solidFill>
                  <a:srgbClr val="1B1B1B"/>
                </a:solidFill>
                <a:latin typeface="Courier New" pitchFamily="34" charset="0"/>
                <a:ea typeface="Courier New" pitchFamily="34" charset="-122"/>
                <a:cs typeface="Courier New" pitchFamily="34" charset="-120"/>
              </a:rPr>
              <a:t>public class ConjuntoDesordenado {
    private int[] datos;   // sin orden, sin repetidos
    private int cantidad;
    private int capacidad;
    public ConjuntoDesordenado(int capacidad) {
        this.capacidad = capacidad;
        this.datos = new int[capacidad];
        this.cantidad = 0;
    }
}</a:t>
            </a:r>
            <a:endParaRPr lang="en-US" sz="1350" dirty="0"/>
          </a:p>
        </p:txBody>
      </p:sp>
      <p:sp>
        <p:nvSpPr>
          <p:cNvPr id="6" name="Text 4"/>
          <p:cNvSpPr txBox="1"/>
          <p:nvPr/>
        </p:nvSpPr>
        <p:spPr>
          <a:xfrm>
            <a:off x="7178040" y="1618488"/>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Sin invariante de orden</a:t>
            </a:r>
            <a:endParaRPr lang="en-US" sz="1400" dirty="0"/>
          </a:p>
        </p:txBody>
      </p:sp>
      <p:sp>
        <p:nvSpPr>
          <p:cNvPr id="7" name="Text 5"/>
          <p:cNvSpPr txBox="1"/>
          <p:nvPr/>
        </p:nvSpPr>
        <p:spPr>
          <a:xfrm>
            <a:off x="7178040" y="2057400"/>
            <a:ext cx="4510735" cy="210312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datos[0 .. cantidad-1] no tiene ningún orden particular, aunque igual nunca tiene repetidos (eso lo garantiza agregar()). Sin orden no hay forma de "saltear" mitades: pertenece() tiene que mirar todo.</a:t>
            </a:r>
            <a:endParaRPr lang="en-US" sz="1300" dirty="0"/>
          </a:p>
        </p:txBody>
      </p:sp>
      <p:sp>
        <p:nvSpPr>
          <p:cNvPr id="8" name="Text 6"/>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9" name="Text 7"/>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20</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1900" b="1" dirty="0">
                <a:solidFill>
                  <a:srgbClr val="1B2A6E"/>
                </a:solidFill>
                <a:latin typeface="Cambria" pitchFamily="34" charset="0"/>
                <a:ea typeface="Cambria" pitchFamily="34" charset="-122"/>
                <a:cs typeface="Cambria" pitchFamily="34" charset="-120"/>
              </a:rPr>
              <a:t>Operaciones: pertenece, agregar y sacar (DESORDENADO)</a:t>
            </a:r>
            <a:endParaRPr lang="en-US" sz="1900" dirty="0"/>
          </a:p>
        </p:txBody>
      </p:sp>
      <p:sp>
        <p:nvSpPr>
          <p:cNvPr id="4" name="Shape 2"/>
          <p:cNvSpPr/>
          <p:nvPr/>
        </p:nvSpPr>
        <p:spPr>
          <a:xfrm>
            <a:off x="502920" y="1417320"/>
            <a:ext cx="6400800" cy="1554480"/>
          </a:xfrm>
          <a:prstGeom prst="roundRect">
            <a:avLst>
              <a:gd name="adj" fmla="val 4706"/>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22376" y="1545336"/>
            <a:ext cx="5961888" cy="1316736"/>
          </a:xfrm>
          <a:prstGeom prst="rect">
            <a:avLst/>
          </a:prstGeom>
          <a:noFill/>
          <a:ln/>
        </p:spPr>
        <p:txBody>
          <a:bodyPr wrap="square" lIns="0" tIns="0" rIns="0" bIns="0" rtlCol="0" anchor="t"/>
          <a:lstStyle/>
          <a:p>
            <a:pPr marL="0" indent="0">
              <a:lnSpc>
                <a:spcPct val="100000"/>
              </a:lnSpc>
              <a:buNone/>
            </a:pPr>
            <a:r>
              <a:rPr lang="en-US" sz="950" dirty="0">
                <a:solidFill>
                  <a:srgbClr val="1B1B1B"/>
                </a:solidFill>
                <a:latin typeface="Courier New" pitchFamily="34" charset="0"/>
                <a:ea typeface="Courier New" pitchFamily="34" charset="-122"/>
                <a:cs typeface="Courier New" pitchFamily="34" charset="-120"/>
              </a:rPr>
              <a:t>private int indiceDe(int x) {
    for (int i = 0; i &lt; cantidad; i++) {
        if (datos[i] == x) return i;
    }
    return -1;
}
public boolean pertenece(int x) {
    return indiceDe(x) != -1;
}</a:t>
            </a:r>
            <a:endParaRPr lang="en-US" sz="950" dirty="0"/>
          </a:p>
        </p:txBody>
      </p:sp>
      <p:sp>
        <p:nvSpPr>
          <p:cNvPr id="6" name="Shape 4"/>
          <p:cNvSpPr/>
          <p:nvPr/>
        </p:nvSpPr>
        <p:spPr>
          <a:xfrm>
            <a:off x="7178040" y="1417320"/>
            <a:ext cx="4510735" cy="1554480"/>
          </a:xfrm>
          <a:prstGeom prst="roundRect">
            <a:avLst>
              <a:gd name="adj" fmla="val 4706"/>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p:cNvSpPr txBox="1"/>
          <p:nvPr/>
        </p:nvSpPr>
        <p:spPr>
          <a:xfrm>
            <a:off x="7434072" y="1581912"/>
            <a:ext cx="3998671" cy="1261872"/>
          </a:xfrm>
          <a:prstGeom prst="rect">
            <a:avLst/>
          </a:prstGeom>
          <a:noFill/>
          <a:ln/>
        </p:spPr>
        <p:txBody>
          <a:bodyPr wrap="square" lIns="0" tIns="0" rIns="0" bIns="0" rtlCol="0" anchor="t"/>
          <a:lstStyle/>
          <a:p>
            <a:pPr marL="0" indent="0">
              <a:lnSpc>
                <a:spcPct val="115000"/>
              </a:lnSpc>
              <a:buNone/>
            </a:pPr>
            <a:r>
              <a:rPr lang="en-US" sz="1200" b="1" dirty="0">
                <a:solidFill>
                  <a:srgbClr val="1B1B1B"/>
                </a:solidFill>
                <a:latin typeface="Arial" pitchFamily="34" charset="0"/>
                <a:ea typeface="Arial" pitchFamily="34" charset="-122"/>
                <a:cs typeface="Arial" pitchFamily="34" charset="-120"/>
              </a:rPr>
              <a:t>pertenece()</a:t>
            </a:r>
            <a:r>
              <a:rPr lang="en-US" sz="1200" dirty="0">
                <a:solidFill>
                  <a:srgbClr val="1B1B1B"/>
                </a:solidFill>
                <a:latin typeface="Arial" pitchFamily="34" charset="0"/>
                <a:ea typeface="Arial" pitchFamily="34" charset="-122"/>
                <a:cs typeface="Arial" pitchFamily="34" charset="-120"/>
              </a:rPr>
              <a:t> recorre el array hasta encontrar x (o hasta el final, si no está). Sin orden, no hay ningún atajo posible: en el peor caso hay que mirar los n elementos.</a:t>
            </a:r>
            <a:endParaRPr lang="en-US" sz="1200" dirty="0"/>
          </a:p>
        </p:txBody>
      </p:sp>
      <p:sp>
        <p:nvSpPr>
          <p:cNvPr id="8" name="Shape 6"/>
          <p:cNvSpPr/>
          <p:nvPr/>
        </p:nvSpPr>
        <p:spPr>
          <a:xfrm>
            <a:off x="502920" y="3108960"/>
            <a:ext cx="6400800" cy="3200400"/>
          </a:xfrm>
          <a:prstGeom prst="roundRect">
            <a:avLst>
              <a:gd name="adj" fmla="val 2286"/>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9" name="Text 7"/>
          <p:cNvSpPr txBox="1"/>
          <p:nvPr/>
        </p:nvSpPr>
        <p:spPr>
          <a:xfrm>
            <a:off x="704088" y="3236976"/>
            <a:ext cx="5998464" cy="2962656"/>
          </a:xfrm>
          <a:prstGeom prst="rect">
            <a:avLst/>
          </a:prstGeom>
          <a:noFill/>
          <a:ln/>
        </p:spPr>
        <p:txBody>
          <a:bodyPr wrap="square" lIns="0" tIns="0" rIns="0" bIns="0" rtlCol="0" anchor="t"/>
          <a:lstStyle/>
          <a:p>
            <a:pPr marL="0" indent="0">
              <a:lnSpc>
                <a:spcPct val="100000"/>
              </a:lnSpc>
              <a:buNone/>
            </a:pPr>
            <a:r>
              <a:rPr lang="en-US" sz="950" dirty="0">
                <a:solidFill>
                  <a:srgbClr val="1B1B1B"/>
                </a:solidFill>
                <a:latin typeface="Courier New" pitchFamily="34" charset="0"/>
                <a:ea typeface="Courier New" pitchFamily="34" charset="-122"/>
                <a:cs typeface="Courier New" pitchFamily="34" charset="-120"/>
              </a:rPr>
              <a:t>public void agregar(int x) {
    if (esLleno()) throw new RuntimeException("Conjunto lleno");
    if (pertenece(x)) throw new IllegalArgumentException("x ya esta");
    datos[cantidad] = x;
    cantidad++;
}
public void sacar(int x) {
    int idx = indiceDe(x);
    if (idx == -1) throw new IllegalArgumentException("x no esta");
    datos[idx] = datos[cantidad - 1];
    cantidad--;
}</a:t>
            </a:r>
            <a:endParaRPr lang="en-US" sz="950" dirty="0"/>
          </a:p>
        </p:txBody>
      </p:sp>
      <p:sp>
        <p:nvSpPr>
          <p:cNvPr id="10" name="Shape 8"/>
          <p:cNvSpPr/>
          <p:nvPr/>
        </p:nvSpPr>
        <p:spPr>
          <a:xfrm>
            <a:off x="7178040" y="3108960"/>
            <a:ext cx="4510735" cy="3200400"/>
          </a:xfrm>
          <a:prstGeom prst="roundRect">
            <a:avLst>
              <a:gd name="adj" fmla="val 2286"/>
            </a:avLst>
          </a:prstGeom>
          <a:solidFill>
            <a:srgbClr val="DB9433"/>
          </a:solidFill>
          <a:ln w="12700">
            <a:solidFill>
              <a:srgbClr val="DB9433"/>
            </a:solidFill>
            <a:prstDash val="solid"/>
          </a:ln>
          <a:effectLst>
            <a:outerShdw blurRad="76200" dist="25400" dir="5400000" algn="bl" rotWithShape="0">
              <a:srgbClr val="9AA3C7">
                <a:alpha val="25000"/>
              </a:srgbClr>
            </a:outerShdw>
          </a:effectLst>
        </p:spPr>
        <p:txBody>
          <a:bodyPr/>
          <a:lstStyle/>
          <a:p>
            <a:endParaRPr lang="es-AR"/>
          </a:p>
        </p:txBody>
      </p:sp>
      <p:sp>
        <p:nvSpPr>
          <p:cNvPr id="11" name="Text 9"/>
          <p:cNvSpPr txBox="1"/>
          <p:nvPr/>
        </p:nvSpPr>
        <p:spPr>
          <a:xfrm>
            <a:off x="7452360" y="3346704"/>
            <a:ext cx="3962095" cy="548640"/>
          </a:xfrm>
          <a:prstGeom prst="rect">
            <a:avLst/>
          </a:prstGeom>
          <a:noFill/>
          <a:ln/>
        </p:spPr>
        <p:txBody>
          <a:bodyPr wrap="square" lIns="0" tIns="0" rIns="0" bIns="0" rtlCol="0" anchor="t"/>
          <a:lstStyle/>
          <a:p>
            <a:pPr marL="0" indent="0">
              <a:lnSpc>
                <a:spcPct val="115000"/>
              </a:lnSpc>
              <a:buNone/>
            </a:pPr>
            <a:r>
              <a:rPr lang="en-US" sz="1300" b="1" dirty="0">
                <a:solidFill>
                  <a:srgbClr val="FFFFFF"/>
                </a:solidFill>
                <a:latin typeface="Arial" pitchFamily="34" charset="0"/>
                <a:ea typeface="Arial" pitchFamily="34" charset="-122"/>
                <a:cs typeface="Arial" pitchFamily="34" charset="-120"/>
              </a:rPr>
              <a:t>La búsqueda manda, no el borrado</a:t>
            </a:r>
            <a:endParaRPr lang="en-US" sz="1300" dirty="0"/>
          </a:p>
        </p:txBody>
      </p:sp>
      <p:sp>
        <p:nvSpPr>
          <p:cNvPr id="12" name="Text 10"/>
          <p:cNvSpPr txBox="1"/>
          <p:nvPr/>
        </p:nvSpPr>
        <p:spPr>
          <a:xfrm>
            <a:off x="7452360" y="3931920"/>
            <a:ext cx="3962095" cy="2194560"/>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Arial" pitchFamily="34" charset="0"/>
                <a:ea typeface="Arial" pitchFamily="34" charset="-122"/>
                <a:cs typeface="Arial" pitchFamily="34" charset="-120"/>
              </a:rPr>
              <a:t>agregar() es O(n) por el chequeo de duplicados (pertenece()), no por el append, que es O(1). sacar() aprovecha que el orden no importa: una vez encontrado el índice, reemplaza por el último elemento — O(1). Lo único caro en toda la clase es encontrar el índice.</a:t>
            </a:r>
            <a:endParaRPr lang="en-US" sz="1250" dirty="0"/>
          </a:p>
        </p:txBody>
      </p:sp>
      <p:sp>
        <p:nvSpPr>
          <p:cNvPr id="13" name="Text 11"/>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4" name="Text 12"/>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21</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400" b="1" dirty="0" err="1">
                <a:solidFill>
                  <a:srgbClr val="1B2A6E"/>
                </a:solidFill>
                <a:latin typeface="Cambria" pitchFamily="34" charset="0"/>
                <a:ea typeface="Cambria" pitchFamily="34" charset="-122"/>
                <a:cs typeface="Cambria" pitchFamily="34" charset="-120"/>
              </a:rPr>
              <a:t>Diccionario</a:t>
            </a:r>
            <a:endParaRPr lang="en-US" sz="3400" dirty="0"/>
          </a:p>
        </p:txBody>
      </p:sp>
      <p:sp>
        <p:nvSpPr>
          <p:cNvPr id="9" name="Text 7"/>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0" name="Text 8"/>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45</a:t>
            </a:r>
            <a:endParaRPr lang="en-US" sz="1100" dirty="0"/>
          </a:p>
        </p:txBody>
      </p:sp>
      <p:pic>
        <p:nvPicPr>
          <p:cNvPr id="11" name="diccionario_simple">
            <a:hlinkClick r:id="" action="ppaction://media"/>
            <a:extLst>
              <a:ext uri="{FF2B5EF4-FFF2-40B4-BE49-F238E27FC236}">
                <a16:creationId xmlns:a16="http://schemas.microsoft.com/office/drawing/2014/main" id="{4EC8BC5D-65D4-D090-4C71-36F04E6102A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557540" y="1130441"/>
            <a:ext cx="9076919" cy="51057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83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A8E77-98ED-F7F3-57A9-C2012F83B4E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65F1C27-0EE2-C151-31B3-822726A04FEC}"/>
              </a:ext>
            </a:extLst>
          </p:cNvPr>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21</a:t>
            </a:r>
            <a:endParaRPr lang="en-US" sz="1200" dirty="0"/>
          </a:p>
        </p:txBody>
      </p:sp>
      <p:sp>
        <p:nvSpPr>
          <p:cNvPr id="3" name="Text 1">
            <a:extLst>
              <a:ext uri="{FF2B5EF4-FFF2-40B4-BE49-F238E27FC236}">
                <a16:creationId xmlns:a16="http://schemas.microsoft.com/office/drawing/2014/main" id="{08479F5F-0AB7-8ADB-FC69-AA2530FC1EB5}"/>
              </a:ext>
            </a:extLst>
          </p:cNvPr>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400" b="1" dirty="0">
                <a:solidFill>
                  <a:srgbClr val="1B2A6E"/>
                </a:solidFill>
                <a:latin typeface="Cambria" pitchFamily="34" charset="0"/>
                <a:ea typeface="Cambria" pitchFamily="34" charset="-122"/>
                <a:cs typeface="Cambria" pitchFamily="34" charset="-120"/>
              </a:rPr>
              <a:t>TDA Diccionario</a:t>
            </a:r>
            <a:endParaRPr lang="en-US" sz="3400" dirty="0"/>
          </a:p>
        </p:txBody>
      </p:sp>
      <p:sp>
        <p:nvSpPr>
          <p:cNvPr id="4" name="Shape 2">
            <a:extLst>
              <a:ext uri="{FF2B5EF4-FFF2-40B4-BE49-F238E27FC236}">
                <a16:creationId xmlns:a16="http://schemas.microsoft.com/office/drawing/2014/main" id="{98824EEB-58F0-1D71-D146-EA308AED3845}"/>
              </a:ext>
            </a:extLst>
          </p:cNvPr>
          <p:cNvSpPr/>
          <p:nvPr/>
        </p:nvSpPr>
        <p:spPr>
          <a:xfrm>
            <a:off x="502920" y="1600200"/>
            <a:ext cx="685800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a:extLst>
              <a:ext uri="{FF2B5EF4-FFF2-40B4-BE49-F238E27FC236}">
                <a16:creationId xmlns:a16="http://schemas.microsoft.com/office/drawing/2014/main" id="{B62DEF29-2986-6BB1-7774-03600BCD674D}"/>
              </a:ext>
            </a:extLst>
          </p:cNvPr>
          <p:cNvSpPr txBox="1"/>
          <p:nvPr/>
        </p:nvSpPr>
        <p:spPr>
          <a:xfrm>
            <a:off x="758952" y="1801368"/>
            <a:ext cx="6345936" cy="4251960"/>
          </a:xfrm>
          <a:prstGeom prst="rect">
            <a:avLst/>
          </a:prstGeom>
          <a:noFill/>
          <a:ln/>
        </p:spPr>
        <p:txBody>
          <a:bodyPr wrap="square" lIns="0" tIns="0" rIns="0" bIns="0" rtlCol="0" anchor="t"/>
          <a:lstStyle/>
          <a:p>
            <a:pPr marL="0" indent="0">
              <a:lnSpc>
                <a:spcPct val="108000"/>
              </a:lnSpc>
              <a:buNone/>
            </a:pPr>
            <a:r>
              <a:rPr lang="en-US" sz="1200" dirty="0">
                <a:solidFill>
                  <a:srgbClr val="1B1B1B"/>
                </a:solidFill>
                <a:latin typeface="Courier New" pitchFamily="34" charset="0"/>
                <a:ea typeface="Courier New" pitchFamily="34" charset="-122"/>
                <a:cs typeface="Courier New" pitchFamily="34" charset="-120"/>
              </a:rPr>
              <a:t>TDA Diccionario
Operaciones:
</a:t>
            </a:r>
            <a:r>
              <a:rPr lang="en-US" sz="1200" b="1" dirty="0">
                <a:solidFill>
                  <a:srgbClr val="1B1B1B"/>
                </a:solidFill>
                <a:latin typeface="Courier New" pitchFamily="34" charset="0"/>
                <a:ea typeface="Courier New" pitchFamily="34" charset="-122"/>
                <a:cs typeface="Courier New" pitchFamily="34" charset="-120"/>
              </a:rPr>
              <a:t>  crear</a:t>
            </a:r>
            <a:r>
              <a:rPr lang="en-US" sz="1200" dirty="0">
                <a:solidFill>
                  <a:srgbClr val="1B1B1B"/>
                </a:solidFill>
                <a:latin typeface="Courier New" pitchFamily="34" charset="0"/>
                <a:ea typeface="Courier New" pitchFamily="34" charset="-122"/>
                <a:cs typeface="Courier New" pitchFamily="34" charset="-120"/>
              </a:rPr>
              <a:t>() -&gt; Diccionario
    post: devuelve un diccionario vacio
</a:t>
            </a:r>
            <a:r>
              <a:rPr lang="en-US" sz="1200" b="1" dirty="0">
                <a:solidFill>
                  <a:srgbClr val="1B1B1B"/>
                </a:solidFill>
                <a:latin typeface="Courier New" pitchFamily="34" charset="0"/>
                <a:ea typeface="Courier New" pitchFamily="34" charset="-122"/>
                <a:cs typeface="Courier New" pitchFamily="34" charset="-120"/>
              </a:rPr>
              <a:t>  agregar</a:t>
            </a:r>
            <a:r>
              <a:rPr lang="en-US" sz="1200" dirty="0">
                <a:solidFill>
                  <a:srgbClr val="1B1B1B"/>
                </a:solidFill>
                <a:latin typeface="Courier New" pitchFamily="34" charset="0"/>
                <a:ea typeface="Courier New" pitchFamily="34" charset="-122"/>
                <a:cs typeface="Courier New" pitchFamily="34" charset="-120"/>
              </a:rPr>
              <a:t>(d: Diccionario, clave, valor) -&gt; Diccionario
    post: valor queda asociado a clave en d
</a:t>
            </a:r>
            <a:r>
              <a:rPr lang="en-US" sz="1200" b="1" dirty="0">
                <a:solidFill>
                  <a:srgbClr val="1B1B1B"/>
                </a:solidFill>
                <a:latin typeface="Courier New" pitchFamily="34" charset="0"/>
                <a:ea typeface="Courier New" pitchFamily="34" charset="-122"/>
                <a:cs typeface="Courier New" pitchFamily="34" charset="-120"/>
              </a:rPr>
              <a:t>  eliminar</a:t>
            </a:r>
            <a:r>
              <a:rPr lang="en-US" sz="1200" dirty="0">
                <a:solidFill>
                  <a:srgbClr val="1B1B1B"/>
                </a:solidFill>
                <a:latin typeface="Courier New" pitchFamily="34" charset="0"/>
                <a:ea typeface="Courier New" pitchFamily="34" charset="-122"/>
                <a:cs typeface="Courier New" pitchFamily="34" charset="-120"/>
              </a:rPr>
              <a:t>(d: Diccionario, clave: entero) -&gt; Diccionario
    post: se elimina clave (y su valor) de d
</a:t>
            </a:r>
            <a:r>
              <a:rPr lang="en-US" sz="1200" b="1" dirty="0">
                <a:solidFill>
                  <a:srgbClr val="1B1B1B"/>
                </a:solidFill>
                <a:latin typeface="Courier New" pitchFamily="34" charset="0"/>
                <a:ea typeface="Courier New" pitchFamily="34" charset="-122"/>
                <a:cs typeface="Courier New" pitchFamily="34" charset="-120"/>
              </a:rPr>
              <a:t>  recuperar</a:t>
            </a:r>
            <a:r>
              <a:rPr lang="en-US" sz="1200" dirty="0">
                <a:solidFill>
                  <a:srgbClr val="1B1B1B"/>
                </a:solidFill>
                <a:latin typeface="Courier New" pitchFamily="34" charset="0"/>
                <a:ea typeface="Courier New" pitchFamily="34" charset="-122"/>
                <a:cs typeface="Courier New" pitchFamily="34" charset="-120"/>
              </a:rPr>
              <a:t>(d: Diccionario, clave: entero) -&gt; elemento
    pre:  clave pertenece a d
    post: devuelve el valor asociado a clave
</a:t>
            </a:r>
            <a:r>
              <a:rPr lang="en-US" sz="1200" b="1" dirty="0">
                <a:solidFill>
                  <a:srgbClr val="1B1B1B"/>
                </a:solidFill>
                <a:latin typeface="Courier New" pitchFamily="34" charset="0"/>
                <a:ea typeface="Courier New" pitchFamily="34" charset="-122"/>
                <a:cs typeface="Courier New" pitchFamily="34" charset="-120"/>
              </a:rPr>
              <a:t>  claves</a:t>
            </a:r>
            <a:r>
              <a:rPr lang="en-US" sz="1200" dirty="0">
                <a:solidFill>
                  <a:srgbClr val="1B1B1B"/>
                </a:solidFill>
                <a:latin typeface="Courier New" pitchFamily="34" charset="0"/>
                <a:ea typeface="Courier New" pitchFamily="34" charset="-122"/>
                <a:cs typeface="Courier New" pitchFamily="34" charset="-120"/>
              </a:rPr>
              <a:t>(d: Diccionario) -&gt; Conjunto
    post: devuelve el conjunto de claves de d
</a:t>
            </a:r>
            <a:r>
              <a:rPr lang="en-US" sz="1200" b="1" dirty="0">
                <a:solidFill>
                  <a:srgbClr val="1B1B1B"/>
                </a:solidFill>
                <a:latin typeface="Courier New" pitchFamily="34" charset="0"/>
                <a:ea typeface="Courier New" pitchFamily="34" charset="-122"/>
                <a:cs typeface="Courier New" pitchFamily="34" charset="-120"/>
              </a:rPr>
              <a:t>  esVacio</a:t>
            </a:r>
            <a:r>
              <a:rPr lang="en-US" sz="1200" dirty="0">
                <a:solidFill>
                  <a:srgbClr val="1B1B1B"/>
                </a:solidFill>
                <a:latin typeface="Courier New" pitchFamily="34" charset="0"/>
                <a:ea typeface="Courier New" pitchFamily="34" charset="-122"/>
                <a:cs typeface="Courier New" pitchFamily="34" charset="-120"/>
              </a:rPr>
              <a:t>(d: Diccionario) -&gt; boolean
    post: devuelve true si d no tiene claves
</a:t>
            </a:r>
            <a:r>
              <a:rPr lang="en-US" sz="1200" b="1" dirty="0">
                <a:solidFill>
                  <a:srgbClr val="1B1B1B"/>
                </a:solidFill>
                <a:latin typeface="Courier New" pitchFamily="34" charset="0"/>
                <a:ea typeface="Courier New" pitchFamily="34" charset="-122"/>
                <a:cs typeface="Courier New" pitchFamily="34" charset="-120"/>
              </a:rPr>
              <a:t>  esLleno</a:t>
            </a:r>
            <a:r>
              <a:rPr lang="en-US" sz="1200" dirty="0">
                <a:solidFill>
                  <a:srgbClr val="1B1B1B"/>
                </a:solidFill>
                <a:latin typeface="Courier New" pitchFamily="34" charset="0"/>
                <a:ea typeface="Courier New" pitchFamily="34" charset="-122"/>
                <a:cs typeface="Courier New" pitchFamily="34" charset="-120"/>
              </a:rPr>
              <a:t>(d: Diccionario) -&gt; boolean
    post: devuelve true si d alcanzo su capacidad maxima</a:t>
            </a:r>
            <a:endParaRPr lang="en-US" sz="1200" dirty="0"/>
          </a:p>
        </p:txBody>
      </p:sp>
      <p:sp>
        <p:nvSpPr>
          <p:cNvPr id="6" name="Shape 4">
            <a:extLst>
              <a:ext uri="{FF2B5EF4-FFF2-40B4-BE49-F238E27FC236}">
                <a16:creationId xmlns:a16="http://schemas.microsoft.com/office/drawing/2014/main" id="{52322C6C-6799-F958-29D9-952B18CF12DB}"/>
              </a:ext>
            </a:extLst>
          </p:cNvPr>
          <p:cNvSpPr/>
          <p:nvPr/>
        </p:nvSpPr>
        <p:spPr>
          <a:xfrm>
            <a:off x="7635240" y="1600200"/>
            <a:ext cx="4053535" cy="4617720"/>
          </a:xfrm>
          <a:prstGeom prst="roundRect">
            <a:avLst>
              <a:gd name="adj" fmla="val 1805"/>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a:extLst>
              <a:ext uri="{FF2B5EF4-FFF2-40B4-BE49-F238E27FC236}">
                <a16:creationId xmlns:a16="http://schemas.microsoft.com/office/drawing/2014/main" id="{E64192A9-019E-A58F-D150-DEAA687A0EA1}"/>
              </a:ext>
            </a:extLst>
          </p:cNvPr>
          <p:cNvSpPr txBox="1"/>
          <p:nvPr/>
        </p:nvSpPr>
        <p:spPr>
          <a:xfrm>
            <a:off x="7927848" y="1837944"/>
            <a:ext cx="3468319" cy="365760"/>
          </a:xfrm>
          <a:prstGeom prst="rect">
            <a:avLst/>
          </a:prstGeom>
          <a:noFill/>
          <a:ln/>
        </p:spPr>
        <p:txBody>
          <a:bodyPr wrap="square" lIns="0" tIns="0" rIns="0" bIns="0" rtlCol="0" anchor="t"/>
          <a:lstStyle/>
          <a:p>
            <a:pPr marL="0" indent="0">
              <a:lnSpc>
                <a:spcPct val="115000"/>
              </a:lnSpc>
              <a:buNone/>
            </a:pPr>
            <a:r>
              <a:rPr lang="en-US" sz="1500" b="1" dirty="0">
                <a:solidFill>
                  <a:srgbClr val="1B1B1B"/>
                </a:solidFill>
                <a:latin typeface="Arial" pitchFamily="34" charset="0"/>
                <a:ea typeface="Arial" pitchFamily="34" charset="-122"/>
                <a:cs typeface="Arial" pitchFamily="34" charset="-120"/>
              </a:rPr>
              <a:t>Detalle</a:t>
            </a:r>
            <a:endParaRPr lang="en-US" sz="1500" dirty="0"/>
          </a:p>
        </p:txBody>
      </p:sp>
      <p:sp>
        <p:nvSpPr>
          <p:cNvPr id="8" name="Text 6">
            <a:extLst>
              <a:ext uri="{FF2B5EF4-FFF2-40B4-BE49-F238E27FC236}">
                <a16:creationId xmlns:a16="http://schemas.microsoft.com/office/drawing/2014/main" id="{3467B4D5-6141-624A-BF20-653092170076}"/>
              </a:ext>
            </a:extLst>
          </p:cNvPr>
          <p:cNvSpPr txBox="1"/>
          <p:nvPr/>
        </p:nvSpPr>
        <p:spPr>
          <a:xfrm>
            <a:off x="7927848" y="2313432"/>
            <a:ext cx="3468319" cy="3703320"/>
          </a:xfrm>
          <a:prstGeom prst="rect">
            <a:avLst/>
          </a:prstGeom>
          <a:noFill/>
          <a:ln/>
        </p:spPr>
        <p:txBody>
          <a:bodyPr wrap="square" lIns="0" tIns="0" rIns="0" bIns="0" rtlCol="0" anchor="t"/>
          <a:lstStyle/>
          <a:p>
            <a:pPr marL="0" indent="0">
              <a:lnSpc>
                <a:spcPct val="115000"/>
              </a:lnSpc>
              <a:buNone/>
            </a:pPr>
            <a:r>
              <a:rPr lang="en-US" sz="1200" b="1" dirty="0">
                <a:solidFill>
                  <a:srgbClr val="1B1B1B"/>
                </a:solidFill>
                <a:latin typeface="Arial" pitchFamily="34" charset="0"/>
                <a:ea typeface="Arial" pitchFamily="34" charset="-122"/>
                <a:cs typeface="Arial" pitchFamily="34" charset="-120"/>
              </a:rPr>
              <a:t>Dominio: Diccionario = </a:t>
            </a:r>
            <a:r>
              <a:rPr lang="en-US" sz="1200" dirty="0">
                <a:solidFill>
                  <a:srgbClr val="1B1B1B"/>
                </a:solidFill>
                <a:latin typeface="Arial" pitchFamily="34" charset="0"/>
                <a:ea typeface="Arial" pitchFamily="34" charset="-122"/>
                <a:cs typeface="Arial" pitchFamily="34" charset="-120"/>
              </a:rPr>
              <a:t>Colección de pares (clave, valor) donde cada clave es única y siempre tiene un valor asociado — no puede haber una clave sin valor.
</a:t>
            </a:r>
            <a:r>
              <a:rPr lang="en-US" sz="1200" b="1" dirty="0">
                <a:solidFill>
                  <a:srgbClr val="1B1B1B"/>
                </a:solidFill>
                <a:latin typeface="Arial" pitchFamily="34" charset="0"/>
                <a:ea typeface="Arial" pitchFamily="34" charset="-122"/>
                <a:cs typeface="Arial" pitchFamily="34" charset="-120"/>
              </a:rPr>
              <a:t>agregar: </a:t>
            </a:r>
            <a:r>
              <a:rPr lang="en-US" sz="1200" dirty="0">
                <a:solidFill>
                  <a:srgbClr val="1B1B1B"/>
                </a:solidFill>
                <a:latin typeface="Arial" pitchFamily="34" charset="0"/>
                <a:ea typeface="Arial" pitchFamily="34" charset="-122"/>
                <a:cs typeface="Arial" pitchFamily="34" charset="-120"/>
              </a:rPr>
              <a:t>“si la clave ya existía, no se duplica — se sobreescribe el valor”
</a:t>
            </a:r>
            <a:r>
              <a:rPr lang="en-US" sz="1200" b="1" dirty="0">
                <a:solidFill>
                  <a:srgbClr val="1B1B1B"/>
                </a:solidFill>
                <a:latin typeface="Arial" pitchFamily="34" charset="0"/>
                <a:ea typeface="Arial" pitchFamily="34" charset="-122"/>
                <a:cs typeface="Arial" pitchFamily="34" charset="-120"/>
              </a:rPr>
              <a:t>eliminar: </a:t>
            </a:r>
            <a:r>
              <a:rPr lang="en-US" sz="1200" dirty="0">
                <a:solidFill>
                  <a:srgbClr val="1B1B1B"/>
                </a:solidFill>
                <a:latin typeface="Arial" pitchFamily="34" charset="0"/>
                <a:ea typeface="Arial" pitchFamily="34" charset="-122"/>
                <a:cs typeface="Arial" pitchFamily="34" charset="-120"/>
              </a:rPr>
              <a:t>“elimina la clave junto con su valor; si la clave no existía, el diccionario no cambia”
</a:t>
            </a:r>
            <a:r>
              <a:rPr lang="en-US" sz="1200" b="1" dirty="0">
                <a:solidFill>
                  <a:srgbClr val="1B1B1B"/>
                </a:solidFill>
                <a:latin typeface="Arial" pitchFamily="34" charset="0"/>
                <a:ea typeface="Arial" pitchFamily="34" charset="-122"/>
                <a:cs typeface="Arial" pitchFamily="34" charset="-120"/>
              </a:rPr>
              <a:t>recuperar: </a:t>
            </a:r>
            <a:r>
              <a:rPr lang="en-US" sz="1200" dirty="0">
                <a:solidFill>
                  <a:srgbClr val="1B1B1B"/>
                </a:solidFill>
                <a:latin typeface="Arial" pitchFamily="34" charset="0"/>
                <a:ea typeface="Arial" pitchFamily="34" charset="-122"/>
                <a:cs typeface="Arial" pitchFamily="34" charset="-120"/>
              </a:rPr>
              <a:t>“a diferencia de pertenece() en Conjunto, acá se exige que la clave exista” → de ahí la precondición</a:t>
            </a:r>
            <a:endParaRPr lang="en-US" sz="1200" dirty="0"/>
          </a:p>
        </p:txBody>
      </p:sp>
      <p:sp>
        <p:nvSpPr>
          <p:cNvPr id="9" name="Text 7">
            <a:extLst>
              <a:ext uri="{FF2B5EF4-FFF2-40B4-BE49-F238E27FC236}">
                <a16:creationId xmlns:a16="http://schemas.microsoft.com/office/drawing/2014/main" id="{CD357F15-AF23-3F2D-A950-936A1ED8A1BB}"/>
              </a:ext>
            </a:extLst>
          </p:cNvPr>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0" name="Text 8">
            <a:extLst>
              <a:ext uri="{FF2B5EF4-FFF2-40B4-BE49-F238E27FC236}">
                <a16:creationId xmlns:a16="http://schemas.microsoft.com/office/drawing/2014/main" id="{87F24687-F439-12C5-F332-1143443CFDDD}"/>
              </a:ext>
            </a:extLst>
          </p:cNvPr>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46</a:t>
            </a:r>
            <a:endParaRPr lang="en-US" sz="1100" dirty="0"/>
          </a:p>
        </p:txBody>
      </p:sp>
    </p:spTree>
    <p:extLst>
      <p:ext uri="{BB962C8B-B14F-4D97-AF65-F5344CB8AC3E}">
        <p14:creationId xmlns:p14="http://schemas.microsoft.com/office/powerpoint/2010/main" val="10522524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21</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000" b="1" dirty="0">
                <a:solidFill>
                  <a:srgbClr val="1B2A6E"/>
                </a:solidFill>
                <a:latin typeface="Cambria" pitchFamily="34" charset="0"/>
                <a:ea typeface="Cambria" pitchFamily="34" charset="-122"/>
                <a:cs typeface="Cambria" pitchFamily="34" charset="-120"/>
              </a:rPr>
              <a:t>¿Por qué sin ningún orden?</a:t>
            </a:r>
            <a:endParaRPr lang="en-US" sz="3000" dirty="0"/>
          </a:p>
        </p:txBody>
      </p:sp>
      <p:sp>
        <p:nvSpPr>
          <p:cNvPr id="4" name="Shape 2"/>
          <p:cNvSpPr/>
          <p:nvPr/>
        </p:nvSpPr>
        <p:spPr>
          <a:xfrm>
            <a:off x="502920" y="1600200"/>
            <a:ext cx="694944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95528" y="1856232"/>
            <a:ext cx="6364224" cy="4105656"/>
          </a:xfrm>
          <a:prstGeom prst="rect">
            <a:avLst/>
          </a:prstGeom>
          <a:noFill/>
          <a:ln/>
        </p:spPr>
        <p:txBody>
          <a:bodyPr wrap="square" lIns="0" tIns="0" rIns="0" bIns="0" rtlCol="0" anchor="t"/>
          <a:lstStyle/>
          <a:p>
            <a:pPr marL="0" indent="0">
              <a:lnSpc>
                <a:spcPct val="130000"/>
              </a:lnSpc>
              <a:buNone/>
            </a:pPr>
            <a:r>
              <a:rPr lang="en-US" sz="1400" dirty="0">
                <a:solidFill>
                  <a:srgbClr val="1B1B1B"/>
                </a:solidFill>
                <a:latin typeface="Arial" pitchFamily="34" charset="0"/>
                <a:ea typeface="Arial" pitchFamily="34" charset="-122"/>
                <a:cs typeface="Arial" pitchFamily="34" charset="-120"/>
              </a:rPr>
              <a:t>Las claves de un diccionario no tienen que mantener ningún criterio de ordenamiento particular. Por eso la implementación estática usa un arreglo sin ningún orden: elementos[0 .. cantidad-1] simplemente van quedando en el orden en que se agregaron.
Igual que en Conjunto desordenado, esto tiene una ventaja concreta: al eliminar una clave no hace falta correr el resto del arreglo para "tapar el hueco". El costo real de agregar(), eliminar() y recuperar() no está en tocar el arreglo, sino en encontrarla: claveAIndice() tiene que recorrerlo, así que las tres son O(n).</a:t>
            </a:r>
            <a:endParaRPr lang="en-US" sz="1400" dirty="0"/>
          </a:p>
        </p:txBody>
      </p:sp>
      <p:sp>
        <p:nvSpPr>
          <p:cNvPr id="6" name="Shape 4"/>
          <p:cNvSpPr/>
          <p:nvPr/>
        </p:nvSpPr>
        <p:spPr>
          <a:xfrm>
            <a:off x="7726680" y="1600200"/>
            <a:ext cx="3962095" cy="4617720"/>
          </a:xfrm>
          <a:prstGeom prst="roundRect">
            <a:avLst>
              <a:gd name="adj" fmla="val 1846"/>
            </a:avLst>
          </a:prstGeom>
          <a:solidFill>
            <a:srgbClr val="DB9433"/>
          </a:solidFill>
          <a:ln w="12700">
            <a:solidFill>
              <a:srgbClr val="DB9433"/>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p:cNvSpPr txBox="1"/>
          <p:nvPr/>
        </p:nvSpPr>
        <p:spPr>
          <a:xfrm>
            <a:off x="7982712" y="1856232"/>
            <a:ext cx="3450031" cy="365760"/>
          </a:xfrm>
          <a:prstGeom prst="rect">
            <a:avLst/>
          </a:prstGeom>
          <a:noFill/>
          <a:ln/>
        </p:spPr>
        <p:txBody>
          <a:bodyPr wrap="square" lIns="0" tIns="0" rIns="0" bIns="0" rtlCol="0" anchor="t"/>
          <a:lstStyle/>
          <a:p>
            <a:pPr marL="0" indent="0">
              <a:lnSpc>
                <a:spcPct val="115000"/>
              </a:lnSpc>
              <a:buNone/>
            </a:pPr>
            <a:r>
              <a:rPr lang="en-US" sz="1400" b="1" dirty="0">
                <a:solidFill>
                  <a:srgbClr val="FFFFFF"/>
                </a:solidFill>
                <a:latin typeface="Arial" pitchFamily="34" charset="0"/>
                <a:ea typeface="Arial" pitchFamily="34" charset="-122"/>
                <a:cs typeface="Arial" pitchFamily="34" charset="-120"/>
              </a:rPr>
              <a:t>El truco del swap</a:t>
            </a:r>
            <a:endParaRPr lang="en-US" sz="1400" dirty="0"/>
          </a:p>
        </p:txBody>
      </p:sp>
      <p:sp>
        <p:nvSpPr>
          <p:cNvPr id="8" name="Text 6"/>
          <p:cNvSpPr txBox="1"/>
          <p:nvPr/>
        </p:nvSpPr>
        <p:spPr>
          <a:xfrm>
            <a:off x="7982712" y="2377440"/>
            <a:ext cx="3450031" cy="1188720"/>
          </a:xfrm>
          <a:prstGeom prst="rect">
            <a:avLst/>
          </a:prstGeom>
          <a:noFill/>
          <a:ln/>
        </p:spPr>
        <p:txBody>
          <a:bodyPr wrap="square" lIns="0" tIns="0" rIns="0" bIns="0" rtlCol="0" anchor="t"/>
          <a:lstStyle/>
          <a:p>
            <a:pPr marL="0" indent="0">
              <a:lnSpc>
                <a:spcPct val="115000"/>
              </a:lnSpc>
              <a:buNone/>
            </a:pPr>
            <a:r>
              <a:rPr lang="en-US" sz="1150" dirty="0">
                <a:solidFill>
                  <a:srgbClr val="FFFFFF"/>
                </a:solidFill>
                <a:latin typeface="Courier New" pitchFamily="34" charset="0"/>
                <a:ea typeface="Courier New" pitchFamily="34" charset="-122"/>
                <a:cs typeface="Courier New" pitchFamily="34" charset="-120"/>
              </a:rPr>
              <a:t>elementos[pos] =
    elementos[cantidad - 1];
cantidad--;</a:t>
            </a:r>
            <a:endParaRPr lang="en-US" sz="1150" dirty="0"/>
          </a:p>
        </p:txBody>
      </p:sp>
      <p:sp>
        <p:nvSpPr>
          <p:cNvPr id="9" name="Text 7"/>
          <p:cNvSpPr txBox="1"/>
          <p:nvPr/>
        </p:nvSpPr>
        <p:spPr>
          <a:xfrm>
            <a:off x="7982712" y="3840480"/>
            <a:ext cx="3450031" cy="2148840"/>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Arial" pitchFamily="34" charset="0"/>
                <a:ea typeface="Arial" pitchFamily="34" charset="-122"/>
                <a:cs typeface="Arial" pitchFamily="34" charset="-120"/>
              </a:rPr>
              <a:t>En vez de correr todo el resto para tapar el hueco, el último elemento pasa a ocupar el lugar del que se eliminó — O(1) una vez encontrada la posición.</a:t>
            </a:r>
            <a:endParaRPr lang="en-US" sz="1250" dirty="0"/>
          </a:p>
        </p:txBody>
      </p:sp>
      <p:sp>
        <p:nvSpPr>
          <p:cNvPr id="10" name="Text 8"/>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1" name="Text 9"/>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22</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200" b="1" dirty="0">
                <a:solidFill>
                  <a:srgbClr val="1B2A6E"/>
                </a:solidFill>
                <a:latin typeface="Cambria" pitchFamily="34" charset="0"/>
                <a:ea typeface="Cambria" pitchFamily="34" charset="-122"/>
                <a:cs typeface="Cambria" pitchFamily="34" charset="-120"/>
              </a:rPr>
              <a:t>Estructura y atributos</a:t>
            </a:r>
            <a:endParaRPr lang="en-US" sz="3200" dirty="0"/>
          </a:p>
        </p:txBody>
      </p:sp>
      <p:sp>
        <p:nvSpPr>
          <p:cNvPr id="4" name="Shape 2"/>
          <p:cNvSpPr/>
          <p:nvPr/>
        </p:nvSpPr>
        <p:spPr>
          <a:xfrm>
            <a:off x="502920" y="1600200"/>
            <a:ext cx="640080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58952" y="1819656"/>
            <a:ext cx="5888736" cy="4251960"/>
          </a:xfrm>
          <a:prstGeom prst="rect">
            <a:avLst/>
          </a:prstGeom>
          <a:noFill/>
          <a:ln/>
        </p:spPr>
        <p:txBody>
          <a:bodyPr wrap="square" lIns="0" tIns="0" rIns="0" bIns="0" rtlCol="0" anchor="t"/>
          <a:lstStyle/>
          <a:p>
            <a:pPr marL="0" indent="0">
              <a:lnSpc>
                <a:spcPct val="108000"/>
              </a:lnSpc>
              <a:buNone/>
            </a:pPr>
            <a:r>
              <a:rPr lang="en-US" sz="1300" dirty="0">
                <a:solidFill>
                  <a:srgbClr val="1B1B1B"/>
                </a:solidFill>
                <a:latin typeface="Courier New" pitchFamily="34" charset="0"/>
                <a:ea typeface="Courier New" pitchFamily="34" charset="-122"/>
                <a:cs typeface="Courier New" pitchFamily="34" charset="-120"/>
              </a:rPr>
              <a:t>public class DiccionarioEstatico {
    class Elemento {
        int clave;
        int valor;
    }
    private Elemento[] elementos;
    private int cantidad;
    private int capacidad;
    public DiccionarioEstatico(int capacidad) {
        this.capacidad = capacidad;
        this.elementos = new Elemento[capacidad];
        this.cantidad = 0;
    }
}</a:t>
            </a:r>
            <a:endParaRPr lang="en-US" sz="1300" dirty="0"/>
          </a:p>
        </p:txBody>
      </p:sp>
      <p:sp>
        <p:nvSpPr>
          <p:cNvPr id="6" name="Text 4"/>
          <p:cNvSpPr txBox="1"/>
          <p:nvPr/>
        </p:nvSpPr>
        <p:spPr>
          <a:xfrm>
            <a:off x="7178040" y="1618488"/>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El registro clave-valor</a:t>
            </a:r>
            <a:endParaRPr lang="en-US" sz="1400" dirty="0"/>
          </a:p>
        </p:txBody>
      </p:sp>
      <p:sp>
        <p:nvSpPr>
          <p:cNvPr id="7" name="Text 5"/>
          <p:cNvSpPr txBox="1"/>
          <p:nvPr/>
        </p:nvSpPr>
        <p:spPr>
          <a:xfrm>
            <a:off x="7178040" y="2057400"/>
            <a:ext cx="4510735" cy="173736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Cada elemento del arreglo guarda un par (clave, valor). A diferencia de Conjunto, acá no alcanza con guardar el valor: también hay que guardar a qué clave pertenece.</a:t>
            </a:r>
            <a:endParaRPr lang="en-US" sz="1300" dirty="0"/>
          </a:p>
        </p:txBody>
      </p:sp>
      <p:sp>
        <p:nvSpPr>
          <p:cNvPr id="8" name="Text 6"/>
          <p:cNvSpPr txBox="1"/>
          <p:nvPr/>
        </p:nvSpPr>
        <p:spPr>
          <a:xfrm>
            <a:off x="7178040" y="4069080"/>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Corresponde a crear()</a:t>
            </a:r>
            <a:endParaRPr lang="en-US" sz="1400" dirty="0"/>
          </a:p>
        </p:txBody>
      </p:sp>
      <p:sp>
        <p:nvSpPr>
          <p:cNvPr id="9" name="Text 7"/>
          <p:cNvSpPr txBox="1"/>
          <p:nvPr/>
        </p:nvSpPr>
        <p:spPr>
          <a:xfrm>
            <a:off x="7178040" y="4507992"/>
            <a:ext cx="4510735" cy="118872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El constructor es la traducción directa de crear() → Diccionario, igual que en las demás estructuras estáticas.</a:t>
            </a:r>
            <a:endParaRPr lang="en-US" sz="1300" dirty="0"/>
          </a:p>
        </p:txBody>
      </p:sp>
      <p:sp>
        <p:nvSpPr>
          <p:cNvPr id="10" name="Text 8"/>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1" name="Text 9"/>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22</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000" b="1" dirty="0">
                <a:solidFill>
                  <a:srgbClr val="1B2A6E"/>
                </a:solidFill>
                <a:latin typeface="Cambria" pitchFamily="34" charset="0"/>
                <a:ea typeface="Cambria" pitchFamily="34" charset="-122"/>
                <a:cs typeface="Cambria" pitchFamily="34" charset="-120"/>
              </a:rPr>
              <a:t>Operaciones: agregar y eliminar</a:t>
            </a:r>
            <a:endParaRPr lang="en-US" sz="3000" dirty="0"/>
          </a:p>
        </p:txBody>
      </p:sp>
      <p:sp>
        <p:nvSpPr>
          <p:cNvPr id="4" name="Shape 2"/>
          <p:cNvSpPr/>
          <p:nvPr/>
        </p:nvSpPr>
        <p:spPr>
          <a:xfrm>
            <a:off x="502920" y="1417320"/>
            <a:ext cx="6400800" cy="1783080"/>
          </a:xfrm>
          <a:prstGeom prst="roundRect">
            <a:avLst>
              <a:gd name="adj" fmla="val 4103"/>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04088" y="1545336"/>
            <a:ext cx="5998464" cy="1545336"/>
          </a:xfrm>
          <a:prstGeom prst="rect">
            <a:avLst/>
          </a:prstGeom>
          <a:noFill/>
          <a:ln/>
        </p:spPr>
        <p:txBody>
          <a:bodyPr wrap="square" lIns="0" tIns="0" rIns="0" bIns="0" rtlCol="0" anchor="t"/>
          <a:lstStyle/>
          <a:p>
            <a:pPr marL="0" indent="0">
              <a:lnSpc>
                <a:spcPct val="100000"/>
              </a:lnSpc>
              <a:buNone/>
            </a:pPr>
            <a:r>
              <a:rPr lang="en-US" sz="950" dirty="0">
                <a:solidFill>
                  <a:srgbClr val="1B1B1B"/>
                </a:solidFill>
                <a:latin typeface="Courier New" pitchFamily="34" charset="0"/>
                <a:ea typeface="Courier New" pitchFamily="34" charset="-122"/>
                <a:cs typeface="Courier New" pitchFamily="34" charset="-120"/>
              </a:rPr>
              <a:t>public void agregar(int clave, int valor) {
    int pos = claveAIndice(clave);
    if (pos == -1) {
        if (esLleno()) throw new RuntimeException("Diccionario lleno");
        pos = cantidad;
        elementos[pos] = new Elemento();
        elementos[pos].clave = clave;
        cantidad++;
    }
    elementos[pos].valor = valor;
}</a:t>
            </a:r>
            <a:endParaRPr lang="en-US" sz="950" dirty="0"/>
          </a:p>
        </p:txBody>
      </p:sp>
      <p:sp>
        <p:nvSpPr>
          <p:cNvPr id="6" name="Shape 4"/>
          <p:cNvSpPr/>
          <p:nvPr/>
        </p:nvSpPr>
        <p:spPr>
          <a:xfrm>
            <a:off x="7178040" y="1417320"/>
            <a:ext cx="4510735" cy="1783080"/>
          </a:xfrm>
          <a:prstGeom prst="roundRect">
            <a:avLst>
              <a:gd name="adj" fmla="val 4103"/>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p:cNvSpPr txBox="1"/>
          <p:nvPr/>
        </p:nvSpPr>
        <p:spPr>
          <a:xfrm>
            <a:off x="7434072" y="1600200"/>
            <a:ext cx="3998671" cy="1453896"/>
          </a:xfrm>
          <a:prstGeom prst="rect">
            <a:avLst/>
          </a:prstGeom>
          <a:noFill/>
          <a:ln/>
        </p:spPr>
        <p:txBody>
          <a:bodyPr wrap="square" lIns="0" tIns="0" rIns="0" bIns="0" rtlCol="0" anchor="t"/>
          <a:lstStyle/>
          <a:p>
            <a:pPr marL="0" indent="0">
              <a:lnSpc>
                <a:spcPct val="115000"/>
              </a:lnSpc>
              <a:buNone/>
            </a:pPr>
            <a:r>
              <a:rPr lang="en-US" sz="1250" b="1" dirty="0">
                <a:solidFill>
                  <a:srgbClr val="1B1B1B"/>
                </a:solidFill>
                <a:latin typeface="Arial" pitchFamily="34" charset="0"/>
                <a:ea typeface="Arial" pitchFamily="34" charset="-122"/>
                <a:cs typeface="Arial" pitchFamily="34" charset="-120"/>
              </a:rPr>
              <a:t>agregar()</a:t>
            </a:r>
            <a:r>
              <a:rPr lang="en-US" sz="1250" dirty="0">
                <a:solidFill>
                  <a:srgbClr val="1B1B1B"/>
                </a:solidFill>
                <a:latin typeface="Arial" pitchFamily="34" charset="0"/>
                <a:ea typeface="Arial" pitchFamily="34" charset="-122"/>
                <a:cs typeface="Arial" pitchFamily="34" charset="-120"/>
              </a:rPr>
              <a:t> busca primero si la clave ya existe. Si no está, crea un Elemento nuevo y lo agrega al final; si ya está, no crea nada — sólo pisa el valor. Por eso una clave nunca queda duplicada.</a:t>
            </a:r>
            <a:endParaRPr lang="en-US" sz="1250" dirty="0"/>
          </a:p>
        </p:txBody>
      </p:sp>
      <p:sp>
        <p:nvSpPr>
          <p:cNvPr id="8" name="Shape 6"/>
          <p:cNvSpPr/>
          <p:nvPr/>
        </p:nvSpPr>
        <p:spPr>
          <a:xfrm>
            <a:off x="502920" y="3337560"/>
            <a:ext cx="6400800" cy="3017520"/>
          </a:xfrm>
          <a:prstGeom prst="roundRect">
            <a:avLst>
              <a:gd name="adj" fmla="val 242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9" name="Text 7"/>
          <p:cNvSpPr txBox="1"/>
          <p:nvPr/>
        </p:nvSpPr>
        <p:spPr>
          <a:xfrm>
            <a:off x="685800" y="3465576"/>
            <a:ext cx="6035040" cy="2779776"/>
          </a:xfrm>
          <a:prstGeom prst="rect">
            <a:avLst/>
          </a:prstGeom>
          <a:noFill/>
          <a:ln/>
        </p:spPr>
        <p:txBody>
          <a:bodyPr wrap="square" lIns="0" tIns="0" rIns="0" bIns="0" rtlCol="0" anchor="t"/>
          <a:lstStyle/>
          <a:p>
            <a:pPr marL="0" indent="0">
              <a:lnSpc>
                <a:spcPct val="100000"/>
              </a:lnSpc>
              <a:buNone/>
            </a:pPr>
            <a:r>
              <a:rPr lang="en-US" sz="950" dirty="0">
                <a:solidFill>
                  <a:srgbClr val="1B1B1B"/>
                </a:solidFill>
                <a:latin typeface="Courier New" pitchFamily="34" charset="0"/>
                <a:ea typeface="Courier New" pitchFamily="34" charset="-122"/>
                <a:cs typeface="Courier New" pitchFamily="34" charset="-120"/>
              </a:rPr>
              <a:t>private int claveAIndice(int clave) {
    int i = cantidad - 1;
    while (i &gt;= 0 &amp;&amp; elementos[i].clave != clave) {
        i--;
    }
    return i;
}
public void eliminar(int clave) {
    int pos = claveAIndice(clave);
    if (pos != -1) {
        elementos[pos] = elementos[cantidad - 1];
        cantidad--;
    }
}</a:t>
            </a:r>
            <a:endParaRPr lang="en-US" sz="950" dirty="0"/>
          </a:p>
        </p:txBody>
      </p:sp>
      <p:sp>
        <p:nvSpPr>
          <p:cNvPr id="10" name="Shape 8"/>
          <p:cNvSpPr/>
          <p:nvPr/>
        </p:nvSpPr>
        <p:spPr>
          <a:xfrm>
            <a:off x="7178040" y="3337560"/>
            <a:ext cx="4510735" cy="3017520"/>
          </a:xfrm>
          <a:prstGeom prst="roundRect">
            <a:avLst>
              <a:gd name="adj" fmla="val 2424"/>
            </a:avLst>
          </a:prstGeom>
          <a:solidFill>
            <a:srgbClr val="DB9433"/>
          </a:solidFill>
          <a:ln w="12700">
            <a:solidFill>
              <a:srgbClr val="DB9433"/>
            </a:solidFill>
            <a:prstDash val="solid"/>
          </a:ln>
          <a:effectLst>
            <a:outerShdw blurRad="76200" dist="25400" dir="5400000" algn="bl" rotWithShape="0">
              <a:srgbClr val="9AA3C7">
                <a:alpha val="25000"/>
              </a:srgbClr>
            </a:outerShdw>
          </a:effectLst>
        </p:spPr>
        <p:txBody>
          <a:bodyPr/>
          <a:lstStyle/>
          <a:p>
            <a:endParaRPr lang="es-AR"/>
          </a:p>
        </p:txBody>
      </p:sp>
      <p:sp>
        <p:nvSpPr>
          <p:cNvPr id="11" name="Text 9"/>
          <p:cNvSpPr txBox="1"/>
          <p:nvPr/>
        </p:nvSpPr>
        <p:spPr>
          <a:xfrm>
            <a:off x="7452360" y="3575304"/>
            <a:ext cx="3962095" cy="365760"/>
          </a:xfrm>
          <a:prstGeom prst="rect">
            <a:avLst/>
          </a:prstGeom>
          <a:noFill/>
          <a:ln/>
        </p:spPr>
        <p:txBody>
          <a:bodyPr wrap="square" lIns="0" tIns="0" rIns="0" bIns="0" rtlCol="0" anchor="t"/>
          <a:lstStyle/>
          <a:p>
            <a:pPr marL="0" indent="0">
              <a:lnSpc>
                <a:spcPct val="115000"/>
              </a:lnSpc>
              <a:buNone/>
            </a:pPr>
            <a:r>
              <a:rPr lang="en-US" sz="1300" b="1" dirty="0">
                <a:solidFill>
                  <a:srgbClr val="FFFFFF"/>
                </a:solidFill>
                <a:latin typeface="Arial" pitchFamily="34" charset="0"/>
                <a:ea typeface="Arial" pitchFamily="34" charset="-122"/>
                <a:cs typeface="Arial" pitchFamily="34" charset="-120"/>
              </a:rPr>
              <a:t>Por qué es O(n)</a:t>
            </a:r>
            <a:endParaRPr lang="en-US" sz="1300" dirty="0"/>
          </a:p>
        </p:txBody>
      </p:sp>
      <p:sp>
        <p:nvSpPr>
          <p:cNvPr id="12" name="Text 10"/>
          <p:cNvSpPr txBox="1"/>
          <p:nvPr/>
        </p:nvSpPr>
        <p:spPr>
          <a:xfrm>
            <a:off x="7452360" y="4050792"/>
            <a:ext cx="3962095" cy="2103120"/>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Arial" pitchFamily="34" charset="0"/>
                <a:ea typeface="Arial" pitchFamily="34" charset="-122"/>
                <a:cs typeface="Arial" pitchFamily="34" charset="-120"/>
              </a:rPr>
              <a:t>Sin ningún orden entre las claves, claveAIndice() tiene que recorrer el arreglo para encontrar la posición — igual que en un conjunto desordenado. agregar() y eliminar() heredan ese mismo costo: la búsqueda de la clave domina todo.</a:t>
            </a:r>
            <a:endParaRPr lang="en-US" sz="1250" dirty="0"/>
          </a:p>
        </p:txBody>
      </p:sp>
      <p:sp>
        <p:nvSpPr>
          <p:cNvPr id="13" name="Text 11"/>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4" name="Text 12"/>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23</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3200" b="1" dirty="0">
                <a:solidFill>
                  <a:srgbClr val="1B2A6E"/>
                </a:solidFill>
                <a:latin typeface="Cambria" pitchFamily="34" charset="0"/>
                <a:ea typeface="Cambria" pitchFamily="34" charset="-122"/>
                <a:cs typeface="Cambria" pitchFamily="34" charset="-120"/>
              </a:rPr>
              <a:t>Operación recuperar()</a:t>
            </a:r>
            <a:endParaRPr lang="en-US" sz="3200" dirty="0"/>
          </a:p>
        </p:txBody>
      </p:sp>
      <p:sp>
        <p:nvSpPr>
          <p:cNvPr id="4" name="Shape 2"/>
          <p:cNvSpPr/>
          <p:nvPr/>
        </p:nvSpPr>
        <p:spPr>
          <a:xfrm>
            <a:off x="502920" y="1600200"/>
            <a:ext cx="603504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58952" y="1819656"/>
            <a:ext cx="5522976" cy="4251960"/>
          </a:xfrm>
          <a:prstGeom prst="rect">
            <a:avLst/>
          </a:prstGeom>
          <a:noFill/>
          <a:ln/>
        </p:spPr>
        <p:txBody>
          <a:bodyPr wrap="square" lIns="0" tIns="0" rIns="0" bIns="0" rtlCol="0" anchor="t"/>
          <a:lstStyle/>
          <a:p>
            <a:pPr marL="0" indent="0">
              <a:lnSpc>
                <a:spcPct val="120000"/>
              </a:lnSpc>
              <a:buNone/>
            </a:pPr>
            <a:r>
              <a:rPr lang="en-US" sz="1400" dirty="0">
                <a:solidFill>
                  <a:srgbClr val="1B1B1B"/>
                </a:solidFill>
                <a:latin typeface="Courier New" pitchFamily="34" charset="0"/>
                <a:ea typeface="Courier New" pitchFamily="34" charset="-122"/>
                <a:cs typeface="Courier New" pitchFamily="34" charset="-120"/>
              </a:rPr>
              <a:t>/**
 * pre:  clave pertenece al diccionario
 * post: devuelve el valor asociado a clave
 */
public int recuperar(int clave) {
    int pos = claveAIndice(clave);
    return elementos[pos].valor;
}</a:t>
            </a:r>
            <a:endParaRPr lang="en-US" sz="1400" dirty="0"/>
          </a:p>
        </p:txBody>
      </p:sp>
      <p:sp>
        <p:nvSpPr>
          <p:cNvPr id="6" name="Shape 4"/>
          <p:cNvSpPr/>
          <p:nvPr/>
        </p:nvSpPr>
        <p:spPr>
          <a:xfrm>
            <a:off x="6812280" y="1600200"/>
            <a:ext cx="4876495" cy="4617720"/>
          </a:xfrm>
          <a:prstGeom prst="roundRect">
            <a:avLst>
              <a:gd name="adj" fmla="val 1584"/>
            </a:avLst>
          </a:prstGeom>
          <a:solidFill>
            <a:srgbClr val="1BAF7A"/>
          </a:solidFill>
          <a:ln w="12700">
            <a:solidFill>
              <a:srgbClr val="1BAF7A"/>
            </a:solidFill>
            <a:prstDash val="solid"/>
          </a:ln>
          <a:effectLst>
            <a:outerShdw blurRad="76200" dist="25400" dir="5400000" algn="bl" rotWithShape="0">
              <a:srgbClr val="9AA3C7">
                <a:alpha val="25000"/>
              </a:srgbClr>
            </a:outerShdw>
          </a:effectLst>
        </p:spPr>
        <p:txBody>
          <a:bodyPr/>
          <a:lstStyle/>
          <a:p>
            <a:endParaRPr lang="es-AR"/>
          </a:p>
        </p:txBody>
      </p:sp>
      <p:sp>
        <p:nvSpPr>
          <p:cNvPr id="7" name="Text 5"/>
          <p:cNvSpPr txBox="1"/>
          <p:nvPr/>
        </p:nvSpPr>
        <p:spPr>
          <a:xfrm>
            <a:off x="7068312" y="1837944"/>
            <a:ext cx="4364431" cy="365760"/>
          </a:xfrm>
          <a:prstGeom prst="rect">
            <a:avLst/>
          </a:prstGeom>
          <a:noFill/>
          <a:ln/>
        </p:spPr>
        <p:txBody>
          <a:bodyPr wrap="square" lIns="0" tIns="0" rIns="0" bIns="0" rtlCol="0" anchor="t"/>
          <a:lstStyle/>
          <a:p>
            <a:pPr marL="0" indent="0">
              <a:lnSpc>
                <a:spcPct val="115000"/>
              </a:lnSpc>
              <a:buNone/>
            </a:pPr>
            <a:r>
              <a:rPr lang="en-US" sz="1400" b="1" dirty="0">
                <a:solidFill>
                  <a:srgbClr val="FFFFFF"/>
                </a:solidFill>
                <a:latin typeface="Arial" pitchFamily="34" charset="0"/>
                <a:ea typeface="Arial" pitchFamily="34" charset="-122"/>
                <a:cs typeface="Arial" pitchFamily="34" charset="-120"/>
              </a:rPr>
              <a:t>La precondición importa</a:t>
            </a:r>
            <a:endParaRPr lang="en-US" sz="1400" dirty="0"/>
          </a:p>
        </p:txBody>
      </p:sp>
      <p:sp>
        <p:nvSpPr>
          <p:cNvPr id="8" name="Text 6"/>
          <p:cNvSpPr txBox="1"/>
          <p:nvPr/>
        </p:nvSpPr>
        <p:spPr>
          <a:xfrm>
            <a:off x="7068312" y="2350008"/>
            <a:ext cx="4364431" cy="3657600"/>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Arial" pitchFamily="34" charset="0"/>
                <a:ea typeface="Arial" pitchFamily="34" charset="-122"/>
                <a:cs typeface="Arial" pitchFamily="34" charset="-120"/>
              </a:rPr>
              <a:t>A diferencia de pertenece() en Conjunto, recuperar() no chequea si la clave existe — directamente asume que sí, porque así lo dice la precondición del TDA.
Si se llama con una clave que no está, claveAIndice() devuelve -1 y elementos[-1] revienta con un ArrayIndexOutOfBoundsException. Por eso quien use el diccionario debe garantizar la precondición (por ejemplo, llamando antes a claves() y chequeando ahí).</a:t>
            </a:r>
            <a:endParaRPr lang="en-US" sz="1250" dirty="0"/>
          </a:p>
        </p:txBody>
      </p:sp>
      <p:sp>
        <p:nvSpPr>
          <p:cNvPr id="9" name="Text 7"/>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0" name="Text 8"/>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200" b="1" kern="0" spc="200" dirty="0">
                <a:solidFill>
                  <a:srgbClr val="C9821E"/>
                </a:solidFill>
                <a:latin typeface="Arial" pitchFamily="34" charset="0"/>
                <a:ea typeface="Arial" pitchFamily="34" charset="-122"/>
                <a:cs typeface="Arial" pitchFamily="34" charset="-120"/>
              </a:rPr>
              <a:t>BLOQUE 23</a:t>
            </a:r>
            <a:endParaRPr lang="en-US" sz="1200" dirty="0"/>
          </a:p>
        </p:txBody>
      </p:sp>
      <p:sp>
        <p:nvSpPr>
          <p:cNvPr id="3" name="Text 1"/>
          <p:cNvSpPr txBox="1"/>
          <p:nvPr/>
        </p:nvSpPr>
        <p:spPr>
          <a:xfrm>
            <a:off x="475488" y="621792"/>
            <a:ext cx="11277295" cy="685800"/>
          </a:xfrm>
          <a:prstGeom prst="rect">
            <a:avLst/>
          </a:prstGeom>
          <a:noFill/>
          <a:ln/>
        </p:spPr>
        <p:txBody>
          <a:bodyPr wrap="square" lIns="0" tIns="0" rIns="0" bIns="0" rtlCol="0" anchor="t"/>
          <a:lstStyle/>
          <a:p>
            <a:pPr marL="0" indent="0">
              <a:buNone/>
            </a:pPr>
            <a:r>
              <a:rPr lang="en-US" sz="2800" b="1" dirty="0">
                <a:solidFill>
                  <a:srgbClr val="1B2A6E"/>
                </a:solidFill>
                <a:latin typeface="Cambria" pitchFamily="34" charset="0"/>
                <a:ea typeface="Cambria" pitchFamily="34" charset="-122"/>
                <a:cs typeface="Cambria" pitchFamily="34" charset="-120"/>
              </a:rPr>
              <a:t>Operación claves() y controles</a:t>
            </a:r>
            <a:endParaRPr lang="en-US" sz="2800" dirty="0"/>
          </a:p>
        </p:txBody>
      </p:sp>
      <p:sp>
        <p:nvSpPr>
          <p:cNvPr id="4" name="Shape 2"/>
          <p:cNvSpPr/>
          <p:nvPr/>
        </p:nvSpPr>
        <p:spPr>
          <a:xfrm>
            <a:off x="502920" y="1600200"/>
            <a:ext cx="6400800" cy="4617720"/>
          </a:xfrm>
          <a:prstGeom prst="roundRect">
            <a:avLst>
              <a:gd name="adj" fmla="val 1584"/>
            </a:avLst>
          </a:prstGeom>
          <a:solidFill>
            <a:srgbClr val="EDF0FA"/>
          </a:solidFill>
          <a:ln w="12700">
            <a:solidFill>
              <a:srgbClr val="D7DCEE"/>
            </a:solidFill>
            <a:prstDash val="solid"/>
          </a:ln>
          <a:effectLst>
            <a:outerShdw blurRad="76200" dist="25400" dir="5400000" algn="bl" rotWithShape="0">
              <a:srgbClr val="9AA3C7">
                <a:alpha val="25000"/>
              </a:srgbClr>
            </a:outerShdw>
          </a:effectLst>
        </p:spPr>
        <p:txBody>
          <a:bodyPr/>
          <a:lstStyle/>
          <a:p>
            <a:endParaRPr lang="es-AR"/>
          </a:p>
        </p:txBody>
      </p:sp>
      <p:sp>
        <p:nvSpPr>
          <p:cNvPr id="5" name="Text 3"/>
          <p:cNvSpPr txBox="1"/>
          <p:nvPr/>
        </p:nvSpPr>
        <p:spPr>
          <a:xfrm>
            <a:off x="758952" y="1819656"/>
            <a:ext cx="5888736" cy="4251960"/>
          </a:xfrm>
          <a:prstGeom prst="rect">
            <a:avLst/>
          </a:prstGeom>
          <a:noFill/>
          <a:ln/>
        </p:spPr>
        <p:txBody>
          <a:bodyPr wrap="square" lIns="0" tIns="0" rIns="0" bIns="0" rtlCol="0" anchor="t"/>
          <a:lstStyle/>
          <a:p>
            <a:pPr marL="0" indent="0">
              <a:lnSpc>
                <a:spcPct val="108000"/>
              </a:lnSpc>
              <a:buNone/>
            </a:pPr>
            <a:r>
              <a:rPr lang="en-US" sz="1250" dirty="0">
                <a:solidFill>
                  <a:srgbClr val="1B1B1B"/>
                </a:solidFill>
                <a:latin typeface="Courier New" pitchFamily="34" charset="0"/>
                <a:ea typeface="Courier New" pitchFamily="34" charset="-122"/>
                <a:cs typeface="Courier New" pitchFamily="34" charset="-120"/>
              </a:rPr>
              <a:t>public int[] claves() {
    int[] c = new int[cantidad];
    for (int i = 0; i &lt; cantidad; i++) {
        c[i] = elementos[i].clave;
    }
    return c;
}
public boolean esVacio() {
    return cantidad == 0;
}
public boolean esLleno() {
    return cantidad == capacidad;
}</a:t>
            </a:r>
            <a:endParaRPr lang="en-US" sz="1250" dirty="0"/>
          </a:p>
        </p:txBody>
      </p:sp>
      <p:sp>
        <p:nvSpPr>
          <p:cNvPr id="6" name="Text 4"/>
          <p:cNvSpPr txBox="1"/>
          <p:nvPr/>
        </p:nvSpPr>
        <p:spPr>
          <a:xfrm>
            <a:off x="7178040" y="1618488"/>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claves() </a:t>
            </a:r>
            <a:endParaRPr lang="en-US" sz="1400" dirty="0"/>
          </a:p>
        </p:txBody>
      </p:sp>
      <p:sp>
        <p:nvSpPr>
          <p:cNvPr id="7" name="Text 5"/>
          <p:cNvSpPr txBox="1"/>
          <p:nvPr/>
        </p:nvSpPr>
        <p:spPr>
          <a:xfrm>
            <a:off x="7178040" y="2057400"/>
            <a:ext cx="4510735" cy="173736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La especificación dice que devuelve un Conjunto. Como esta versión trabaja sólo con enteros, alcanza con devolver un arreglo con las claves actuales — O(n).</a:t>
            </a:r>
            <a:endParaRPr lang="en-US" sz="1300" dirty="0"/>
          </a:p>
        </p:txBody>
      </p:sp>
      <p:sp>
        <p:nvSpPr>
          <p:cNvPr id="8" name="Text 6"/>
          <p:cNvSpPr txBox="1"/>
          <p:nvPr/>
        </p:nvSpPr>
        <p:spPr>
          <a:xfrm>
            <a:off x="7178040" y="4069080"/>
            <a:ext cx="4510735" cy="365760"/>
          </a:xfrm>
          <a:prstGeom prst="rect">
            <a:avLst/>
          </a:prstGeom>
          <a:noFill/>
          <a:ln/>
        </p:spPr>
        <p:txBody>
          <a:bodyPr wrap="square" lIns="0" tIns="0" rIns="0" bIns="0" rtlCol="0" anchor="t"/>
          <a:lstStyle/>
          <a:p>
            <a:pPr marL="0" indent="0">
              <a:lnSpc>
                <a:spcPct val="115000"/>
              </a:lnSpc>
              <a:buNone/>
            </a:pPr>
            <a:r>
              <a:rPr lang="en-US" sz="1400" b="1" dirty="0">
                <a:solidFill>
                  <a:srgbClr val="1B1B1B"/>
                </a:solidFill>
                <a:latin typeface="Arial" pitchFamily="34" charset="0"/>
                <a:ea typeface="Arial" pitchFamily="34" charset="-122"/>
                <a:cs typeface="Arial" pitchFamily="34" charset="-120"/>
              </a:rPr>
              <a:t>esVacio() / esLleno()</a:t>
            </a:r>
            <a:endParaRPr lang="en-US" sz="1400" dirty="0"/>
          </a:p>
        </p:txBody>
      </p:sp>
      <p:sp>
        <p:nvSpPr>
          <p:cNvPr id="9" name="Text 7"/>
          <p:cNvSpPr txBox="1"/>
          <p:nvPr/>
        </p:nvSpPr>
        <p:spPr>
          <a:xfrm>
            <a:off x="7178040" y="4507992"/>
            <a:ext cx="4510735" cy="1188720"/>
          </a:xfrm>
          <a:prstGeom prst="rect">
            <a:avLst/>
          </a:prstGeom>
          <a:noFill/>
          <a:ln/>
        </p:spPr>
        <p:txBody>
          <a:bodyPr wrap="square" lIns="0" tIns="0" rIns="0" bIns="0" rtlCol="0" anchor="t"/>
          <a:lstStyle/>
          <a:p>
            <a:pPr marL="0" indent="0">
              <a:lnSpc>
                <a:spcPct val="115000"/>
              </a:lnSpc>
              <a:buNone/>
            </a:pPr>
            <a:r>
              <a:rPr lang="en-US" sz="1300" dirty="0">
                <a:solidFill>
                  <a:srgbClr val="1B1B1B"/>
                </a:solidFill>
                <a:latin typeface="Arial" pitchFamily="34" charset="0"/>
                <a:ea typeface="Arial" pitchFamily="34" charset="-122"/>
                <a:cs typeface="Arial" pitchFamily="34" charset="-120"/>
              </a:rPr>
              <a:t>Son controles O(1): sólo comparan cantidad, no recorren nada.</a:t>
            </a:r>
            <a:endParaRPr lang="en-US" sz="1300" dirty="0"/>
          </a:p>
        </p:txBody>
      </p:sp>
      <p:sp>
        <p:nvSpPr>
          <p:cNvPr id="10" name="Text 8"/>
          <p:cNvSpPr txBox="1"/>
          <p:nvPr/>
        </p:nvSpPr>
        <p:spPr>
          <a:xfrm>
            <a:off x="502920" y="6510528"/>
            <a:ext cx="7315200" cy="274320"/>
          </a:xfrm>
          <a:prstGeom prst="rect">
            <a:avLst/>
          </a:prstGeom>
          <a:noFill/>
          <a:ln/>
        </p:spPr>
        <p:txBody>
          <a:bodyPr wrap="square" lIns="0" tIns="0" rIns="0" bIns="0" rtlCol="0" anchor="ctr"/>
          <a:lstStyle/>
          <a:p>
            <a:pPr marL="0" indent="0">
              <a:buNone/>
            </a:pPr>
            <a:r>
              <a:rPr lang="en-US" sz="1100" dirty="0">
                <a:solidFill>
                  <a:srgbClr val="8A8A8A"/>
                </a:solidFill>
                <a:latin typeface="Arial" pitchFamily="34" charset="0"/>
                <a:ea typeface="Arial" pitchFamily="34" charset="-122"/>
                <a:cs typeface="Arial" pitchFamily="34" charset="-120"/>
              </a:rPr>
              <a:t>Algoritmos y Estructuras de Datos II  |  Clase 6</a:t>
            </a:r>
            <a:endParaRPr lang="en-US" sz="1100" dirty="0"/>
          </a:p>
        </p:txBody>
      </p:sp>
      <p:sp>
        <p:nvSpPr>
          <p:cNvPr id="11" name="Text 9"/>
          <p:cNvSpPr txBox="1"/>
          <p:nvPr/>
        </p:nvSpPr>
        <p:spPr>
          <a:xfrm>
            <a:off x="11140135" y="6510528"/>
            <a:ext cx="548640" cy="274320"/>
          </a:xfrm>
          <a:prstGeom prst="rect">
            <a:avLst/>
          </a:prstGeom>
          <a:noFill/>
          <a:ln/>
        </p:spPr>
        <p:txBody>
          <a:bodyPr wrap="square" lIns="0" tIns="0" rIns="0" bIns="0" rtlCol="0" anchor="ctr"/>
          <a:lstStyle/>
          <a:p>
            <a:pPr marL="0" indent="0" algn="r">
              <a:buNone/>
            </a:pPr>
            <a:r>
              <a:rPr lang="en-US" sz="1100" dirty="0">
                <a:solidFill>
                  <a:srgbClr val="8A8A8A"/>
                </a:solidFill>
                <a:latin typeface="Arial" pitchFamily="34" charset="0"/>
                <a:ea typeface="Arial" pitchFamily="34" charset="-122"/>
                <a:cs typeface="Arial" pitchFamily="34" charset="-120"/>
              </a:rPr>
              <a:t>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BLOQUE 24</a:t>
            </a:r>
            <a:endParaRPr lang="en-US" sz="130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¿Qué es la Notación Big O?</a:t>
            </a:r>
            <a:endParaRPr lang="en-US" sz="2800" dirty="0"/>
          </a:p>
        </p:txBody>
      </p:sp>
      <p:sp>
        <p:nvSpPr>
          <p:cNvPr id="4" name="Shape 2"/>
          <p:cNvSpPr/>
          <p:nvPr/>
        </p:nvSpPr>
        <p:spPr>
          <a:xfrm>
            <a:off x="548640" y="1600200"/>
            <a:ext cx="11064240" cy="457200"/>
          </a:xfrm>
          <a:prstGeom prst="rect">
            <a:avLst/>
          </a:prstGeom>
          <a:solidFill>
            <a:srgbClr val="1E2761"/>
          </a:solidFill>
          <a:ln/>
        </p:spPr>
        <p:txBody>
          <a:bodyPr/>
          <a:lstStyle/>
          <a:p>
            <a:endParaRPr lang="es-AR"/>
          </a:p>
        </p:txBody>
      </p:sp>
      <p:sp>
        <p:nvSpPr>
          <p:cNvPr id="5" name="Text 3"/>
          <p:cNvSpPr/>
          <p:nvPr/>
        </p:nvSpPr>
        <p:spPr>
          <a:xfrm>
            <a:off x="731520" y="1600200"/>
            <a:ext cx="32004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Notación</a:t>
            </a:r>
            <a:endParaRPr lang="en-US" sz="1300" dirty="0"/>
          </a:p>
        </p:txBody>
      </p:sp>
      <p:sp>
        <p:nvSpPr>
          <p:cNvPr id="6" name="Text 4"/>
          <p:cNvSpPr/>
          <p:nvPr/>
        </p:nvSpPr>
        <p:spPr>
          <a:xfrm>
            <a:off x="3931920" y="1600200"/>
            <a:ext cx="16459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Nombre</a:t>
            </a:r>
            <a:endParaRPr lang="en-US" sz="1300" dirty="0"/>
          </a:p>
        </p:txBody>
      </p:sp>
      <p:sp>
        <p:nvSpPr>
          <p:cNvPr id="7" name="Text 5"/>
          <p:cNvSpPr/>
          <p:nvPr/>
        </p:nvSpPr>
        <p:spPr>
          <a:xfrm>
            <a:off x="5577840" y="1600200"/>
            <a:ext cx="585216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Qué significa</a:t>
            </a:r>
            <a:endParaRPr lang="en-US" sz="1300" dirty="0"/>
          </a:p>
        </p:txBody>
      </p:sp>
      <p:sp>
        <p:nvSpPr>
          <p:cNvPr id="8" name="Shape 6"/>
          <p:cNvSpPr/>
          <p:nvPr/>
        </p:nvSpPr>
        <p:spPr>
          <a:xfrm>
            <a:off x="548640" y="2057400"/>
            <a:ext cx="11064240" cy="777240"/>
          </a:xfrm>
          <a:prstGeom prst="rect">
            <a:avLst/>
          </a:prstGeom>
          <a:solidFill>
            <a:srgbClr val="F5F7FC"/>
          </a:solidFill>
          <a:ln w="6350">
            <a:solidFill>
              <a:srgbClr val="CADCFC"/>
            </a:solidFill>
            <a:prstDash val="solid"/>
          </a:ln>
        </p:spPr>
        <p:txBody>
          <a:bodyPr/>
          <a:lstStyle/>
          <a:p>
            <a:endParaRPr lang="es-AR"/>
          </a:p>
        </p:txBody>
      </p:sp>
      <p:sp>
        <p:nvSpPr>
          <p:cNvPr id="9" name="Text 7"/>
          <p:cNvSpPr/>
          <p:nvPr/>
        </p:nvSpPr>
        <p:spPr>
          <a:xfrm>
            <a:off x="731520" y="2057400"/>
            <a:ext cx="3200400" cy="777240"/>
          </a:xfrm>
          <a:prstGeom prst="rect">
            <a:avLst/>
          </a:prstGeom>
          <a:noFill/>
          <a:ln/>
        </p:spPr>
        <p:txBody>
          <a:bodyPr wrap="square" rtlCol="0" anchor="ctr"/>
          <a:lstStyle/>
          <a:p>
            <a:pPr marL="0" indent="0">
              <a:buNone/>
            </a:pPr>
            <a:r>
              <a:rPr lang="en-US" sz="1300" dirty="0">
                <a:solidFill>
                  <a:srgbClr val="1C1C2A"/>
                </a:solidFill>
                <a:latin typeface="Courier New" pitchFamily="34" charset="0"/>
                <a:ea typeface="Courier New" pitchFamily="34" charset="-122"/>
                <a:cs typeface="Courier New" pitchFamily="34" charset="-120"/>
              </a:rPr>
              <a:t>O(1)</a:t>
            </a:r>
            <a:endParaRPr lang="en-US" sz="1300" dirty="0"/>
          </a:p>
        </p:txBody>
      </p:sp>
      <p:sp>
        <p:nvSpPr>
          <p:cNvPr id="10" name="Text 8"/>
          <p:cNvSpPr/>
          <p:nvPr/>
        </p:nvSpPr>
        <p:spPr>
          <a:xfrm>
            <a:off x="3931920" y="2057400"/>
            <a:ext cx="1645920" cy="777240"/>
          </a:xfrm>
          <a:prstGeom prst="rect">
            <a:avLst/>
          </a:prstGeom>
          <a:noFill/>
          <a:ln/>
        </p:spPr>
        <p:txBody>
          <a:bodyPr wrap="square" rtlCol="0" anchor="ctr"/>
          <a:lstStyle/>
          <a:p>
            <a:pPr marL="0" indent="0">
              <a:buNone/>
            </a:pPr>
            <a:r>
              <a:rPr lang="en-US" sz="1400" b="1" dirty="0">
                <a:solidFill>
                  <a:srgbClr val="E8A33D"/>
                </a:solidFill>
                <a:latin typeface="Courier New" pitchFamily="34" charset="0"/>
                <a:ea typeface="Courier New" pitchFamily="34" charset="-122"/>
                <a:cs typeface="Courier New" pitchFamily="34" charset="-120"/>
              </a:rPr>
              <a:t>Constante</a:t>
            </a:r>
            <a:endParaRPr lang="en-US" sz="1400" dirty="0"/>
          </a:p>
        </p:txBody>
      </p:sp>
      <p:sp>
        <p:nvSpPr>
          <p:cNvPr id="11" name="Text 9"/>
          <p:cNvSpPr/>
          <p:nvPr/>
        </p:nvSpPr>
        <p:spPr>
          <a:xfrm>
            <a:off x="5577840" y="2057400"/>
            <a:ext cx="5852160" cy="777240"/>
          </a:xfrm>
          <a:prstGeom prst="rect">
            <a:avLst/>
          </a:prstGeom>
          <a:noFill/>
          <a:ln/>
        </p:spPr>
        <p:txBody>
          <a:bodyPr wrap="square" rtlCol="0" anchor="ctr"/>
          <a:lstStyle/>
          <a:p>
            <a:pPr marL="0" indent="0">
              <a:buNone/>
            </a:pPr>
            <a:r>
              <a:rPr lang="en-US" sz="1250" dirty="0">
                <a:solidFill>
                  <a:srgbClr val="1C1C2A"/>
                </a:solidFill>
                <a:latin typeface="Calibri" pitchFamily="34" charset="0"/>
                <a:ea typeface="Calibri" pitchFamily="34" charset="-122"/>
                <a:cs typeface="Calibri" pitchFamily="34" charset="-120"/>
              </a:rPr>
              <a:t>El código toma el mismo tiempo sin importar el tamaño de los datos.</a:t>
            </a:r>
            <a:endParaRPr lang="en-US" sz="1250" dirty="0"/>
          </a:p>
        </p:txBody>
      </p:sp>
      <p:sp>
        <p:nvSpPr>
          <p:cNvPr id="12" name="Shape 10"/>
          <p:cNvSpPr/>
          <p:nvPr/>
        </p:nvSpPr>
        <p:spPr>
          <a:xfrm>
            <a:off x="548640" y="2834640"/>
            <a:ext cx="11064240" cy="777240"/>
          </a:xfrm>
          <a:prstGeom prst="rect">
            <a:avLst/>
          </a:prstGeom>
          <a:solidFill>
            <a:srgbClr val="FFFFFF"/>
          </a:solidFill>
          <a:ln w="6350">
            <a:solidFill>
              <a:srgbClr val="CADCFC"/>
            </a:solidFill>
            <a:prstDash val="solid"/>
          </a:ln>
        </p:spPr>
        <p:txBody>
          <a:bodyPr/>
          <a:lstStyle/>
          <a:p>
            <a:endParaRPr lang="es-AR"/>
          </a:p>
        </p:txBody>
      </p:sp>
      <p:sp>
        <p:nvSpPr>
          <p:cNvPr id="13" name="Text 11"/>
          <p:cNvSpPr/>
          <p:nvPr/>
        </p:nvSpPr>
        <p:spPr>
          <a:xfrm>
            <a:off x="731520" y="2834640"/>
            <a:ext cx="3200400" cy="777240"/>
          </a:xfrm>
          <a:prstGeom prst="rect">
            <a:avLst/>
          </a:prstGeom>
          <a:noFill/>
          <a:ln/>
        </p:spPr>
        <p:txBody>
          <a:bodyPr wrap="square" rtlCol="0" anchor="ctr"/>
          <a:lstStyle/>
          <a:p>
            <a:pPr marL="0" indent="0">
              <a:buNone/>
            </a:pPr>
            <a:r>
              <a:rPr lang="en-US" sz="1300" dirty="0">
                <a:solidFill>
                  <a:srgbClr val="1C1C2A"/>
                </a:solidFill>
                <a:latin typeface="Courier New" pitchFamily="34" charset="0"/>
                <a:ea typeface="Courier New" pitchFamily="34" charset="-122"/>
                <a:cs typeface="Courier New" pitchFamily="34" charset="-120"/>
              </a:rPr>
              <a:t>O(n)</a:t>
            </a:r>
            <a:endParaRPr lang="en-US" sz="1300" dirty="0"/>
          </a:p>
        </p:txBody>
      </p:sp>
      <p:sp>
        <p:nvSpPr>
          <p:cNvPr id="14" name="Text 12"/>
          <p:cNvSpPr/>
          <p:nvPr/>
        </p:nvSpPr>
        <p:spPr>
          <a:xfrm>
            <a:off x="3931920" y="2834640"/>
            <a:ext cx="1645920" cy="777240"/>
          </a:xfrm>
          <a:prstGeom prst="rect">
            <a:avLst/>
          </a:prstGeom>
          <a:noFill/>
          <a:ln/>
        </p:spPr>
        <p:txBody>
          <a:bodyPr wrap="square" rtlCol="0" anchor="ctr"/>
          <a:lstStyle/>
          <a:p>
            <a:pPr marL="0" indent="0">
              <a:buNone/>
            </a:pPr>
            <a:r>
              <a:rPr lang="en-US" sz="1400" b="1" dirty="0">
                <a:solidFill>
                  <a:srgbClr val="E8A33D"/>
                </a:solidFill>
                <a:latin typeface="Courier New" pitchFamily="34" charset="0"/>
                <a:ea typeface="Courier New" pitchFamily="34" charset="-122"/>
                <a:cs typeface="Courier New" pitchFamily="34" charset="-120"/>
              </a:rPr>
              <a:t>Lineal</a:t>
            </a:r>
            <a:endParaRPr lang="en-US" sz="1400" dirty="0"/>
          </a:p>
        </p:txBody>
      </p:sp>
      <p:sp>
        <p:nvSpPr>
          <p:cNvPr id="15" name="Text 13"/>
          <p:cNvSpPr/>
          <p:nvPr/>
        </p:nvSpPr>
        <p:spPr>
          <a:xfrm>
            <a:off x="5577840" y="2834640"/>
            <a:ext cx="5852160" cy="777240"/>
          </a:xfrm>
          <a:prstGeom prst="rect">
            <a:avLst/>
          </a:prstGeom>
          <a:noFill/>
          <a:ln/>
        </p:spPr>
        <p:txBody>
          <a:bodyPr wrap="square" rtlCol="0" anchor="ctr"/>
          <a:lstStyle/>
          <a:p>
            <a:pPr marL="0" indent="0">
              <a:buNone/>
            </a:pPr>
            <a:r>
              <a:rPr lang="en-US" sz="1250" dirty="0">
                <a:solidFill>
                  <a:srgbClr val="1C1C2A"/>
                </a:solidFill>
                <a:latin typeface="Calibri" pitchFamily="34" charset="0"/>
                <a:ea typeface="Calibri" pitchFamily="34" charset="-122"/>
                <a:cs typeface="Calibri" pitchFamily="34" charset="-120"/>
              </a:rPr>
              <a:t>El tiempo crece de forma directa con la cantidad de datos.</a:t>
            </a:r>
            <a:endParaRPr lang="en-US" sz="1250" dirty="0"/>
          </a:p>
        </p:txBody>
      </p:sp>
      <p:sp>
        <p:nvSpPr>
          <p:cNvPr id="16" name="Shape 14"/>
          <p:cNvSpPr/>
          <p:nvPr/>
        </p:nvSpPr>
        <p:spPr>
          <a:xfrm>
            <a:off x="548640" y="3611880"/>
            <a:ext cx="11064240" cy="777240"/>
          </a:xfrm>
          <a:prstGeom prst="rect">
            <a:avLst/>
          </a:prstGeom>
          <a:solidFill>
            <a:srgbClr val="F5F7FC"/>
          </a:solidFill>
          <a:ln w="6350">
            <a:solidFill>
              <a:srgbClr val="CADCFC"/>
            </a:solidFill>
            <a:prstDash val="solid"/>
          </a:ln>
        </p:spPr>
        <p:txBody>
          <a:bodyPr/>
          <a:lstStyle/>
          <a:p>
            <a:endParaRPr lang="es-AR"/>
          </a:p>
        </p:txBody>
      </p:sp>
      <p:sp>
        <p:nvSpPr>
          <p:cNvPr id="17" name="Text 15"/>
          <p:cNvSpPr/>
          <p:nvPr/>
        </p:nvSpPr>
        <p:spPr>
          <a:xfrm>
            <a:off x="731520" y="3611880"/>
            <a:ext cx="3200400" cy="777240"/>
          </a:xfrm>
          <a:prstGeom prst="rect">
            <a:avLst/>
          </a:prstGeom>
          <a:noFill/>
          <a:ln/>
        </p:spPr>
        <p:txBody>
          <a:bodyPr wrap="square" rtlCol="0" anchor="ctr"/>
          <a:lstStyle/>
          <a:p>
            <a:pPr marL="0" indent="0">
              <a:buNone/>
            </a:pPr>
            <a:r>
              <a:rPr lang="en-US" sz="1300" dirty="0">
                <a:solidFill>
                  <a:srgbClr val="1C1C2A"/>
                </a:solidFill>
                <a:latin typeface="Courier New" pitchFamily="34" charset="0"/>
                <a:ea typeface="Courier New" pitchFamily="34" charset="-122"/>
                <a:cs typeface="Courier New" pitchFamily="34" charset="-120"/>
              </a:rPr>
              <a:t>O(n²)</a:t>
            </a:r>
            <a:endParaRPr lang="en-US" sz="1300" dirty="0"/>
          </a:p>
        </p:txBody>
      </p:sp>
      <p:sp>
        <p:nvSpPr>
          <p:cNvPr id="18" name="Text 16"/>
          <p:cNvSpPr/>
          <p:nvPr/>
        </p:nvSpPr>
        <p:spPr>
          <a:xfrm>
            <a:off x="3931920" y="3611880"/>
            <a:ext cx="1645920" cy="777240"/>
          </a:xfrm>
          <a:prstGeom prst="rect">
            <a:avLst/>
          </a:prstGeom>
          <a:noFill/>
          <a:ln/>
        </p:spPr>
        <p:txBody>
          <a:bodyPr wrap="square" rtlCol="0" anchor="ctr"/>
          <a:lstStyle/>
          <a:p>
            <a:pPr marL="0" indent="0">
              <a:buNone/>
            </a:pPr>
            <a:r>
              <a:rPr lang="en-US" sz="1400" b="1" dirty="0">
                <a:solidFill>
                  <a:srgbClr val="E8A33D"/>
                </a:solidFill>
                <a:latin typeface="Courier New" pitchFamily="34" charset="0"/>
                <a:ea typeface="Courier New" pitchFamily="34" charset="-122"/>
                <a:cs typeface="Courier New" pitchFamily="34" charset="-120"/>
              </a:rPr>
              <a:t>Cuadrático</a:t>
            </a:r>
            <a:endParaRPr lang="en-US" sz="1400" dirty="0"/>
          </a:p>
        </p:txBody>
      </p:sp>
      <p:sp>
        <p:nvSpPr>
          <p:cNvPr id="19" name="Text 17"/>
          <p:cNvSpPr/>
          <p:nvPr/>
        </p:nvSpPr>
        <p:spPr>
          <a:xfrm>
            <a:off x="5577840" y="3611880"/>
            <a:ext cx="5852160" cy="777240"/>
          </a:xfrm>
          <a:prstGeom prst="rect">
            <a:avLst/>
          </a:prstGeom>
          <a:noFill/>
          <a:ln/>
        </p:spPr>
        <p:txBody>
          <a:bodyPr wrap="square" rtlCol="0" anchor="ctr"/>
          <a:lstStyle/>
          <a:p>
            <a:pPr marL="0" indent="0">
              <a:buNone/>
            </a:pPr>
            <a:r>
              <a:rPr lang="en-US" sz="1250" dirty="0">
                <a:solidFill>
                  <a:srgbClr val="1C1C2A"/>
                </a:solidFill>
                <a:latin typeface="Calibri" pitchFamily="34" charset="0"/>
                <a:ea typeface="Calibri" pitchFamily="34" charset="-122"/>
                <a:cs typeface="Calibri" pitchFamily="34" charset="-120"/>
              </a:rPr>
              <a:t>El tiempo crece muy rápido, común en bucles dentro de bucles.</a:t>
            </a:r>
            <a:endParaRPr lang="en-US" sz="1250" dirty="0"/>
          </a:p>
        </p:txBody>
      </p:sp>
      <p:sp>
        <p:nvSpPr>
          <p:cNvPr id="20" name="Shape 18"/>
          <p:cNvSpPr/>
          <p:nvPr/>
        </p:nvSpPr>
        <p:spPr>
          <a:xfrm>
            <a:off x="548640" y="4389120"/>
            <a:ext cx="11064240" cy="777240"/>
          </a:xfrm>
          <a:prstGeom prst="rect">
            <a:avLst/>
          </a:prstGeom>
          <a:solidFill>
            <a:srgbClr val="FFFFFF"/>
          </a:solidFill>
          <a:ln w="6350">
            <a:solidFill>
              <a:srgbClr val="CADCFC"/>
            </a:solidFill>
            <a:prstDash val="solid"/>
          </a:ln>
        </p:spPr>
        <p:txBody>
          <a:bodyPr/>
          <a:lstStyle/>
          <a:p>
            <a:endParaRPr lang="es-AR"/>
          </a:p>
        </p:txBody>
      </p:sp>
      <p:sp>
        <p:nvSpPr>
          <p:cNvPr id="21" name="Text 19"/>
          <p:cNvSpPr/>
          <p:nvPr/>
        </p:nvSpPr>
        <p:spPr>
          <a:xfrm>
            <a:off x="731520" y="4389120"/>
            <a:ext cx="3200400" cy="777240"/>
          </a:xfrm>
          <a:prstGeom prst="rect">
            <a:avLst/>
          </a:prstGeom>
          <a:noFill/>
          <a:ln/>
        </p:spPr>
        <p:txBody>
          <a:bodyPr wrap="square" rtlCol="0" anchor="ctr"/>
          <a:lstStyle/>
          <a:p>
            <a:pPr marL="0" indent="0">
              <a:buNone/>
            </a:pPr>
            <a:r>
              <a:rPr lang="en-US" sz="1300" dirty="0">
                <a:solidFill>
                  <a:srgbClr val="1C1C2A"/>
                </a:solidFill>
                <a:latin typeface="Courier New" pitchFamily="34" charset="0"/>
                <a:ea typeface="Courier New" pitchFamily="34" charset="-122"/>
                <a:cs typeface="Courier New" pitchFamily="34" charset="-120"/>
              </a:rPr>
              <a:t>O(log n)</a:t>
            </a:r>
            <a:endParaRPr lang="en-US" sz="1300" dirty="0"/>
          </a:p>
        </p:txBody>
      </p:sp>
      <p:sp>
        <p:nvSpPr>
          <p:cNvPr id="22" name="Text 20"/>
          <p:cNvSpPr/>
          <p:nvPr/>
        </p:nvSpPr>
        <p:spPr>
          <a:xfrm>
            <a:off x="3931920" y="4389120"/>
            <a:ext cx="1645920" cy="777240"/>
          </a:xfrm>
          <a:prstGeom prst="rect">
            <a:avLst/>
          </a:prstGeom>
          <a:noFill/>
          <a:ln/>
        </p:spPr>
        <p:txBody>
          <a:bodyPr wrap="square" rtlCol="0" anchor="ctr"/>
          <a:lstStyle/>
          <a:p>
            <a:pPr marL="0" indent="0">
              <a:buNone/>
            </a:pPr>
            <a:r>
              <a:rPr lang="en-US" sz="1400" b="1" dirty="0">
                <a:solidFill>
                  <a:srgbClr val="E8A33D"/>
                </a:solidFill>
                <a:latin typeface="Courier New" pitchFamily="34" charset="0"/>
                <a:ea typeface="Courier New" pitchFamily="34" charset="-122"/>
                <a:cs typeface="Courier New" pitchFamily="34" charset="-120"/>
              </a:rPr>
              <a:t>Logarítmico</a:t>
            </a:r>
            <a:endParaRPr lang="en-US" sz="1400" dirty="0"/>
          </a:p>
        </p:txBody>
      </p:sp>
      <p:sp>
        <p:nvSpPr>
          <p:cNvPr id="23" name="Text 21"/>
          <p:cNvSpPr/>
          <p:nvPr/>
        </p:nvSpPr>
        <p:spPr>
          <a:xfrm>
            <a:off x="5577840" y="4389120"/>
            <a:ext cx="5852160" cy="777240"/>
          </a:xfrm>
          <a:prstGeom prst="rect">
            <a:avLst/>
          </a:prstGeom>
          <a:noFill/>
          <a:ln/>
        </p:spPr>
        <p:txBody>
          <a:bodyPr wrap="square" rtlCol="0" anchor="ctr"/>
          <a:lstStyle/>
          <a:p>
            <a:pPr marL="0" indent="0">
              <a:buNone/>
            </a:pPr>
            <a:r>
              <a:rPr lang="en-US" sz="1250" dirty="0">
                <a:solidFill>
                  <a:srgbClr val="1C1C2A"/>
                </a:solidFill>
                <a:latin typeface="Calibri" pitchFamily="34" charset="0"/>
                <a:ea typeface="Calibri" pitchFamily="34" charset="-122"/>
                <a:cs typeface="Calibri" pitchFamily="34" charset="-120"/>
              </a:rPr>
              <a:t>El tiempo crece lento, muy eficiente al buscar en listas ordenadas.</a:t>
            </a:r>
            <a:endParaRPr lang="en-US" sz="1250" dirty="0"/>
          </a:p>
        </p:txBody>
      </p:sp>
      <p:sp>
        <p:nvSpPr>
          <p:cNvPr id="24" name="Text 22"/>
          <p:cNvSpPr/>
          <p:nvPr/>
        </p:nvSpPr>
        <p:spPr>
          <a:xfrm>
            <a:off x="548640" y="5349240"/>
            <a:ext cx="11064240" cy="457200"/>
          </a:xfrm>
          <a:prstGeom prst="rect">
            <a:avLst/>
          </a:prstGeom>
          <a:noFill/>
          <a:ln/>
        </p:spPr>
        <p:txBody>
          <a:bodyPr wrap="square"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Big O no mide segundos: mide cómo escala el costo cuando la cantidad de datos (n) crece. Es la forma formal de lo que venimos llamando "</a:t>
            </a:r>
            <a:r>
              <a:rPr lang="en-US" sz="1300" i="1" dirty="0" err="1">
                <a:solidFill>
                  <a:srgbClr val="5B6472"/>
                </a:solidFill>
                <a:latin typeface="Calibri" pitchFamily="34" charset="0"/>
                <a:ea typeface="Calibri" pitchFamily="34" charset="-122"/>
                <a:cs typeface="Calibri" pitchFamily="34" charset="-120"/>
              </a:rPr>
              <a:t>costo</a:t>
            </a:r>
            <a:r>
              <a:rPr lang="en-US" sz="1300" i="1" dirty="0">
                <a:solidFill>
                  <a:srgbClr val="5B6472"/>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457200" y="6537960"/>
            <a:ext cx="82296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26" name="Text 24"/>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0AA69-15F2-4430-DB14-C85957CD3BC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1A7662A-14DB-61E9-3A95-EC3BD8AC6A87}"/>
              </a:ext>
            </a:extLst>
          </p:cNvPr>
          <p:cNvSpPr/>
          <p:nvPr/>
        </p:nvSpPr>
        <p:spPr>
          <a:xfrm>
            <a:off x="548640" y="320040"/>
            <a:ext cx="109728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BLOQUE 24</a:t>
            </a:r>
            <a:endParaRPr lang="en-US" sz="1300" dirty="0"/>
          </a:p>
        </p:txBody>
      </p:sp>
      <p:sp>
        <p:nvSpPr>
          <p:cNvPr id="25" name="Text 23">
            <a:extLst>
              <a:ext uri="{FF2B5EF4-FFF2-40B4-BE49-F238E27FC236}">
                <a16:creationId xmlns:a16="http://schemas.microsoft.com/office/drawing/2014/main" id="{A70D3107-4EE4-E889-0BAF-1159FE523988}"/>
              </a:ext>
            </a:extLst>
          </p:cNvPr>
          <p:cNvSpPr/>
          <p:nvPr/>
        </p:nvSpPr>
        <p:spPr>
          <a:xfrm>
            <a:off x="457200" y="6537960"/>
            <a:ext cx="82296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26" name="Text 24">
            <a:extLst>
              <a:ext uri="{FF2B5EF4-FFF2-40B4-BE49-F238E27FC236}">
                <a16:creationId xmlns:a16="http://schemas.microsoft.com/office/drawing/2014/main" id="{4C17E69B-7C99-3DB9-BF2A-E8CB52B70894}"/>
              </a:ext>
            </a:extLst>
          </p:cNvPr>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53</a:t>
            </a:r>
            <a:endParaRPr lang="en-US" sz="1000" dirty="0"/>
          </a:p>
        </p:txBody>
      </p:sp>
      <p:pic>
        <p:nvPicPr>
          <p:cNvPr id="5" name="Imagen 4" descr="Big O Notation: Lo que los Entrevistadores Realmente Esperan que Sepas  [2026] | Developero">
            <a:extLst>
              <a:ext uri="{FF2B5EF4-FFF2-40B4-BE49-F238E27FC236}">
                <a16:creationId xmlns:a16="http://schemas.microsoft.com/office/drawing/2014/main" id="{C12A2203-D580-99E3-5CCD-4C9739C3A30D}"/>
              </a:ext>
            </a:extLst>
          </p:cNvPr>
          <p:cNvPicPr>
            <a:picLocks noChangeAspect="1"/>
          </p:cNvPicPr>
          <p:nvPr/>
        </p:nvPicPr>
        <p:blipFill>
          <a:blip r:embed="rId2"/>
          <a:stretch>
            <a:fillRect/>
          </a:stretch>
        </p:blipFill>
        <p:spPr>
          <a:xfrm>
            <a:off x="2313035" y="1357385"/>
            <a:ext cx="7444010" cy="3908105"/>
          </a:xfrm>
          <a:prstGeom prst="rect">
            <a:avLst/>
          </a:prstGeom>
        </p:spPr>
      </p:pic>
      <p:sp>
        <p:nvSpPr>
          <p:cNvPr id="4" name="Text 1">
            <a:extLst>
              <a:ext uri="{FF2B5EF4-FFF2-40B4-BE49-F238E27FC236}">
                <a16:creationId xmlns:a16="http://schemas.microsoft.com/office/drawing/2014/main" id="{2A15AAAE-F7B7-5C52-D66C-EC664BBF5DFB}"/>
              </a:ext>
            </a:extLst>
          </p:cNvPr>
          <p:cNvSpPr/>
          <p:nvPr/>
        </p:nvSpPr>
        <p:spPr>
          <a:xfrm>
            <a:off x="457200" y="5445807"/>
            <a:ext cx="10972800" cy="731520"/>
          </a:xfrm>
          <a:prstGeom prst="rect">
            <a:avLst/>
          </a:prstGeom>
          <a:noFill/>
          <a:ln/>
        </p:spPr>
        <p:txBody>
          <a:bodyPr wrap="square" rtlCol="0" anchor="ctr"/>
          <a:lstStyle/>
          <a:p>
            <a:r>
              <a:rPr lang="en-US" sz="2800" b="1" dirty="0">
                <a:solidFill>
                  <a:srgbClr val="1E2761"/>
                </a:solidFill>
                <a:latin typeface="Cambria" pitchFamily="34" charset="0"/>
                <a:ea typeface="Cambria" pitchFamily="34" charset="-122"/>
                <a:cs typeface="Cambria" pitchFamily="34" charset="-120"/>
              </a:rPr>
              <a:t>Acceder al link: </a:t>
            </a:r>
            <a:r>
              <a:rPr lang="en-US" sz="2800" b="1" dirty="0">
                <a:solidFill>
                  <a:srgbClr val="1E2761"/>
                </a:solidFill>
                <a:latin typeface="Cambria" pitchFamily="34" charset="0"/>
                <a:ea typeface="Cambria" pitchFamily="34" charset="-122"/>
                <a:cs typeface="Cambria" pitchFamily="34" charset="-120"/>
                <a:hlinkClick r:id="rId3"/>
              </a:rPr>
              <a:t>https://n9.cl/tgifc</a:t>
            </a:r>
            <a:endParaRPr lang="en-US" sz="2800" b="1" dirty="0">
              <a:solidFill>
                <a:srgbClr val="1E2761"/>
              </a:solidFill>
              <a:latin typeface="Cambria" pitchFamily="34" charset="0"/>
              <a:ea typeface="Cambria" pitchFamily="34" charset="-122"/>
              <a:cs typeface="Cambria" pitchFamily="34" charset="-120"/>
            </a:endParaRPr>
          </a:p>
          <a:p>
            <a:r>
              <a:rPr lang="en-US" sz="1000" dirty="0">
                <a:hlinkClick r:id="rId4"/>
              </a:rPr>
              <a:t>https://claude.ai/code/artifact/cec673f2-6263-46ae-a05a-b16f6326cc07</a:t>
            </a:r>
            <a:endParaRPr lang="en-US" sz="1000" dirty="0"/>
          </a:p>
          <a:p>
            <a:endParaRPr lang="en-US" sz="1000" dirty="0"/>
          </a:p>
        </p:txBody>
      </p:sp>
      <p:sp>
        <p:nvSpPr>
          <p:cNvPr id="7" name="Text 1">
            <a:extLst>
              <a:ext uri="{FF2B5EF4-FFF2-40B4-BE49-F238E27FC236}">
                <a16:creationId xmlns:a16="http://schemas.microsoft.com/office/drawing/2014/main" id="{F7A97C01-DE89-AA7B-DE4B-CC055219E1D8}"/>
              </a:ext>
            </a:extLst>
          </p:cNvPr>
          <p:cNvSpPr/>
          <p:nvPr/>
        </p:nvSpPr>
        <p:spPr>
          <a:xfrm>
            <a:off x="548640" y="621792"/>
            <a:ext cx="10972800" cy="7315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¿Qué es la Notación Big O?</a:t>
            </a:r>
            <a:endParaRPr lang="en-US" sz="2800" dirty="0"/>
          </a:p>
        </p:txBody>
      </p:sp>
    </p:spTree>
    <p:extLst>
      <p:ext uri="{BB962C8B-B14F-4D97-AF65-F5344CB8AC3E}">
        <p14:creationId xmlns:p14="http://schemas.microsoft.com/office/powerpoint/2010/main" val="31974647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BLOQUE 24</a:t>
            </a:r>
            <a:endParaRPr lang="en-US" sz="130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Un ejemplo de cada tipo</a:t>
            </a:r>
            <a:endParaRPr lang="en-US" sz="2800" dirty="0"/>
          </a:p>
        </p:txBody>
      </p:sp>
      <p:sp>
        <p:nvSpPr>
          <p:cNvPr id="30" name="Label 30"/>
          <p:cNvSpPr/>
          <p:nvPr/>
        </p:nvSpPr>
        <p:spPr>
          <a:xfrm>
            <a:off x="548640" y="1463040"/>
            <a:ext cx="5440680" cy="365760"/>
          </a:xfrm>
          <a:prstGeom prst="rect">
            <a:avLst/>
          </a:prstGeom>
          <a:noFill/>
          <a:ln/>
        </p:spPr>
        <p:txBody>
          <a:bodyPr wrap="square" rtlCol="0" anchor="ctr"/>
          <a:lstStyle/>
          <a:p>
            <a:pPr marL="0" indent="0">
              <a:buNone/>
            </a:pPr>
            <a:r>
              <a:rPr lang="es-AR" sz="1500" b="1" dirty="0">
                <a:solidFill>
                  <a:srgbClr val="1E2761"/>
                </a:solidFill>
                <a:latin typeface="Calibri" pitchFamily="34" charset="0"/>
                <a:ea typeface="Calibri" pitchFamily="34" charset="-122"/>
                <a:cs typeface="Calibri" pitchFamily="34" charset="-120"/>
              </a:rPr>
              <a:t>O(1) — Constante</a:t>
            </a:r>
            <a:endParaRPr lang="es-AR" sz="1500" dirty="0"/>
          </a:p>
        </p:txBody>
      </p:sp>
      <p:sp>
        <p:nvSpPr>
          <p:cNvPr id="31" name="Code 31"/>
          <p:cNvSpPr/>
          <p:nvPr/>
        </p:nvSpPr>
        <p:spPr>
          <a:xfrm>
            <a:off x="548640" y="1920240"/>
            <a:ext cx="5440680" cy="1737360"/>
          </a:xfrm>
          <a:prstGeom prst="roundRect">
            <a:avLst>
              <a:gd name="adj" fmla="val 6000"/>
            </a:avLst>
          </a:prstGeom>
          <a:solidFill>
            <a:srgbClr val="F4F6FB"/>
          </a:solidFill>
          <a:ln w="6350">
            <a:solidFill>
              <a:srgbClr val="CADCFC"/>
            </a:solidFill>
            <a:prstDash val="solid"/>
          </a:ln>
        </p:spPr>
        <p:txBody>
          <a:bodyPr/>
          <a:lstStyle/>
          <a:p>
            <a:endParaRPr lang="es-AR"/>
          </a:p>
        </p:txBody>
      </p:sp>
      <p:sp>
        <p:nvSpPr>
          <p:cNvPr id="32" name="CodeText 32"/>
          <p:cNvSpPr/>
          <p:nvPr/>
        </p:nvSpPr>
        <p:spPr>
          <a:xfrm>
            <a:off x="685800" y="2057400"/>
            <a:ext cx="5166360" cy="1463040"/>
          </a:xfrm>
          <a:prstGeom prst="rect">
            <a:avLst/>
          </a:prstGeom>
          <a:noFill/>
          <a:ln/>
        </p:spPr>
        <p:txBody>
          <a:bodyPr wrap="square" rtlCol="0" anchor="t">
            <a:normAutofit/>
          </a:bodyPr>
          <a:lstStyle/>
          <a:p>
            <a:pPr marL="0" indent="0">
              <a:buNone/>
            </a:pPr>
            <a:r>
              <a:rPr lang="en-US" sz="1050" dirty="0">
                <a:solidFill>
                  <a:srgbClr val="1C1C2A"/>
                </a:solidFill>
                <a:latin typeface="Courier New" pitchFamily="34" charset="0"/>
                <a:ea typeface="Courier New" pitchFamily="34" charset="-122"/>
                <a:cs typeface="Courier New" pitchFamily="34" charset="-120"/>
              </a:rPr>
              <a:t>int primero(int[] datos) {</a:t>
            </a:r>
          </a:p>
          <a:p>
            <a:pPr marL="0" indent="0">
              <a:buNone/>
            </a:pPr>
            <a:r>
              <a:rPr lang="en-US" sz="1050" dirty="0">
                <a:solidFill>
                  <a:srgbClr val="1C1C2A"/>
                </a:solidFill>
                <a:latin typeface="Courier New" pitchFamily="34" charset="0"/>
                <a:ea typeface="Courier New" pitchFamily="34" charset="-122"/>
                <a:cs typeface="Courier New" pitchFamily="34" charset="-120"/>
              </a:rPr>
              <a:t>    return datos[0];</a:t>
            </a:r>
          </a:p>
          <a:p>
            <a:pPr marL="0" indent="0">
              <a:buNone/>
            </a:pPr>
            <a:r>
              <a:rPr lang="en-US" sz="1050" dirty="0">
                <a:solidFill>
                  <a:srgbClr val="1C1C2A"/>
                </a:solidFill>
                <a:latin typeface="Courier New" pitchFamily="34" charset="0"/>
                <a:ea typeface="Courier New" pitchFamily="34" charset="-122"/>
                <a:cs typeface="Courier New" pitchFamily="34" charset="-120"/>
              </a:rPr>
              <a:t>}</a:t>
            </a:r>
          </a:p>
          <a:p>
            <a:pPr marL="0" indent="0">
              <a:buNone/>
            </a:pPr>
            <a:r>
              <a:rPr lang="en-US" sz="1050" dirty="0">
                <a:solidFill>
                  <a:srgbClr val="1C1C2A"/>
                </a:solidFill>
                <a:latin typeface="Courier New" pitchFamily="34" charset="0"/>
                <a:ea typeface="Courier New" pitchFamily="34" charset="-122"/>
                <a:cs typeface="Courier New" pitchFamily="34" charset="-120"/>
              </a:rPr>
              <a:t>// mismo tiempo, sin importar</a:t>
            </a:r>
          </a:p>
          <a:p>
            <a:pPr marL="0" indent="0">
              <a:buNone/>
            </a:pPr>
            <a:r>
              <a:rPr lang="en-US" sz="1050" dirty="0">
                <a:solidFill>
                  <a:srgbClr val="1C1C2A"/>
                </a:solidFill>
                <a:latin typeface="Courier New" pitchFamily="34" charset="0"/>
                <a:ea typeface="Courier New" pitchFamily="34" charset="-122"/>
                <a:cs typeface="Courier New" pitchFamily="34" charset="-120"/>
              </a:rPr>
              <a:t>// el tamano del array</a:t>
            </a:r>
          </a:p>
        </p:txBody>
      </p:sp>
      <p:sp>
        <p:nvSpPr>
          <p:cNvPr id="33" name="Label 33"/>
          <p:cNvSpPr/>
          <p:nvPr/>
        </p:nvSpPr>
        <p:spPr>
          <a:xfrm>
            <a:off x="6172200" y="1463040"/>
            <a:ext cx="5440680" cy="365760"/>
          </a:xfrm>
          <a:prstGeom prst="rect">
            <a:avLst/>
          </a:prstGeom>
          <a:noFill/>
          <a:ln/>
        </p:spPr>
        <p:txBody>
          <a:bodyPr wrap="square" rtlCol="0" anchor="ctr"/>
          <a:lstStyle/>
          <a:p>
            <a:pPr marL="0" indent="0">
              <a:buNone/>
            </a:pPr>
            <a:r>
              <a:rPr lang="es-AR" sz="1500" b="1" dirty="0">
                <a:solidFill>
                  <a:srgbClr val="1E2761"/>
                </a:solidFill>
                <a:latin typeface="Calibri" pitchFamily="34" charset="0"/>
                <a:ea typeface="Calibri" pitchFamily="34" charset="-122"/>
                <a:cs typeface="Calibri" pitchFamily="34" charset="-120"/>
              </a:rPr>
              <a:t>O(n) — Lineal</a:t>
            </a:r>
            <a:endParaRPr lang="es-AR" sz="1500" dirty="0"/>
          </a:p>
        </p:txBody>
      </p:sp>
      <p:sp>
        <p:nvSpPr>
          <p:cNvPr id="34" name="Code 34"/>
          <p:cNvSpPr/>
          <p:nvPr/>
        </p:nvSpPr>
        <p:spPr>
          <a:xfrm>
            <a:off x="6172200" y="1920240"/>
            <a:ext cx="5440680" cy="1737360"/>
          </a:xfrm>
          <a:prstGeom prst="roundRect">
            <a:avLst>
              <a:gd name="adj" fmla="val 6000"/>
            </a:avLst>
          </a:prstGeom>
          <a:solidFill>
            <a:srgbClr val="F4F6FB"/>
          </a:solidFill>
          <a:ln w="6350">
            <a:solidFill>
              <a:srgbClr val="CADCFC"/>
            </a:solidFill>
            <a:prstDash val="solid"/>
          </a:ln>
        </p:spPr>
        <p:txBody>
          <a:bodyPr/>
          <a:lstStyle/>
          <a:p>
            <a:endParaRPr lang="es-AR"/>
          </a:p>
        </p:txBody>
      </p:sp>
      <p:sp>
        <p:nvSpPr>
          <p:cNvPr id="35" name="CodeText 35"/>
          <p:cNvSpPr/>
          <p:nvPr/>
        </p:nvSpPr>
        <p:spPr>
          <a:xfrm>
            <a:off x="6309360" y="2057400"/>
            <a:ext cx="5166360" cy="1463040"/>
          </a:xfrm>
          <a:prstGeom prst="rect">
            <a:avLst/>
          </a:prstGeom>
          <a:noFill/>
          <a:ln/>
        </p:spPr>
        <p:txBody>
          <a:bodyPr wrap="square" rtlCol="0" anchor="t">
            <a:normAutofit/>
          </a:bodyPr>
          <a:lstStyle/>
          <a:p>
            <a:pPr marL="0" indent="0">
              <a:buNone/>
            </a:pPr>
            <a:r>
              <a:rPr lang="en-US" sz="1050" dirty="0">
                <a:solidFill>
                  <a:srgbClr val="1C1C2A"/>
                </a:solidFill>
                <a:latin typeface="Courier New" pitchFamily="34" charset="0"/>
                <a:ea typeface="Courier New" pitchFamily="34" charset="-122"/>
                <a:cs typeface="Courier New" pitchFamily="34" charset="-120"/>
              </a:rPr>
              <a:t>boolean pertenece(int[] d, int x) {</a:t>
            </a:r>
          </a:p>
          <a:p>
            <a:pPr marL="0" indent="0">
              <a:buNone/>
            </a:pPr>
            <a:r>
              <a:rPr lang="en-US" sz="1050" dirty="0">
                <a:solidFill>
                  <a:srgbClr val="1C1C2A"/>
                </a:solidFill>
                <a:latin typeface="Courier New" pitchFamily="34" charset="0"/>
                <a:ea typeface="Courier New" pitchFamily="34" charset="-122"/>
                <a:cs typeface="Courier New" pitchFamily="34" charset="-120"/>
              </a:rPr>
              <a:t>  for (int i=0; i&lt;d.length; i++)</a:t>
            </a:r>
          </a:p>
          <a:p>
            <a:pPr marL="0" indent="0">
              <a:buNone/>
            </a:pPr>
            <a:r>
              <a:rPr lang="en-US" sz="1050" dirty="0">
                <a:solidFill>
                  <a:srgbClr val="1C1C2A"/>
                </a:solidFill>
                <a:latin typeface="Courier New" pitchFamily="34" charset="0"/>
                <a:ea typeface="Courier New" pitchFamily="34" charset="-122"/>
                <a:cs typeface="Courier New" pitchFamily="34" charset="-120"/>
              </a:rPr>
              <a:t>    if (d[i]==x) return true;</a:t>
            </a:r>
          </a:p>
          <a:p>
            <a:pPr marL="0" indent="0">
              <a:buNone/>
            </a:pPr>
            <a:r>
              <a:rPr lang="en-US" sz="1050" dirty="0">
                <a:solidFill>
                  <a:srgbClr val="1C1C2A"/>
                </a:solidFill>
                <a:latin typeface="Courier New" pitchFamily="34" charset="0"/>
                <a:ea typeface="Courier New" pitchFamily="34" charset="-122"/>
                <a:cs typeface="Courier New" pitchFamily="34" charset="-120"/>
              </a:rPr>
              <a:t>  return false;</a:t>
            </a:r>
          </a:p>
          <a:p>
            <a:pPr marL="0" indent="0">
              <a:buNone/>
            </a:pPr>
            <a:r>
              <a:rPr lang="en-US" sz="1050" dirty="0">
                <a:solidFill>
                  <a:srgbClr val="1C1C2A"/>
                </a:solidFill>
                <a:latin typeface="Courier New" pitchFamily="34" charset="0"/>
                <a:ea typeface="Courier New" pitchFamily="34" charset="-122"/>
                <a:cs typeface="Courier New" pitchFamily="34" charset="-120"/>
              </a:rPr>
              <a:t>}</a:t>
            </a:r>
          </a:p>
        </p:txBody>
      </p:sp>
      <p:sp>
        <p:nvSpPr>
          <p:cNvPr id="36" name="Label 36"/>
          <p:cNvSpPr/>
          <p:nvPr/>
        </p:nvSpPr>
        <p:spPr>
          <a:xfrm>
            <a:off x="548640" y="3931920"/>
            <a:ext cx="5440680" cy="365760"/>
          </a:xfrm>
          <a:prstGeom prst="rect">
            <a:avLst/>
          </a:prstGeom>
          <a:noFill/>
          <a:ln/>
        </p:spPr>
        <p:txBody>
          <a:bodyPr wrap="square" rtlCol="0" anchor="ctr"/>
          <a:lstStyle/>
          <a:p>
            <a:pPr marL="0" indent="0">
              <a:buNone/>
            </a:pPr>
            <a:r>
              <a:rPr lang="es-AR" sz="1500" b="1" dirty="0">
                <a:solidFill>
                  <a:srgbClr val="1E2761"/>
                </a:solidFill>
                <a:latin typeface="Calibri" pitchFamily="34" charset="0"/>
                <a:ea typeface="Calibri" pitchFamily="34" charset="-122"/>
                <a:cs typeface="Calibri" pitchFamily="34" charset="-120"/>
              </a:rPr>
              <a:t>O(n²) — Cuadrático</a:t>
            </a:r>
            <a:endParaRPr lang="es-AR" sz="1500" dirty="0"/>
          </a:p>
        </p:txBody>
      </p:sp>
      <p:sp>
        <p:nvSpPr>
          <p:cNvPr id="37" name="Code 37"/>
          <p:cNvSpPr/>
          <p:nvPr/>
        </p:nvSpPr>
        <p:spPr>
          <a:xfrm>
            <a:off x="548640" y="4389120"/>
            <a:ext cx="5440680" cy="1737360"/>
          </a:xfrm>
          <a:prstGeom prst="roundRect">
            <a:avLst>
              <a:gd name="adj" fmla="val 6000"/>
            </a:avLst>
          </a:prstGeom>
          <a:solidFill>
            <a:srgbClr val="F4F6FB"/>
          </a:solidFill>
          <a:ln w="6350">
            <a:solidFill>
              <a:srgbClr val="CADCFC"/>
            </a:solidFill>
            <a:prstDash val="solid"/>
          </a:ln>
        </p:spPr>
        <p:txBody>
          <a:bodyPr/>
          <a:lstStyle/>
          <a:p>
            <a:endParaRPr lang="es-AR"/>
          </a:p>
        </p:txBody>
      </p:sp>
      <p:sp>
        <p:nvSpPr>
          <p:cNvPr id="38" name="CodeText 38"/>
          <p:cNvSpPr/>
          <p:nvPr/>
        </p:nvSpPr>
        <p:spPr>
          <a:xfrm>
            <a:off x="685800" y="4526280"/>
            <a:ext cx="5166360" cy="1463040"/>
          </a:xfrm>
          <a:prstGeom prst="rect">
            <a:avLst/>
          </a:prstGeom>
          <a:noFill/>
          <a:ln/>
        </p:spPr>
        <p:txBody>
          <a:bodyPr wrap="square" rtlCol="0" anchor="t">
            <a:normAutofit/>
          </a:bodyPr>
          <a:lstStyle/>
          <a:p>
            <a:pPr marL="0" indent="0">
              <a:buNone/>
            </a:pPr>
            <a:r>
              <a:rPr lang="en-US" sz="1050" dirty="0">
                <a:solidFill>
                  <a:srgbClr val="1C1C2A"/>
                </a:solidFill>
                <a:latin typeface="Courier New" pitchFamily="34" charset="0"/>
                <a:ea typeface="Courier New" pitchFamily="34" charset="-122"/>
                <a:cs typeface="Courier New" pitchFamily="34" charset="-120"/>
              </a:rPr>
              <a:t>for (int i=0; i&lt;n; i++)</a:t>
            </a:r>
          </a:p>
          <a:p>
            <a:pPr marL="0" indent="0">
              <a:buNone/>
            </a:pPr>
            <a:r>
              <a:rPr lang="en-US" sz="1050" dirty="0">
                <a:solidFill>
                  <a:srgbClr val="1C1C2A"/>
                </a:solidFill>
                <a:latin typeface="Courier New" pitchFamily="34" charset="0"/>
                <a:ea typeface="Courier New" pitchFamily="34" charset="-122"/>
                <a:cs typeface="Courier New" pitchFamily="34" charset="-120"/>
              </a:rPr>
              <a:t>  for (int j=0; j&lt;n; j++)</a:t>
            </a:r>
          </a:p>
          <a:p>
            <a:pPr marL="0" indent="0">
              <a:buNone/>
            </a:pPr>
            <a:r>
              <a:rPr lang="en-US" sz="1050" dirty="0">
                <a:solidFill>
                  <a:srgbClr val="1C1C2A"/>
                </a:solidFill>
                <a:latin typeface="Courier New" pitchFamily="34" charset="0"/>
                <a:ea typeface="Courier New" pitchFamily="34" charset="-122"/>
                <a:cs typeface="Courier New" pitchFamily="34" charset="-120"/>
              </a:rPr>
              <a:t>    print(datos[i]+","+datos[j]);</a:t>
            </a:r>
          </a:p>
          <a:p>
            <a:pPr marL="0" indent="0">
              <a:buNone/>
            </a:pPr>
            <a:r>
              <a:rPr lang="en-US" sz="1050" dirty="0">
                <a:solidFill>
                  <a:srgbClr val="1C1C2A"/>
                </a:solidFill>
                <a:latin typeface="Courier New" pitchFamily="34" charset="0"/>
                <a:ea typeface="Courier New" pitchFamily="34" charset="-122"/>
                <a:cs typeface="Courier New" pitchFamily="34" charset="-120"/>
              </a:rPr>
              <a:t>// n * n operaciones en total</a:t>
            </a:r>
          </a:p>
        </p:txBody>
      </p:sp>
      <p:sp>
        <p:nvSpPr>
          <p:cNvPr id="39" name="Label 39"/>
          <p:cNvSpPr/>
          <p:nvPr/>
        </p:nvSpPr>
        <p:spPr>
          <a:xfrm>
            <a:off x="6172200" y="3931920"/>
            <a:ext cx="5440680" cy="365760"/>
          </a:xfrm>
          <a:prstGeom prst="rect">
            <a:avLst/>
          </a:prstGeom>
          <a:noFill/>
          <a:ln/>
        </p:spPr>
        <p:txBody>
          <a:bodyPr wrap="square" rtlCol="0" anchor="ctr"/>
          <a:lstStyle/>
          <a:p>
            <a:pPr marL="0" indent="0">
              <a:buNone/>
            </a:pPr>
            <a:r>
              <a:rPr lang="es-AR" sz="1500" b="1" dirty="0">
                <a:solidFill>
                  <a:srgbClr val="1E2761"/>
                </a:solidFill>
                <a:latin typeface="Calibri" pitchFamily="34" charset="0"/>
                <a:ea typeface="Calibri" pitchFamily="34" charset="-122"/>
                <a:cs typeface="Calibri" pitchFamily="34" charset="-120"/>
              </a:rPr>
              <a:t>O(log n) — Logarítmico</a:t>
            </a:r>
            <a:endParaRPr lang="es-AR" sz="1500" dirty="0"/>
          </a:p>
        </p:txBody>
      </p:sp>
      <p:sp>
        <p:nvSpPr>
          <p:cNvPr id="40" name="Code 40"/>
          <p:cNvSpPr/>
          <p:nvPr/>
        </p:nvSpPr>
        <p:spPr>
          <a:xfrm>
            <a:off x="6172200" y="4389120"/>
            <a:ext cx="5440680" cy="1737360"/>
          </a:xfrm>
          <a:prstGeom prst="roundRect">
            <a:avLst>
              <a:gd name="adj" fmla="val 6000"/>
            </a:avLst>
          </a:prstGeom>
          <a:solidFill>
            <a:srgbClr val="F4F6FB"/>
          </a:solidFill>
          <a:ln w="6350">
            <a:solidFill>
              <a:srgbClr val="CADCFC"/>
            </a:solidFill>
            <a:prstDash val="solid"/>
          </a:ln>
        </p:spPr>
        <p:txBody>
          <a:bodyPr/>
          <a:lstStyle/>
          <a:p>
            <a:endParaRPr lang="es-AR"/>
          </a:p>
        </p:txBody>
      </p:sp>
      <p:sp>
        <p:nvSpPr>
          <p:cNvPr id="41" name="CodeText 41"/>
          <p:cNvSpPr/>
          <p:nvPr/>
        </p:nvSpPr>
        <p:spPr>
          <a:xfrm>
            <a:off x="6309360" y="4526280"/>
            <a:ext cx="5166360" cy="1463040"/>
          </a:xfrm>
          <a:prstGeom prst="rect">
            <a:avLst/>
          </a:prstGeom>
          <a:noFill/>
          <a:ln/>
        </p:spPr>
        <p:txBody>
          <a:bodyPr wrap="square" rtlCol="0" anchor="t">
            <a:normAutofit/>
          </a:bodyPr>
          <a:lstStyle/>
          <a:p>
            <a:pPr marL="0" indent="0">
              <a:buNone/>
            </a:pPr>
            <a:r>
              <a:rPr lang="en-US" sz="1050" dirty="0">
                <a:solidFill>
                  <a:srgbClr val="1C1C2A"/>
                </a:solidFill>
                <a:latin typeface="Courier New" pitchFamily="34" charset="0"/>
                <a:ea typeface="Courier New" pitchFamily="34" charset="-122"/>
                <a:cs typeface="Courier New" pitchFamily="34" charset="-120"/>
              </a:rPr>
              <a:t>while (inicio &lt;= fin) {</a:t>
            </a:r>
          </a:p>
          <a:p>
            <a:pPr marL="0" indent="0">
              <a:buNone/>
            </a:pPr>
            <a:r>
              <a:rPr lang="en-US" sz="1050" dirty="0">
                <a:solidFill>
                  <a:srgbClr val="1C1C2A"/>
                </a:solidFill>
                <a:latin typeface="Courier New" pitchFamily="34" charset="0"/>
                <a:ea typeface="Courier New" pitchFamily="34" charset="-122"/>
                <a:cs typeface="Courier New" pitchFamily="34" charset="-120"/>
              </a:rPr>
              <a:t>  int medio=(inicio+fin)/2;</a:t>
            </a:r>
          </a:p>
          <a:p>
            <a:pPr marL="0" indent="0">
              <a:buNone/>
            </a:pPr>
            <a:r>
              <a:rPr lang="en-US" sz="1050" dirty="0">
                <a:solidFill>
                  <a:srgbClr val="1C1C2A"/>
                </a:solidFill>
                <a:latin typeface="Courier New" pitchFamily="34" charset="0"/>
                <a:ea typeface="Courier New" pitchFamily="34" charset="-122"/>
                <a:cs typeface="Courier New" pitchFamily="34" charset="-120"/>
              </a:rPr>
              <a:t>  if (d[medio]==x) return true;</a:t>
            </a:r>
          </a:p>
          <a:p>
            <a:pPr marL="0" indent="0">
              <a:buNone/>
            </a:pPr>
            <a:r>
              <a:rPr lang="en-US" sz="1050" dirty="0">
                <a:solidFill>
                  <a:srgbClr val="1C1C2A"/>
                </a:solidFill>
                <a:latin typeface="Courier New" pitchFamily="34" charset="0"/>
                <a:ea typeface="Courier New" pitchFamily="34" charset="-122"/>
                <a:cs typeface="Courier New" pitchFamily="34" charset="-120"/>
              </a:rPr>
              <a:t>  else if (d[medio]&lt;x)</a:t>
            </a:r>
          </a:p>
          <a:p>
            <a:pPr marL="0" indent="0">
              <a:buNone/>
            </a:pPr>
            <a:r>
              <a:rPr lang="en-US" sz="1050" dirty="0">
                <a:solidFill>
                  <a:srgbClr val="1C1C2A"/>
                </a:solidFill>
                <a:latin typeface="Courier New" pitchFamily="34" charset="0"/>
                <a:ea typeface="Courier New" pitchFamily="34" charset="-122"/>
                <a:cs typeface="Courier New" pitchFamily="34" charset="-120"/>
              </a:rPr>
              <a:t>       inicio = medio + 1;</a:t>
            </a:r>
          </a:p>
          <a:p>
            <a:pPr marL="0" indent="0">
              <a:buNone/>
            </a:pPr>
            <a:r>
              <a:rPr lang="en-US" sz="1050" dirty="0">
                <a:solidFill>
                  <a:srgbClr val="1C1C2A"/>
                </a:solidFill>
                <a:latin typeface="Courier New" pitchFamily="34" charset="0"/>
                <a:ea typeface="Courier New" pitchFamily="34" charset="-122"/>
                <a:cs typeface="Courier New" pitchFamily="34" charset="-120"/>
              </a:rPr>
              <a:t>  else fin = medio - 1;</a:t>
            </a:r>
          </a:p>
          <a:p>
            <a:pPr marL="0" indent="0">
              <a:buNone/>
            </a:pPr>
            <a:r>
              <a:rPr lang="en-US" sz="1050" dirty="0">
                <a:solidFill>
                  <a:srgbClr val="1C1C2A"/>
                </a:solidFill>
                <a:latin typeface="Courier New" pitchFamily="34" charset="0"/>
                <a:ea typeface="Courier New" pitchFamily="34" charset="-122"/>
                <a:cs typeface="Courier New" pitchFamily="34" charset="-120"/>
              </a:rPr>
              <a:t>}</a:t>
            </a:r>
          </a:p>
        </p:txBody>
      </p:sp>
      <p:sp>
        <p:nvSpPr>
          <p:cNvPr id="25" name="Text 23"/>
          <p:cNvSpPr/>
          <p:nvPr/>
        </p:nvSpPr>
        <p:spPr>
          <a:xfrm>
            <a:off x="457200" y="6537960"/>
            <a:ext cx="82296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26" name="Text 24"/>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8D645-F6C9-AA9E-CDD5-7410E095B55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091D1E2-E5B6-7369-EE6B-7ED5E2EB6859}"/>
              </a:ext>
            </a:extLst>
          </p:cNvPr>
          <p:cNvSpPr/>
          <p:nvPr/>
        </p:nvSpPr>
        <p:spPr>
          <a:xfrm>
            <a:off x="548640" y="320040"/>
            <a:ext cx="109728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BLOQUE 24</a:t>
            </a:r>
            <a:endParaRPr lang="en-US" sz="1300" dirty="0"/>
          </a:p>
        </p:txBody>
      </p:sp>
      <p:sp>
        <p:nvSpPr>
          <p:cNvPr id="25" name="Text 23">
            <a:extLst>
              <a:ext uri="{FF2B5EF4-FFF2-40B4-BE49-F238E27FC236}">
                <a16:creationId xmlns:a16="http://schemas.microsoft.com/office/drawing/2014/main" id="{17785AED-9373-44A2-8DA2-0C6F60DE214E}"/>
              </a:ext>
            </a:extLst>
          </p:cNvPr>
          <p:cNvSpPr/>
          <p:nvPr/>
        </p:nvSpPr>
        <p:spPr>
          <a:xfrm>
            <a:off x="457200" y="6537960"/>
            <a:ext cx="82296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26" name="Text 24">
            <a:extLst>
              <a:ext uri="{FF2B5EF4-FFF2-40B4-BE49-F238E27FC236}">
                <a16:creationId xmlns:a16="http://schemas.microsoft.com/office/drawing/2014/main" id="{5A694034-7D70-247C-5D24-BCD0D7B5C4B6}"/>
              </a:ext>
            </a:extLst>
          </p:cNvPr>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55</a:t>
            </a:r>
            <a:endParaRPr lang="en-US" sz="1000" dirty="0"/>
          </a:p>
        </p:txBody>
      </p:sp>
      <p:pic>
        <p:nvPicPr>
          <p:cNvPr id="3" name="pila-tope-final-vs-inicio">
            <a:hlinkClick r:id="" action="ppaction://media"/>
            <a:extLst>
              <a:ext uri="{FF2B5EF4-FFF2-40B4-BE49-F238E27FC236}">
                <a16:creationId xmlns:a16="http://schemas.microsoft.com/office/drawing/2014/main" id="{06F4362E-2145-0B4B-BF76-9F235E88EF4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651995" y="640080"/>
            <a:ext cx="4663063" cy="5770388"/>
          </a:xfrm>
          <a:prstGeom prst="rect">
            <a:avLst/>
          </a:prstGeom>
        </p:spPr>
      </p:pic>
    </p:spTree>
    <p:extLst>
      <p:ext uri="{BB962C8B-B14F-4D97-AF65-F5344CB8AC3E}">
        <p14:creationId xmlns:p14="http://schemas.microsoft.com/office/powerpoint/2010/main" val="3169976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2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marL="0" indent="0" algn="l">
              <a:buNone/>
            </a:pPr>
            <a:r>
              <a:rPr lang="en-US" sz="1300" b="1" kern="0" spc="200" dirty="0">
                <a:solidFill>
                  <a:srgbClr val="E8A33D"/>
                </a:solidFill>
                <a:latin typeface="Calibri" pitchFamily="34" charset="0"/>
                <a:ea typeface="Calibri" pitchFamily="34" charset="-122"/>
                <a:cs typeface="Calibri" pitchFamily="34" charset="-120"/>
              </a:rPr>
              <a:t>BLOQUE 25</a:t>
            </a:r>
            <a:endParaRPr lang="en-US" sz="1300" dirty="0"/>
          </a:p>
        </p:txBody>
      </p:sp>
      <p:sp>
        <p:nvSpPr>
          <p:cNvPr id="3" name="Text 1"/>
          <p:cNvSpPr txBox="1"/>
          <p:nvPr/>
        </p:nvSpPr>
        <p:spPr>
          <a:xfrm>
            <a:off x="548640" y="621792"/>
            <a:ext cx="10972800" cy="73152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Reglas de Big O: repaso rápido</a:t>
            </a:r>
            <a:endParaRPr lang="en-US" sz="2800" dirty="0"/>
          </a:p>
        </p:txBody>
      </p:sp>
      <p:sp>
        <p:nvSpPr>
          <p:cNvPr id="4" name="Text 2"/>
          <p:cNvSpPr txBox="1"/>
          <p:nvPr/>
        </p:nvSpPr>
        <p:spPr>
          <a:xfrm>
            <a:off x="548640" y="1600200"/>
            <a:ext cx="10881360" cy="411480"/>
          </a:xfrm>
          <a:prstGeom prst="rect">
            <a:avLst/>
          </a:prstGeom>
          <a:noFill/>
          <a:ln/>
        </p:spPr>
        <p:txBody>
          <a:bodyPr wrap="square" lIns="0" tIns="0" rIns="0" bIns="0" rtlCol="0" anchor="ctr"/>
          <a:lstStyle/>
          <a:p>
            <a:pPr marL="0" indent="0">
              <a:buNone/>
            </a:pPr>
            <a:r>
              <a:rPr lang="en-US" sz="1600" b="1" dirty="0">
                <a:solidFill>
                  <a:srgbClr val="1C1C2A"/>
                </a:solidFill>
                <a:latin typeface="Calibri" pitchFamily="34" charset="0"/>
                <a:ea typeface="Calibri" pitchFamily="34" charset="-122"/>
                <a:cs typeface="Calibri" pitchFamily="34" charset="-120"/>
              </a:rPr>
              <a:t>Para clasificar cualquier fragmento en el parcial, aplicá estas reglas en orden:</a:t>
            </a:r>
            <a:endParaRPr lang="en-US" sz="1600" dirty="0"/>
          </a:p>
        </p:txBody>
      </p:sp>
      <p:sp>
        <p:nvSpPr>
          <p:cNvPr id="5" name="Shape 3"/>
          <p:cNvSpPr/>
          <p:nvPr/>
        </p:nvSpPr>
        <p:spPr>
          <a:xfrm>
            <a:off x="640080" y="2148840"/>
            <a:ext cx="502920" cy="502920"/>
          </a:xfrm>
          <a:prstGeom prst="ellipse">
            <a:avLst/>
          </a:prstGeom>
          <a:solidFill>
            <a:srgbClr val="1E2761"/>
          </a:solidFill>
          <a:ln/>
        </p:spPr>
        <p:txBody>
          <a:bodyPr/>
          <a:lstStyle/>
          <a:p>
            <a:endParaRPr lang="es-AR"/>
          </a:p>
        </p:txBody>
      </p:sp>
      <p:sp>
        <p:nvSpPr>
          <p:cNvPr id="6" name="Text 4"/>
          <p:cNvSpPr txBox="1"/>
          <p:nvPr/>
        </p:nvSpPr>
        <p:spPr>
          <a:xfrm>
            <a:off x="640080" y="21488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325880" y="2103120"/>
            <a:ext cx="987552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1. Contá las iteraciones en función de n</a:t>
            </a:r>
            <a:endParaRPr lang="en-US" sz="1500" dirty="0"/>
          </a:p>
        </p:txBody>
      </p:sp>
      <p:sp>
        <p:nvSpPr>
          <p:cNvPr id="8" name="Text 6"/>
          <p:cNvSpPr txBox="1"/>
          <p:nvPr/>
        </p:nvSpPr>
        <p:spPr>
          <a:xfrm>
            <a:off x="1325880" y="2514600"/>
            <a:ext cx="9875520" cy="624840"/>
          </a:xfrm>
          <a:prstGeom prst="rect">
            <a:avLst/>
          </a:prstGeom>
          <a:noFill/>
          <a:ln/>
        </p:spPr>
        <p:txBody>
          <a:bodyPr wrap="square" lIns="0" tIns="0" rIns="0" bIns="0" rtlCol="0" anchor="t"/>
          <a:lstStyle/>
          <a:p>
            <a:pPr marL="0" indent="0">
              <a:buNone/>
            </a:pPr>
            <a:r>
              <a:rPr lang="en-US" sz="1300" dirty="0">
                <a:solidFill>
                  <a:srgbClr val="1C1C2A"/>
                </a:solidFill>
                <a:latin typeface="Calibri" pitchFamily="34" charset="0"/>
                <a:ea typeface="Calibri" pitchFamily="34" charset="-122"/>
                <a:cs typeface="Calibri" pitchFamily="34" charset="-120"/>
              </a:rPr>
              <a:t>Un bucle simple sobre n elementos con trabajo constante por vuelta: O(n). Bucles anidados que dependen ambos de n: O(n²). Si el rango se divide a la mitad en cada paso: O(log n).</a:t>
            </a:r>
            <a:endParaRPr lang="en-US" sz="1300" dirty="0"/>
          </a:p>
        </p:txBody>
      </p:sp>
      <p:sp>
        <p:nvSpPr>
          <p:cNvPr id="9" name="Shape 7"/>
          <p:cNvSpPr/>
          <p:nvPr/>
        </p:nvSpPr>
        <p:spPr>
          <a:xfrm>
            <a:off x="640080" y="3139440"/>
            <a:ext cx="502920" cy="502920"/>
          </a:xfrm>
          <a:prstGeom prst="ellipse">
            <a:avLst/>
          </a:prstGeom>
          <a:solidFill>
            <a:srgbClr val="1E2761"/>
          </a:solidFill>
          <a:ln/>
        </p:spPr>
        <p:txBody>
          <a:bodyPr/>
          <a:lstStyle/>
          <a:p>
            <a:endParaRPr lang="es-AR"/>
          </a:p>
        </p:txBody>
      </p:sp>
      <p:sp>
        <p:nvSpPr>
          <p:cNvPr id="10" name="Text 8"/>
          <p:cNvSpPr txBox="1"/>
          <p:nvPr/>
        </p:nvSpPr>
        <p:spPr>
          <a:xfrm>
            <a:off x="640080" y="31394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325880" y="3093720"/>
            <a:ext cx="987552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2. Descartá las constantes</a:t>
            </a:r>
            <a:endParaRPr lang="en-US" sz="1500" dirty="0"/>
          </a:p>
        </p:txBody>
      </p:sp>
      <p:sp>
        <p:nvSpPr>
          <p:cNvPr id="12" name="Text 10"/>
          <p:cNvSpPr txBox="1"/>
          <p:nvPr/>
        </p:nvSpPr>
        <p:spPr>
          <a:xfrm>
            <a:off x="1325880" y="3505200"/>
            <a:ext cx="9875520" cy="624840"/>
          </a:xfrm>
          <a:prstGeom prst="rect">
            <a:avLst/>
          </a:prstGeom>
          <a:noFill/>
          <a:ln/>
        </p:spPr>
        <p:txBody>
          <a:bodyPr wrap="square" lIns="0" tIns="0" rIns="0" bIns="0" rtlCol="0" anchor="t"/>
          <a:lstStyle/>
          <a:p>
            <a:pPr marL="0" indent="0">
              <a:buNone/>
            </a:pPr>
            <a:r>
              <a:rPr lang="en-US" sz="1300" dirty="0">
                <a:solidFill>
                  <a:srgbClr val="1C1C2A"/>
                </a:solidFill>
                <a:latin typeface="Calibri" pitchFamily="34" charset="0"/>
                <a:ea typeface="Calibri" pitchFamily="34" charset="-122"/>
                <a:cs typeface="Calibri" pitchFamily="34" charset="-120"/>
              </a:rPr>
              <a:t>Un algoritmo con 3n+7 pasos es O(n), no O(3n+7): las constantes que se suman o multiplican no cambian cómo escala el costo.</a:t>
            </a:r>
            <a:endParaRPr lang="en-US" sz="1300" dirty="0"/>
          </a:p>
        </p:txBody>
      </p:sp>
      <p:sp>
        <p:nvSpPr>
          <p:cNvPr id="13" name="Shape 11"/>
          <p:cNvSpPr/>
          <p:nvPr/>
        </p:nvSpPr>
        <p:spPr>
          <a:xfrm>
            <a:off x="640080" y="4130040"/>
            <a:ext cx="502920" cy="502920"/>
          </a:xfrm>
          <a:prstGeom prst="ellipse">
            <a:avLst/>
          </a:prstGeom>
          <a:solidFill>
            <a:srgbClr val="1E2761"/>
          </a:solidFill>
          <a:ln/>
        </p:spPr>
        <p:txBody>
          <a:bodyPr/>
          <a:lstStyle/>
          <a:p>
            <a:endParaRPr lang="es-AR"/>
          </a:p>
        </p:txBody>
      </p:sp>
      <p:sp>
        <p:nvSpPr>
          <p:cNvPr id="14" name="Text 12"/>
          <p:cNvSpPr txBox="1"/>
          <p:nvPr/>
        </p:nvSpPr>
        <p:spPr>
          <a:xfrm>
            <a:off x="640080" y="41300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325880" y="4084320"/>
            <a:ext cx="987552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3. Quedate con el término dominante</a:t>
            </a:r>
            <a:endParaRPr lang="en-US" sz="1500" dirty="0"/>
          </a:p>
        </p:txBody>
      </p:sp>
      <p:sp>
        <p:nvSpPr>
          <p:cNvPr id="16" name="Text 14"/>
          <p:cNvSpPr txBox="1"/>
          <p:nvPr/>
        </p:nvSpPr>
        <p:spPr>
          <a:xfrm>
            <a:off x="1325880" y="4495800"/>
            <a:ext cx="9875520" cy="624840"/>
          </a:xfrm>
          <a:prstGeom prst="rect">
            <a:avLst/>
          </a:prstGeom>
          <a:noFill/>
          <a:ln/>
        </p:spPr>
        <p:txBody>
          <a:bodyPr wrap="square" lIns="0" tIns="0" rIns="0" bIns="0" rtlCol="0" anchor="t"/>
          <a:lstStyle/>
          <a:p>
            <a:pPr marL="0" indent="0">
              <a:buNone/>
            </a:pPr>
            <a:r>
              <a:rPr lang="en-US" sz="1300" dirty="0">
                <a:solidFill>
                  <a:srgbClr val="1C1C2A"/>
                </a:solidFill>
                <a:latin typeface="Calibri" pitchFamily="34" charset="0"/>
                <a:ea typeface="Calibri" pitchFamily="34" charset="-122"/>
                <a:cs typeface="Calibri" pitchFamily="34" charset="-120"/>
              </a:rPr>
              <a:t>Si un fragmento hace n² + n pasos, n² domina para n grande: el resultado es O(n²), no O(n²+n).</a:t>
            </a:r>
            <a:endParaRPr lang="en-US" sz="1300" dirty="0"/>
          </a:p>
        </p:txBody>
      </p:sp>
      <p:sp>
        <p:nvSpPr>
          <p:cNvPr id="17" name="Shape 15"/>
          <p:cNvSpPr/>
          <p:nvPr/>
        </p:nvSpPr>
        <p:spPr>
          <a:xfrm>
            <a:off x="548640" y="5212080"/>
            <a:ext cx="11064240" cy="1051560"/>
          </a:xfrm>
          <a:prstGeom prst="roundRect">
            <a:avLst>
              <a:gd name="adj" fmla="val 3478"/>
            </a:avLst>
          </a:prstGeom>
          <a:solidFill>
            <a:srgbClr val="1E2761"/>
          </a:solidFill>
          <a:ln/>
        </p:spPr>
        <p:txBody>
          <a:bodyPr/>
          <a:lstStyle/>
          <a:p>
            <a:endParaRPr lang="es-AR"/>
          </a:p>
        </p:txBody>
      </p:sp>
      <p:sp>
        <p:nvSpPr>
          <p:cNvPr id="18" name="Text 16"/>
          <p:cNvSpPr txBox="1"/>
          <p:nvPr/>
        </p:nvSpPr>
        <p:spPr>
          <a:xfrm>
            <a:off x="822960" y="5212080"/>
            <a:ext cx="1060704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Peor caso vs. mejor caso vs. caso promedio: salvo que el enunciado pida otro caso explícitamente, la convención de la materia es reportar el PEOR CASO.</a:t>
            </a:r>
            <a:endParaRPr lang="en-US" sz="1300" dirty="0"/>
          </a:p>
        </p:txBody>
      </p:sp>
      <p:sp>
        <p:nvSpPr>
          <p:cNvPr id="19" name="Text 17"/>
          <p:cNvSpPr txBox="1"/>
          <p:nvPr/>
        </p:nvSpPr>
        <p:spPr>
          <a:xfrm>
            <a:off x="457200" y="6537960"/>
            <a:ext cx="8229600" cy="274320"/>
          </a:xfrm>
          <a:prstGeom prst="rect">
            <a:avLst/>
          </a:prstGeom>
          <a:noFill/>
          <a:ln/>
        </p:spPr>
        <p:txBody>
          <a:bodyPr wrap="square" lIns="0" tIns="0" rIns="0" bIns="0" rtlCol="0" anchor="ctr"/>
          <a:lstStyle/>
          <a:p>
            <a:pPr marL="0" indent="0" algn="l">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20" name="Text 18"/>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marL="0" indent="0" algn="l">
              <a:buNone/>
            </a:pPr>
            <a:r>
              <a:rPr lang="en-US" sz="1300" b="1" kern="0" spc="200" dirty="0">
                <a:solidFill>
                  <a:srgbClr val="E8A33D"/>
                </a:solidFill>
                <a:latin typeface="Calibri" pitchFamily="34" charset="0"/>
                <a:ea typeface="Calibri" pitchFamily="34" charset="-122"/>
                <a:cs typeface="Calibri" pitchFamily="34" charset="-120"/>
              </a:rPr>
              <a:t>BLOQUE 25</a:t>
            </a:r>
            <a:endParaRPr lang="en-US" sz="1300" dirty="0"/>
          </a:p>
        </p:txBody>
      </p:sp>
      <p:sp>
        <p:nvSpPr>
          <p:cNvPr id="3" name="Text 1"/>
          <p:cNvSpPr txBox="1"/>
          <p:nvPr/>
        </p:nvSpPr>
        <p:spPr>
          <a:xfrm>
            <a:off x="548640" y="621792"/>
            <a:ext cx="10972800" cy="73152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Tabla resumen de Big O (de mejor a peor)</a:t>
            </a:r>
            <a:endParaRPr lang="en-US" sz="2800" dirty="0"/>
          </a:p>
        </p:txBody>
      </p:sp>
      <p:sp>
        <p:nvSpPr>
          <p:cNvPr id="4" name="Shape 2"/>
          <p:cNvSpPr/>
          <p:nvPr/>
        </p:nvSpPr>
        <p:spPr>
          <a:xfrm>
            <a:off x="548640" y="1600200"/>
            <a:ext cx="11064240" cy="457200"/>
          </a:xfrm>
          <a:prstGeom prst="rect">
            <a:avLst/>
          </a:prstGeom>
          <a:solidFill>
            <a:srgbClr val="1E2761"/>
          </a:solidFill>
          <a:ln/>
        </p:spPr>
        <p:txBody>
          <a:bodyPr/>
          <a:lstStyle/>
          <a:p>
            <a:endParaRPr lang="es-AR"/>
          </a:p>
        </p:txBody>
      </p:sp>
      <p:sp>
        <p:nvSpPr>
          <p:cNvPr id="5" name="Text 3"/>
          <p:cNvSpPr txBox="1"/>
          <p:nvPr/>
        </p:nvSpPr>
        <p:spPr>
          <a:xfrm>
            <a:off x="731520" y="1600200"/>
            <a:ext cx="18288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Notación</a:t>
            </a:r>
            <a:endParaRPr lang="en-US" sz="1300" dirty="0"/>
          </a:p>
        </p:txBody>
      </p:sp>
      <p:sp>
        <p:nvSpPr>
          <p:cNvPr id="6" name="Text 4"/>
          <p:cNvSpPr txBox="1"/>
          <p:nvPr/>
        </p:nvSpPr>
        <p:spPr>
          <a:xfrm>
            <a:off x="2560320" y="1600200"/>
            <a:ext cx="237744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Nombre</a:t>
            </a:r>
            <a:endParaRPr lang="en-US" sz="1300" dirty="0"/>
          </a:p>
        </p:txBody>
      </p:sp>
      <p:sp>
        <p:nvSpPr>
          <p:cNvPr id="7" name="Text 5"/>
          <p:cNvSpPr txBox="1"/>
          <p:nvPr/>
        </p:nvSpPr>
        <p:spPr>
          <a:xfrm>
            <a:off x="4937760" y="1600200"/>
            <a:ext cx="68580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Ejemplo de la materia</a:t>
            </a:r>
            <a:endParaRPr lang="en-US" sz="1300" dirty="0"/>
          </a:p>
        </p:txBody>
      </p:sp>
      <p:sp>
        <p:nvSpPr>
          <p:cNvPr id="8" name="Shape 6"/>
          <p:cNvSpPr/>
          <p:nvPr/>
        </p:nvSpPr>
        <p:spPr>
          <a:xfrm>
            <a:off x="548640" y="2057400"/>
            <a:ext cx="11064240" cy="777240"/>
          </a:xfrm>
          <a:prstGeom prst="rect">
            <a:avLst/>
          </a:prstGeom>
          <a:solidFill>
            <a:srgbClr val="F5F7FC"/>
          </a:solidFill>
          <a:ln/>
        </p:spPr>
        <p:txBody>
          <a:bodyPr/>
          <a:lstStyle/>
          <a:p>
            <a:endParaRPr lang="es-AR"/>
          </a:p>
        </p:txBody>
      </p:sp>
      <p:sp>
        <p:nvSpPr>
          <p:cNvPr id="9" name="Text 7"/>
          <p:cNvSpPr txBox="1"/>
          <p:nvPr/>
        </p:nvSpPr>
        <p:spPr>
          <a:xfrm>
            <a:off x="731520" y="2057400"/>
            <a:ext cx="1828800" cy="777240"/>
          </a:xfrm>
          <a:prstGeom prst="rect">
            <a:avLst/>
          </a:prstGeom>
          <a:noFill/>
          <a:ln/>
        </p:spPr>
        <p:txBody>
          <a:bodyPr wrap="square" lIns="0" tIns="0" rIns="0" bIns="0" rtlCol="0" anchor="ctr"/>
          <a:lstStyle/>
          <a:p>
            <a:pPr marL="0" indent="0">
              <a:buNone/>
            </a:pPr>
            <a:r>
              <a:rPr lang="en-US" sz="1300" dirty="0">
                <a:solidFill>
                  <a:srgbClr val="1C1C2A"/>
                </a:solidFill>
                <a:latin typeface="Courier New" pitchFamily="34" charset="0"/>
                <a:ea typeface="Courier New" pitchFamily="34" charset="-122"/>
                <a:cs typeface="Courier New" pitchFamily="34" charset="-120"/>
              </a:rPr>
              <a:t>O(1)</a:t>
            </a:r>
            <a:endParaRPr lang="en-US" sz="1300" dirty="0"/>
          </a:p>
        </p:txBody>
      </p:sp>
      <p:sp>
        <p:nvSpPr>
          <p:cNvPr id="10" name="Text 8"/>
          <p:cNvSpPr txBox="1"/>
          <p:nvPr/>
        </p:nvSpPr>
        <p:spPr>
          <a:xfrm>
            <a:off x="2560320" y="2057400"/>
            <a:ext cx="2377440" cy="777240"/>
          </a:xfrm>
          <a:prstGeom prst="rect">
            <a:avLst/>
          </a:prstGeom>
          <a:noFill/>
          <a:ln/>
        </p:spPr>
        <p:txBody>
          <a:bodyPr wrap="square" lIns="0" tIns="0" rIns="0" bIns="0" rtlCol="0" anchor="ctr"/>
          <a:lstStyle/>
          <a:p>
            <a:pPr marL="0" indent="0">
              <a:buNone/>
            </a:pPr>
            <a:r>
              <a:rPr lang="en-US" sz="1400" b="1" dirty="0">
                <a:solidFill>
                  <a:srgbClr val="E8A33D"/>
                </a:solidFill>
                <a:latin typeface="Courier New" pitchFamily="34" charset="0"/>
                <a:ea typeface="Courier New" pitchFamily="34" charset="-122"/>
                <a:cs typeface="Courier New" pitchFamily="34" charset="-120"/>
              </a:rPr>
              <a:t>Constante</a:t>
            </a:r>
            <a:endParaRPr lang="en-US" sz="1400" dirty="0"/>
          </a:p>
        </p:txBody>
      </p:sp>
      <p:sp>
        <p:nvSpPr>
          <p:cNvPr id="11" name="Text 9"/>
          <p:cNvSpPr txBox="1"/>
          <p:nvPr/>
        </p:nvSpPr>
        <p:spPr>
          <a:xfrm>
            <a:off x="4937760" y="2057400"/>
            <a:ext cx="6858000" cy="777240"/>
          </a:xfrm>
          <a:prstGeom prst="rect">
            <a:avLst/>
          </a:prstGeom>
          <a:noFill/>
          <a:ln/>
        </p:spPr>
        <p:txBody>
          <a:bodyPr wrap="square" lIns="0" tIns="0" rIns="0" bIns="0" rtlCol="0" anchor="ctr"/>
          <a:lstStyle/>
          <a:p>
            <a:pPr marL="0" indent="0">
              <a:buNone/>
            </a:pPr>
            <a:r>
              <a:rPr lang="en-US" sz="1250" dirty="0">
                <a:solidFill>
                  <a:srgbClr val="1C1C2A"/>
                </a:solidFill>
                <a:latin typeface="Calibri" pitchFamily="34" charset="0"/>
                <a:ea typeface="Calibri" pitchFamily="34" charset="-122"/>
                <a:cs typeface="Calibri" pitchFamily="34" charset="-120"/>
              </a:rPr>
              <a:t>apilar() de la Pila (estática o dinámica)</a:t>
            </a:r>
            <a:endParaRPr lang="en-US" sz="1250" dirty="0"/>
          </a:p>
        </p:txBody>
      </p:sp>
      <p:sp>
        <p:nvSpPr>
          <p:cNvPr id="12" name="Shape 10"/>
          <p:cNvSpPr/>
          <p:nvPr/>
        </p:nvSpPr>
        <p:spPr>
          <a:xfrm>
            <a:off x="548640" y="2834640"/>
            <a:ext cx="11064240" cy="777240"/>
          </a:xfrm>
          <a:prstGeom prst="rect">
            <a:avLst/>
          </a:prstGeom>
          <a:solidFill>
            <a:srgbClr val="FFFFFF"/>
          </a:solidFill>
          <a:ln/>
        </p:spPr>
        <p:txBody>
          <a:bodyPr/>
          <a:lstStyle/>
          <a:p>
            <a:endParaRPr lang="es-AR"/>
          </a:p>
        </p:txBody>
      </p:sp>
      <p:sp>
        <p:nvSpPr>
          <p:cNvPr id="13" name="Text 11"/>
          <p:cNvSpPr txBox="1"/>
          <p:nvPr/>
        </p:nvSpPr>
        <p:spPr>
          <a:xfrm>
            <a:off x="731520" y="2834640"/>
            <a:ext cx="1828800" cy="777240"/>
          </a:xfrm>
          <a:prstGeom prst="rect">
            <a:avLst/>
          </a:prstGeom>
          <a:noFill/>
          <a:ln/>
        </p:spPr>
        <p:txBody>
          <a:bodyPr wrap="square" lIns="0" tIns="0" rIns="0" bIns="0" rtlCol="0" anchor="ctr"/>
          <a:lstStyle/>
          <a:p>
            <a:pPr marL="0" indent="0">
              <a:buNone/>
            </a:pPr>
            <a:r>
              <a:rPr lang="en-US" sz="1300" dirty="0">
                <a:solidFill>
                  <a:srgbClr val="1C1C2A"/>
                </a:solidFill>
                <a:latin typeface="Courier New" pitchFamily="34" charset="0"/>
                <a:ea typeface="Courier New" pitchFamily="34" charset="-122"/>
                <a:cs typeface="Courier New" pitchFamily="34" charset="-120"/>
              </a:rPr>
              <a:t>O(log n)</a:t>
            </a:r>
            <a:endParaRPr lang="en-US" sz="1300" dirty="0"/>
          </a:p>
        </p:txBody>
      </p:sp>
      <p:sp>
        <p:nvSpPr>
          <p:cNvPr id="14" name="Text 12"/>
          <p:cNvSpPr txBox="1"/>
          <p:nvPr/>
        </p:nvSpPr>
        <p:spPr>
          <a:xfrm>
            <a:off x="2560320" y="2834640"/>
            <a:ext cx="2377440" cy="777240"/>
          </a:xfrm>
          <a:prstGeom prst="rect">
            <a:avLst/>
          </a:prstGeom>
          <a:noFill/>
          <a:ln/>
        </p:spPr>
        <p:txBody>
          <a:bodyPr wrap="square" lIns="0" tIns="0" rIns="0" bIns="0" rtlCol="0" anchor="ctr"/>
          <a:lstStyle/>
          <a:p>
            <a:pPr marL="0" indent="0">
              <a:buNone/>
            </a:pPr>
            <a:r>
              <a:rPr lang="en-US" sz="1400" b="1" dirty="0">
                <a:solidFill>
                  <a:srgbClr val="E8A33D"/>
                </a:solidFill>
                <a:latin typeface="Courier New" pitchFamily="34" charset="0"/>
                <a:ea typeface="Courier New" pitchFamily="34" charset="-122"/>
                <a:cs typeface="Courier New" pitchFamily="34" charset="-120"/>
              </a:rPr>
              <a:t>Logarítmico</a:t>
            </a:r>
            <a:endParaRPr lang="en-US" sz="1400" dirty="0"/>
          </a:p>
        </p:txBody>
      </p:sp>
      <p:sp>
        <p:nvSpPr>
          <p:cNvPr id="15" name="Text 13"/>
          <p:cNvSpPr txBox="1"/>
          <p:nvPr/>
        </p:nvSpPr>
        <p:spPr>
          <a:xfrm>
            <a:off x="4937760" y="2834640"/>
            <a:ext cx="6858000" cy="777240"/>
          </a:xfrm>
          <a:prstGeom prst="rect">
            <a:avLst/>
          </a:prstGeom>
          <a:noFill/>
          <a:ln/>
        </p:spPr>
        <p:txBody>
          <a:bodyPr wrap="square" lIns="0" tIns="0" rIns="0" bIns="0" rtlCol="0" anchor="ctr"/>
          <a:lstStyle/>
          <a:p>
            <a:pPr marL="0" indent="0">
              <a:buNone/>
            </a:pPr>
            <a:r>
              <a:rPr lang="en-US" sz="1250" dirty="0">
                <a:solidFill>
                  <a:srgbClr val="1C1C2A"/>
                </a:solidFill>
                <a:latin typeface="Calibri" pitchFamily="34" charset="0"/>
                <a:ea typeface="Calibri" pitchFamily="34" charset="-122"/>
                <a:cs typeface="Calibri" pitchFamily="34" charset="-120"/>
              </a:rPr>
              <a:t>Búsqueda binaria / Cola con Prioridad con heap</a:t>
            </a:r>
            <a:endParaRPr lang="en-US" sz="1250" dirty="0"/>
          </a:p>
        </p:txBody>
      </p:sp>
      <p:sp>
        <p:nvSpPr>
          <p:cNvPr id="16" name="Shape 14"/>
          <p:cNvSpPr/>
          <p:nvPr/>
        </p:nvSpPr>
        <p:spPr>
          <a:xfrm>
            <a:off x="548640" y="3611880"/>
            <a:ext cx="11064240" cy="777240"/>
          </a:xfrm>
          <a:prstGeom prst="rect">
            <a:avLst/>
          </a:prstGeom>
          <a:solidFill>
            <a:srgbClr val="F5F7FC"/>
          </a:solidFill>
          <a:ln/>
        </p:spPr>
        <p:txBody>
          <a:bodyPr/>
          <a:lstStyle/>
          <a:p>
            <a:endParaRPr lang="es-AR"/>
          </a:p>
        </p:txBody>
      </p:sp>
      <p:sp>
        <p:nvSpPr>
          <p:cNvPr id="17" name="Text 15"/>
          <p:cNvSpPr txBox="1"/>
          <p:nvPr/>
        </p:nvSpPr>
        <p:spPr>
          <a:xfrm>
            <a:off x="731520" y="3611880"/>
            <a:ext cx="1828800" cy="777240"/>
          </a:xfrm>
          <a:prstGeom prst="rect">
            <a:avLst/>
          </a:prstGeom>
          <a:noFill/>
          <a:ln/>
        </p:spPr>
        <p:txBody>
          <a:bodyPr wrap="square" lIns="0" tIns="0" rIns="0" bIns="0" rtlCol="0" anchor="ctr"/>
          <a:lstStyle/>
          <a:p>
            <a:pPr marL="0" indent="0">
              <a:buNone/>
            </a:pPr>
            <a:r>
              <a:rPr lang="en-US" sz="1300" dirty="0">
                <a:solidFill>
                  <a:srgbClr val="1C1C2A"/>
                </a:solidFill>
                <a:latin typeface="Courier New" pitchFamily="34" charset="0"/>
                <a:ea typeface="Courier New" pitchFamily="34" charset="-122"/>
                <a:cs typeface="Courier New" pitchFamily="34" charset="-120"/>
              </a:rPr>
              <a:t>O(n)</a:t>
            </a:r>
            <a:endParaRPr lang="en-US" sz="1300" dirty="0"/>
          </a:p>
        </p:txBody>
      </p:sp>
      <p:sp>
        <p:nvSpPr>
          <p:cNvPr id="18" name="Text 16"/>
          <p:cNvSpPr txBox="1"/>
          <p:nvPr/>
        </p:nvSpPr>
        <p:spPr>
          <a:xfrm>
            <a:off x="2560320" y="3611880"/>
            <a:ext cx="2377440" cy="777240"/>
          </a:xfrm>
          <a:prstGeom prst="rect">
            <a:avLst/>
          </a:prstGeom>
          <a:noFill/>
          <a:ln/>
        </p:spPr>
        <p:txBody>
          <a:bodyPr wrap="square" lIns="0" tIns="0" rIns="0" bIns="0" rtlCol="0" anchor="ctr"/>
          <a:lstStyle/>
          <a:p>
            <a:pPr marL="0" indent="0">
              <a:buNone/>
            </a:pPr>
            <a:r>
              <a:rPr lang="en-US" sz="1400" b="1" dirty="0">
                <a:solidFill>
                  <a:srgbClr val="E8A33D"/>
                </a:solidFill>
                <a:latin typeface="Courier New" pitchFamily="34" charset="0"/>
                <a:ea typeface="Courier New" pitchFamily="34" charset="-122"/>
                <a:cs typeface="Courier New" pitchFamily="34" charset="-120"/>
              </a:rPr>
              <a:t>Lineal</a:t>
            </a:r>
            <a:endParaRPr lang="en-US" sz="1400" dirty="0"/>
          </a:p>
        </p:txBody>
      </p:sp>
      <p:sp>
        <p:nvSpPr>
          <p:cNvPr id="19" name="Text 17"/>
          <p:cNvSpPr txBox="1"/>
          <p:nvPr/>
        </p:nvSpPr>
        <p:spPr>
          <a:xfrm>
            <a:off x="4937760" y="3611880"/>
            <a:ext cx="6858000" cy="777240"/>
          </a:xfrm>
          <a:prstGeom prst="rect">
            <a:avLst/>
          </a:prstGeom>
          <a:noFill/>
          <a:ln/>
        </p:spPr>
        <p:txBody>
          <a:bodyPr wrap="square" lIns="0" tIns="0" rIns="0" bIns="0" rtlCol="0" anchor="ctr"/>
          <a:lstStyle/>
          <a:p>
            <a:pPr marL="0" indent="0">
              <a:buNone/>
            </a:pPr>
            <a:r>
              <a:rPr lang="en-US" sz="1250" dirty="0">
                <a:solidFill>
                  <a:srgbClr val="1C1C2A"/>
                </a:solidFill>
                <a:latin typeface="Calibri" pitchFamily="34" charset="0"/>
                <a:ea typeface="Calibri" pitchFamily="34" charset="-122"/>
                <a:cs typeface="Calibri" pitchFamily="34" charset="-120"/>
              </a:rPr>
              <a:t>pertenece() del Conjunto; obtener(i) de la Lista dinámica</a:t>
            </a:r>
            <a:endParaRPr lang="en-US" sz="1250" dirty="0"/>
          </a:p>
        </p:txBody>
      </p:sp>
      <p:sp>
        <p:nvSpPr>
          <p:cNvPr id="20" name="Shape 18"/>
          <p:cNvSpPr/>
          <p:nvPr/>
        </p:nvSpPr>
        <p:spPr>
          <a:xfrm>
            <a:off x="548640" y="4389120"/>
            <a:ext cx="11064240" cy="777240"/>
          </a:xfrm>
          <a:prstGeom prst="rect">
            <a:avLst/>
          </a:prstGeom>
          <a:solidFill>
            <a:srgbClr val="FFFFFF"/>
          </a:solidFill>
          <a:ln/>
        </p:spPr>
        <p:txBody>
          <a:bodyPr/>
          <a:lstStyle/>
          <a:p>
            <a:endParaRPr lang="es-AR"/>
          </a:p>
        </p:txBody>
      </p:sp>
      <p:sp>
        <p:nvSpPr>
          <p:cNvPr id="21" name="Text 19"/>
          <p:cNvSpPr txBox="1"/>
          <p:nvPr/>
        </p:nvSpPr>
        <p:spPr>
          <a:xfrm>
            <a:off x="731520" y="4389120"/>
            <a:ext cx="1828800" cy="777240"/>
          </a:xfrm>
          <a:prstGeom prst="rect">
            <a:avLst/>
          </a:prstGeom>
          <a:noFill/>
          <a:ln/>
        </p:spPr>
        <p:txBody>
          <a:bodyPr wrap="square" lIns="0" tIns="0" rIns="0" bIns="0" rtlCol="0" anchor="ctr"/>
          <a:lstStyle/>
          <a:p>
            <a:pPr marL="0" indent="0">
              <a:buNone/>
            </a:pPr>
            <a:r>
              <a:rPr lang="en-US" sz="1300" dirty="0">
                <a:solidFill>
                  <a:srgbClr val="1C1C2A"/>
                </a:solidFill>
                <a:latin typeface="Courier New" pitchFamily="34" charset="0"/>
                <a:ea typeface="Courier New" pitchFamily="34" charset="-122"/>
                <a:cs typeface="Courier New" pitchFamily="34" charset="-120"/>
              </a:rPr>
              <a:t>O(n²)</a:t>
            </a:r>
            <a:endParaRPr lang="en-US" sz="1300" dirty="0"/>
          </a:p>
        </p:txBody>
      </p:sp>
      <p:sp>
        <p:nvSpPr>
          <p:cNvPr id="22" name="Text 20"/>
          <p:cNvSpPr txBox="1"/>
          <p:nvPr/>
        </p:nvSpPr>
        <p:spPr>
          <a:xfrm>
            <a:off x="2560320" y="4389120"/>
            <a:ext cx="2377440" cy="777240"/>
          </a:xfrm>
          <a:prstGeom prst="rect">
            <a:avLst/>
          </a:prstGeom>
          <a:noFill/>
          <a:ln/>
        </p:spPr>
        <p:txBody>
          <a:bodyPr wrap="square" lIns="0" tIns="0" rIns="0" bIns="0" rtlCol="0" anchor="ctr"/>
          <a:lstStyle/>
          <a:p>
            <a:pPr marL="0" indent="0">
              <a:buNone/>
            </a:pPr>
            <a:r>
              <a:rPr lang="en-US" sz="1400" b="1" dirty="0">
                <a:solidFill>
                  <a:srgbClr val="E8A33D"/>
                </a:solidFill>
                <a:latin typeface="Courier New" pitchFamily="34" charset="0"/>
                <a:ea typeface="Courier New" pitchFamily="34" charset="-122"/>
                <a:cs typeface="Courier New" pitchFamily="34" charset="-120"/>
              </a:rPr>
              <a:t>Cuadrático</a:t>
            </a:r>
            <a:endParaRPr lang="en-US" sz="1400" dirty="0"/>
          </a:p>
        </p:txBody>
      </p:sp>
      <p:sp>
        <p:nvSpPr>
          <p:cNvPr id="23" name="Text 21"/>
          <p:cNvSpPr txBox="1"/>
          <p:nvPr/>
        </p:nvSpPr>
        <p:spPr>
          <a:xfrm>
            <a:off x="4937760" y="4389120"/>
            <a:ext cx="6858000" cy="777240"/>
          </a:xfrm>
          <a:prstGeom prst="rect">
            <a:avLst/>
          </a:prstGeom>
          <a:noFill/>
          <a:ln/>
        </p:spPr>
        <p:txBody>
          <a:bodyPr wrap="square" lIns="0" tIns="0" rIns="0" bIns="0" rtlCol="0" anchor="ctr"/>
          <a:lstStyle/>
          <a:p>
            <a:pPr marL="0" indent="0">
              <a:buNone/>
            </a:pPr>
            <a:r>
              <a:rPr lang="en-US" sz="1250" dirty="0">
                <a:solidFill>
                  <a:srgbClr val="1C1C2A"/>
                </a:solidFill>
                <a:latin typeface="Calibri" pitchFamily="34" charset="0"/>
                <a:ea typeface="Calibri" pitchFamily="34" charset="-122"/>
                <a:cs typeface="Calibri" pitchFamily="34" charset="-120"/>
              </a:rPr>
              <a:t>Comparar todos los pares (detección de duplicados "ingenua")</a:t>
            </a:r>
            <a:endParaRPr lang="en-US" sz="1250" dirty="0"/>
          </a:p>
        </p:txBody>
      </p:sp>
      <p:sp>
        <p:nvSpPr>
          <p:cNvPr id="24" name="Text 22"/>
          <p:cNvSpPr txBox="1"/>
          <p:nvPr/>
        </p:nvSpPr>
        <p:spPr>
          <a:xfrm>
            <a:off x="548640" y="5303520"/>
            <a:ext cx="11064240" cy="457200"/>
          </a:xfrm>
          <a:prstGeom prst="rect">
            <a:avLst/>
          </a:prstGeom>
          <a:noFill/>
          <a:ln/>
        </p:spPr>
        <p:txBody>
          <a:bodyPr wrap="square" lIns="0" tIns="0" rIns="0" bIns="0" rtlCol="0" anchor="ctr"/>
          <a:lstStyle/>
          <a:p>
            <a:pPr marL="0" indent="0">
              <a:buNone/>
            </a:pPr>
            <a:r>
              <a:rPr lang="en-US" sz="1300" dirty="0">
                <a:solidFill>
                  <a:srgbClr val="5B6472"/>
                </a:solidFill>
                <a:latin typeface="Calibri" pitchFamily="34" charset="0"/>
                <a:ea typeface="Calibri" pitchFamily="34" charset="-122"/>
                <a:cs typeface="Calibri" pitchFamily="34" charset="-120"/>
              </a:rPr>
              <a:t>Big O siempre describe cómo ESCALA el costo con n, no un tiempo exacto en segundos.</a:t>
            </a:r>
            <a:endParaRPr lang="en-US" sz="1300" dirty="0"/>
          </a:p>
        </p:txBody>
      </p:sp>
      <p:sp>
        <p:nvSpPr>
          <p:cNvPr id="25" name="Text 23"/>
          <p:cNvSpPr txBox="1"/>
          <p:nvPr/>
        </p:nvSpPr>
        <p:spPr>
          <a:xfrm>
            <a:off x="457200" y="6537960"/>
            <a:ext cx="8229600" cy="274320"/>
          </a:xfrm>
          <a:prstGeom prst="rect">
            <a:avLst/>
          </a:prstGeom>
          <a:noFill/>
          <a:ln/>
        </p:spPr>
        <p:txBody>
          <a:bodyPr wrap="square" lIns="0" tIns="0" rIns="0" bIns="0" rtlCol="0" anchor="ctr"/>
          <a:lstStyle/>
          <a:p>
            <a:pPr marL="0" indent="0" algn="l">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26" name="Text 24"/>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marL="0" indent="0" algn="l">
              <a:buNone/>
            </a:pPr>
            <a:r>
              <a:rPr lang="en-US" sz="1300" b="1" kern="0" spc="200" dirty="0">
                <a:solidFill>
                  <a:srgbClr val="E8A33D"/>
                </a:solidFill>
                <a:latin typeface="Calibri" pitchFamily="34" charset="0"/>
                <a:ea typeface="Calibri" pitchFamily="34" charset="-122"/>
                <a:cs typeface="Calibri" pitchFamily="34" charset="-120"/>
              </a:rPr>
              <a:t>BLOQUE 25</a:t>
            </a:r>
            <a:endParaRPr lang="en-US" sz="1300" dirty="0"/>
          </a:p>
        </p:txBody>
      </p:sp>
      <p:sp>
        <p:nvSpPr>
          <p:cNvPr id="3" name="Text 1"/>
          <p:cNvSpPr txBox="1"/>
          <p:nvPr/>
        </p:nvSpPr>
        <p:spPr>
          <a:xfrm>
            <a:off x="548640" y="621792"/>
            <a:ext cx="10972800" cy="73152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Complejidad espacial: repaso de memoria</a:t>
            </a:r>
            <a:endParaRPr lang="en-US" sz="2800" dirty="0"/>
          </a:p>
        </p:txBody>
      </p:sp>
      <p:sp>
        <p:nvSpPr>
          <p:cNvPr id="4" name="Shape 2"/>
          <p:cNvSpPr/>
          <p:nvPr/>
        </p:nvSpPr>
        <p:spPr>
          <a:xfrm>
            <a:off x="548640" y="1600200"/>
            <a:ext cx="11064240" cy="457200"/>
          </a:xfrm>
          <a:prstGeom prst="rect">
            <a:avLst/>
          </a:prstGeom>
          <a:solidFill>
            <a:srgbClr val="1E2761"/>
          </a:solidFill>
          <a:ln/>
        </p:spPr>
        <p:txBody>
          <a:bodyPr/>
          <a:lstStyle/>
          <a:p>
            <a:endParaRPr lang="es-AR"/>
          </a:p>
        </p:txBody>
      </p:sp>
      <p:sp>
        <p:nvSpPr>
          <p:cNvPr id="5" name="Text 3"/>
          <p:cNvSpPr txBox="1"/>
          <p:nvPr/>
        </p:nvSpPr>
        <p:spPr>
          <a:xfrm>
            <a:off x="731520" y="1600200"/>
            <a:ext cx="27432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Estructura</a:t>
            </a:r>
            <a:endParaRPr lang="en-US" sz="1300" dirty="0"/>
          </a:p>
        </p:txBody>
      </p:sp>
      <p:sp>
        <p:nvSpPr>
          <p:cNvPr id="6" name="Text 4"/>
          <p:cNvSpPr txBox="1"/>
          <p:nvPr/>
        </p:nvSpPr>
        <p:spPr>
          <a:xfrm>
            <a:off x="3474720" y="1600200"/>
            <a:ext cx="164592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Memoria/elem.</a:t>
            </a:r>
            <a:endParaRPr lang="en-US" sz="1300" dirty="0"/>
          </a:p>
        </p:txBody>
      </p:sp>
      <p:sp>
        <p:nvSpPr>
          <p:cNvPr id="7" name="Text 5"/>
          <p:cNvSpPr txBox="1"/>
          <p:nvPr/>
        </p:nvSpPr>
        <p:spPr>
          <a:xfrm>
            <a:off x="5120640" y="1600200"/>
            <a:ext cx="649224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Comentario</a:t>
            </a:r>
            <a:endParaRPr lang="en-US" sz="1300" dirty="0"/>
          </a:p>
        </p:txBody>
      </p:sp>
      <p:sp>
        <p:nvSpPr>
          <p:cNvPr id="8" name="Shape 6"/>
          <p:cNvSpPr/>
          <p:nvPr/>
        </p:nvSpPr>
        <p:spPr>
          <a:xfrm>
            <a:off x="548640" y="2057400"/>
            <a:ext cx="11064240" cy="777240"/>
          </a:xfrm>
          <a:prstGeom prst="rect">
            <a:avLst/>
          </a:prstGeom>
          <a:solidFill>
            <a:srgbClr val="F5F7FC"/>
          </a:solidFill>
          <a:ln/>
        </p:spPr>
        <p:txBody>
          <a:bodyPr/>
          <a:lstStyle/>
          <a:p>
            <a:endParaRPr lang="es-AR"/>
          </a:p>
        </p:txBody>
      </p:sp>
      <p:sp>
        <p:nvSpPr>
          <p:cNvPr id="9" name="Text 7"/>
          <p:cNvSpPr txBox="1"/>
          <p:nvPr/>
        </p:nvSpPr>
        <p:spPr>
          <a:xfrm>
            <a:off x="731520" y="2057400"/>
            <a:ext cx="2743200" cy="777240"/>
          </a:xfrm>
          <a:prstGeom prst="rect">
            <a:avLst/>
          </a:prstGeom>
          <a:noFill/>
          <a:ln/>
        </p:spPr>
        <p:txBody>
          <a:bodyPr wrap="square" lIns="0" tIns="0" rIns="0" bIns="0" rtlCol="0" anchor="ctr"/>
          <a:lstStyle/>
          <a:p>
            <a:pPr marL="0" indent="0">
              <a:buNone/>
            </a:pPr>
            <a:r>
              <a:rPr lang="en-US" sz="1300" dirty="0">
                <a:solidFill>
                  <a:srgbClr val="1C1C2A"/>
                </a:solidFill>
                <a:latin typeface="Courier New" pitchFamily="34" charset="0"/>
                <a:ea typeface="Courier New" pitchFamily="34" charset="-122"/>
                <a:cs typeface="Courier New" pitchFamily="34" charset="-120"/>
              </a:rPr>
              <a:t>Array de int</a:t>
            </a:r>
            <a:endParaRPr lang="en-US" sz="1300" dirty="0"/>
          </a:p>
        </p:txBody>
      </p:sp>
      <p:sp>
        <p:nvSpPr>
          <p:cNvPr id="10" name="Text 8"/>
          <p:cNvSpPr txBox="1"/>
          <p:nvPr/>
        </p:nvSpPr>
        <p:spPr>
          <a:xfrm>
            <a:off x="3474720" y="2057400"/>
            <a:ext cx="1645920" cy="777240"/>
          </a:xfrm>
          <a:prstGeom prst="rect">
            <a:avLst/>
          </a:prstGeom>
          <a:noFill/>
          <a:ln/>
        </p:spPr>
        <p:txBody>
          <a:bodyPr wrap="square" lIns="0" tIns="0" rIns="0" bIns="0" rtlCol="0" anchor="ctr"/>
          <a:lstStyle/>
          <a:p>
            <a:pPr marL="0" indent="0">
              <a:buNone/>
            </a:pPr>
            <a:r>
              <a:rPr lang="en-US" sz="1400" b="1" dirty="0">
                <a:solidFill>
                  <a:srgbClr val="E8A33D"/>
                </a:solidFill>
                <a:latin typeface="Courier New" pitchFamily="34" charset="0"/>
                <a:ea typeface="Courier New" pitchFamily="34" charset="-122"/>
                <a:cs typeface="Courier New" pitchFamily="34" charset="-120"/>
              </a:rPr>
              <a:t>4 bytes</a:t>
            </a:r>
            <a:endParaRPr lang="en-US" sz="1400" dirty="0"/>
          </a:p>
        </p:txBody>
      </p:sp>
      <p:sp>
        <p:nvSpPr>
          <p:cNvPr id="11" name="Text 9"/>
          <p:cNvSpPr txBox="1"/>
          <p:nvPr/>
        </p:nvSpPr>
        <p:spPr>
          <a:xfrm>
            <a:off x="5120640" y="2057400"/>
            <a:ext cx="6492240" cy="777240"/>
          </a:xfrm>
          <a:prstGeom prst="rect">
            <a:avLst/>
          </a:prstGeom>
          <a:noFill/>
          <a:ln/>
        </p:spPr>
        <p:txBody>
          <a:bodyPr wrap="square" lIns="0" tIns="0" rIns="0" bIns="0" rtlCol="0" anchor="ctr"/>
          <a:lstStyle/>
          <a:p>
            <a:pPr marL="0" indent="0">
              <a:buNone/>
            </a:pPr>
            <a:r>
              <a:rPr lang="en-US" sz="1250" dirty="0">
                <a:solidFill>
                  <a:srgbClr val="1C1C2A"/>
                </a:solidFill>
                <a:latin typeface="Calibri" pitchFamily="34" charset="0"/>
                <a:ea typeface="Calibri" pitchFamily="34" charset="-122"/>
                <a:cs typeface="Calibri" pitchFamily="34" charset="-120"/>
              </a:rPr>
              <a:t>Solo el dato. Nada más.</a:t>
            </a:r>
            <a:endParaRPr lang="en-US" sz="1250" dirty="0"/>
          </a:p>
        </p:txBody>
      </p:sp>
      <p:sp>
        <p:nvSpPr>
          <p:cNvPr id="12" name="Shape 10"/>
          <p:cNvSpPr/>
          <p:nvPr/>
        </p:nvSpPr>
        <p:spPr>
          <a:xfrm>
            <a:off x="548640" y="2834640"/>
            <a:ext cx="11064240" cy="777240"/>
          </a:xfrm>
          <a:prstGeom prst="rect">
            <a:avLst/>
          </a:prstGeom>
          <a:solidFill>
            <a:srgbClr val="FFFFFF"/>
          </a:solidFill>
          <a:ln/>
        </p:spPr>
        <p:txBody>
          <a:bodyPr/>
          <a:lstStyle/>
          <a:p>
            <a:endParaRPr lang="es-AR"/>
          </a:p>
        </p:txBody>
      </p:sp>
      <p:sp>
        <p:nvSpPr>
          <p:cNvPr id="13" name="Text 11"/>
          <p:cNvSpPr txBox="1"/>
          <p:nvPr/>
        </p:nvSpPr>
        <p:spPr>
          <a:xfrm>
            <a:off x="731520" y="2834640"/>
            <a:ext cx="2743200" cy="777240"/>
          </a:xfrm>
          <a:prstGeom prst="rect">
            <a:avLst/>
          </a:prstGeom>
          <a:noFill/>
          <a:ln/>
        </p:spPr>
        <p:txBody>
          <a:bodyPr wrap="square" lIns="0" tIns="0" rIns="0" bIns="0" rtlCol="0" anchor="ctr"/>
          <a:lstStyle/>
          <a:p>
            <a:pPr marL="0" indent="0">
              <a:buNone/>
            </a:pPr>
            <a:r>
              <a:rPr lang="en-US" sz="1300" dirty="0">
                <a:solidFill>
                  <a:srgbClr val="1C1C2A"/>
                </a:solidFill>
                <a:latin typeface="Courier New" pitchFamily="34" charset="0"/>
                <a:ea typeface="Courier New" pitchFamily="34" charset="-122"/>
                <a:cs typeface="Courier New" pitchFamily="34" charset="-120"/>
              </a:rPr>
              <a:t>Nodo (int + ref.)</a:t>
            </a:r>
            <a:endParaRPr lang="en-US" sz="1300" dirty="0"/>
          </a:p>
        </p:txBody>
      </p:sp>
      <p:sp>
        <p:nvSpPr>
          <p:cNvPr id="14" name="Text 12"/>
          <p:cNvSpPr txBox="1"/>
          <p:nvPr/>
        </p:nvSpPr>
        <p:spPr>
          <a:xfrm>
            <a:off x="3474720" y="2834640"/>
            <a:ext cx="1645920" cy="777240"/>
          </a:xfrm>
          <a:prstGeom prst="rect">
            <a:avLst/>
          </a:prstGeom>
          <a:noFill/>
          <a:ln/>
        </p:spPr>
        <p:txBody>
          <a:bodyPr wrap="square" lIns="0" tIns="0" rIns="0" bIns="0" rtlCol="0" anchor="ctr"/>
          <a:lstStyle/>
          <a:p>
            <a:pPr marL="0" indent="0">
              <a:buNone/>
            </a:pPr>
            <a:r>
              <a:rPr lang="en-US" sz="1400" b="1" dirty="0">
                <a:solidFill>
                  <a:srgbClr val="E8A33D"/>
                </a:solidFill>
                <a:latin typeface="Courier New" pitchFamily="34" charset="0"/>
                <a:ea typeface="Courier New" pitchFamily="34" charset="-122"/>
                <a:cs typeface="Courier New" pitchFamily="34" charset="-120"/>
              </a:rPr>
              <a:t>~16-24 bytes</a:t>
            </a:r>
            <a:endParaRPr lang="en-US" sz="1400" dirty="0"/>
          </a:p>
        </p:txBody>
      </p:sp>
      <p:sp>
        <p:nvSpPr>
          <p:cNvPr id="15" name="Text 13"/>
          <p:cNvSpPr txBox="1"/>
          <p:nvPr/>
        </p:nvSpPr>
        <p:spPr>
          <a:xfrm>
            <a:off x="5120640" y="2834640"/>
            <a:ext cx="6492240" cy="777240"/>
          </a:xfrm>
          <a:prstGeom prst="rect">
            <a:avLst/>
          </a:prstGeom>
          <a:noFill/>
          <a:ln/>
        </p:spPr>
        <p:txBody>
          <a:bodyPr wrap="square" lIns="0" tIns="0" rIns="0" bIns="0" rtlCol="0" anchor="ctr"/>
          <a:lstStyle/>
          <a:p>
            <a:pPr marL="0" indent="0">
              <a:buNone/>
            </a:pPr>
            <a:r>
              <a:rPr lang="en-US" sz="1250" dirty="0">
                <a:solidFill>
                  <a:srgbClr val="1C1C2A"/>
                </a:solidFill>
                <a:latin typeface="Calibri" pitchFamily="34" charset="0"/>
                <a:ea typeface="Calibri" pitchFamily="34" charset="-122"/>
                <a:cs typeface="Calibri" pitchFamily="34" charset="-120"/>
              </a:rPr>
              <a:t>Encabezado de objeto (~12-16) + int (4) + referencia (4-8).</a:t>
            </a:r>
            <a:endParaRPr lang="en-US" sz="1250" dirty="0"/>
          </a:p>
        </p:txBody>
      </p:sp>
      <p:sp>
        <p:nvSpPr>
          <p:cNvPr id="16" name="Text 14"/>
          <p:cNvSpPr txBox="1"/>
          <p:nvPr/>
        </p:nvSpPr>
        <p:spPr>
          <a:xfrm>
            <a:off x="548640" y="3749040"/>
            <a:ext cx="11064240" cy="457200"/>
          </a:xfrm>
          <a:prstGeom prst="rect">
            <a:avLst/>
          </a:prstGeom>
          <a:noFill/>
          <a:ln/>
        </p:spPr>
        <p:txBody>
          <a:bodyPr wrap="square" lIns="0" tIns="0" rIns="0" bIns="0" rtlCol="0" anchor="ctr"/>
          <a:lstStyle/>
          <a:p>
            <a:pPr marL="0" indent="0">
              <a:buNone/>
            </a:pPr>
            <a:r>
              <a:rPr lang="en-US" sz="1300" dirty="0">
                <a:solidFill>
                  <a:srgbClr val="5B6472"/>
                </a:solidFill>
                <a:latin typeface="Calibri" pitchFamily="34" charset="0"/>
                <a:ea typeface="Calibri" pitchFamily="34" charset="-122"/>
                <a:cs typeface="Calibri" pitchFamily="34" charset="-120"/>
              </a:rPr>
              <a:t>Repaso de la Clase 5 — la dinámica siempre usa más memoria por elemento, pero nunca desperdicia espacio reservado "por las dudas".</a:t>
            </a:r>
            <a:endParaRPr lang="en-US" sz="1300" dirty="0"/>
          </a:p>
        </p:txBody>
      </p:sp>
      <p:sp>
        <p:nvSpPr>
          <p:cNvPr id="17" name="Text 15"/>
          <p:cNvSpPr txBox="1"/>
          <p:nvPr/>
        </p:nvSpPr>
        <p:spPr>
          <a:xfrm>
            <a:off x="457200" y="6537960"/>
            <a:ext cx="8229600" cy="274320"/>
          </a:xfrm>
          <a:prstGeom prst="rect">
            <a:avLst/>
          </a:prstGeom>
          <a:noFill/>
          <a:ln/>
        </p:spPr>
        <p:txBody>
          <a:bodyPr wrap="square" lIns="0" tIns="0" rIns="0" bIns="0" rtlCol="0" anchor="ctr"/>
          <a:lstStyle/>
          <a:p>
            <a:pPr marL="0" indent="0" algn="l">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8" name="Text 16"/>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114800" cy="4114800"/>
          </a:xfrm>
          <a:prstGeom prst="ellipse">
            <a:avLst/>
          </a:prstGeom>
          <a:solidFill>
            <a:srgbClr val="263876"/>
          </a:solidFill>
          <a:ln/>
        </p:spPr>
        <p:txBody>
          <a:bodyPr/>
          <a:lstStyle/>
          <a:p>
            <a:endParaRPr lang="es-AR"/>
          </a:p>
        </p:txBody>
      </p:sp>
      <p:sp>
        <p:nvSpPr>
          <p:cNvPr id="3" name="Text 1"/>
          <p:cNvSpPr txBox="1"/>
          <p:nvPr/>
        </p:nvSpPr>
        <p:spPr>
          <a:xfrm>
            <a:off x="731520" y="2468880"/>
            <a:ext cx="7315200" cy="365760"/>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BLOQUE 26</a:t>
            </a:r>
            <a:endParaRPr lang="en-US" sz="1400" dirty="0"/>
          </a:p>
        </p:txBody>
      </p:sp>
      <p:sp>
        <p:nvSpPr>
          <p:cNvPr id="4" name="Text 2"/>
          <p:cNvSpPr txBox="1"/>
          <p:nvPr/>
        </p:nvSpPr>
        <p:spPr>
          <a:xfrm>
            <a:off x="731520" y="2834640"/>
            <a:ext cx="10058400" cy="12801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Antes del parcial</a:t>
            </a:r>
            <a:endParaRPr lang="en-US" sz="3400" dirty="0"/>
          </a:p>
        </p:txBody>
      </p:sp>
      <p:sp>
        <p:nvSpPr>
          <p:cNvPr id="5" name="Text 3"/>
          <p:cNvSpPr txBox="1"/>
          <p:nvPr/>
        </p:nvSpPr>
        <p:spPr>
          <a:xfrm>
            <a:off x="457200" y="6537960"/>
            <a:ext cx="8229600" cy="274320"/>
          </a:xfrm>
          <a:prstGeom prst="rect">
            <a:avLst/>
          </a:prstGeom>
          <a:noFill/>
          <a:ln/>
        </p:spPr>
        <p:txBody>
          <a:bodyPr wrap="square" lIns="0" tIns="0" rIns="0" bIns="0" rtlCol="0" anchor="ctr"/>
          <a:lstStyle/>
          <a:p>
            <a:pPr marL="0" indent="0" algn="l">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6" name="Text 4"/>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marL="0" indent="0" algn="l">
              <a:buNone/>
            </a:pPr>
            <a:r>
              <a:rPr lang="en-US" sz="1300" b="1" kern="0" spc="200" dirty="0">
                <a:solidFill>
                  <a:srgbClr val="E8A33D"/>
                </a:solidFill>
                <a:latin typeface="Calibri" pitchFamily="34" charset="0"/>
                <a:ea typeface="Calibri" pitchFamily="34" charset="-122"/>
                <a:cs typeface="Calibri" pitchFamily="34" charset="-120"/>
              </a:rPr>
              <a:t>BLOQUE 26</a:t>
            </a:r>
            <a:endParaRPr lang="en-US" sz="1300" dirty="0"/>
          </a:p>
        </p:txBody>
      </p:sp>
      <p:sp>
        <p:nvSpPr>
          <p:cNvPr id="3" name="Text 1"/>
          <p:cNvSpPr txBox="1"/>
          <p:nvPr/>
        </p:nvSpPr>
        <p:spPr>
          <a:xfrm>
            <a:off x="548640" y="621792"/>
            <a:ext cx="10972800" cy="73152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1er Parcial: lo que hay que saber</a:t>
            </a:r>
            <a:endParaRPr lang="en-US" sz="2800" dirty="0"/>
          </a:p>
        </p:txBody>
      </p:sp>
      <p:sp>
        <p:nvSpPr>
          <p:cNvPr id="4" name="Shape 2"/>
          <p:cNvSpPr/>
          <p:nvPr/>
        </p:nvSpPr>
        <p:spPr>
          <a:xfrm>
            <a:off x="548640" y="1737360"/>
            <a:ext cx="3301898" cy="3108960"/>
          </a:xfrm>
          <a:prstGeom prst="roundRect">
            <a:avLst>
              <a:gd name="adj" fmla="val 1471"/>
            </a:avLst>
          </a:prstGeom>
          <a:solidFill>
            <a:srgbClr val="F5F7FC"/>
          </a:solidFill>
          <a:ln w="12700">
            <a:solidFill>
              <a:srgbClr val="CADCFC"/>
            </a:solidFill>
            <a:prstDash val="solid"/>
          </a:ln>
        </p:spPr>
        <p:txBody>
          <a:bodyPr/>
          <a:lstStyle/>
          <a:p>
            <a:endParaRPr lang="es-AR"/>
          </a:p>
        </p:txBody>
      </p:sp>
      <p:sp>
        <p:nvSpPr>
          <p:cNvPr id="5" name="Text 3"/>
          <p:cNvSpPr txBox="1"/>
          <p:nvPr/>
        </p:nvSpPr>
        <p:spPr>
          <a:xfrm>
            <a:off x="777240" y="1965960"/>
            <a:ext cx="2844698"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Fecha y duración</a:t>
            </a:r>
            <a:endParaRPr lang="en-US" sz="1800" dirty="0"/>
          </a:p>
        </p:txBody>
      </p:sp>
      <p:sp>
        <p:nvSpPr>
          <p:cNvPr id="6" name="Text 4"/>
          <p:cNvSpPr txBox="1"/>
          <p:nvPr/>
        </p:nvSpPr>
        <p:spPr>
          <a:xfrm>
            <a:off x="777240" y="2514600"/>
            <a:ext cx="2844698" cy="2103120"/>
          </a:xfrm>
          <a:prstGeom prst="rect">
            <a:avLst/>
          </a:prstGeom>
          <a:noFill/>
          <a:ln/>
        </p:spPr>
        <p:txBody>
          <a:bodyPr wrap="square" lIns="0" tIns="0" rIns="0" bIns="0" rtlCol="0" anchor="t"/>
          <a:lstStyle/>
          <a:p>
            <a:pPr marL="0" indent="0">
              <a:buNone/>
            </a:pPr>
            <a:r>
              <a:rPr lang="en-US" sz="1350" dirty="0">
                <a:solidFill>
                  <a:srgbClr val="1C1C2A"/>
                </a:solidFill>
                <a:latin typeface="Calibri" pitchFamily="34" charset="0"/>
                <a:ea typeface="Calibri" pitchFamily="34" charset="-122"/>
                <a:cs typeface="Calibri" pitchFamily="34" charset="-120"/>
              </a:rPr>
              <a:t>Lunes 14/09/2026.</a:t>
            </a:r>
            <a:endParaRPr lang="en-US" sz="1350" dirty="0"/>
          </a:p>
          <a:p>
            <a:pPr marL="0" indent="0">
              <a:buNone/>
            </a:pPr>
            <a:endParaRPr lang="en-US" sz="1350" dirty="0"/>
          </a:p>
          <a:p>
            <a:pPr marL="0" indent="0">
              <a:buNone/>
            </a:pPr>
            <a:r>
              <a:rPr lang="en-US" sz="1350" dirty="0">
                <a:solidFill>
                  <a:srgbClr val="1C1C2A"/>
                </a:solidFill>
                <a:latin typeface="Calibri" pitchFamily="34" charset="0"/>
                <a:ea typeface="Calibri" pitchFamily="34" charset="-122"/>
                <a:cs typeface="Calibri" pitchFamily="34" charset="-120"/>
              </a:rPr>
              <a:t>Duración: 120 </a:t>
            </a:r>
            <a:r>
              <a:rPr lang="en-US" sz="1350" dirty="0" err="1">
                <a:solidFill>
                  <a:srgbClr val="1C1C2A"/>
                </a:solidFill>
                <a:latin typeface="Calibri" pitchFamily="34" charset="0"/>
                <a:ea typeface="Calibri" pitchFamily="34" charset="-122"/>
                <a:cs typeface="Calibri" pitchFamily="34" charset="-120"/>
              </a:rPr>
              <a:t>minutos</a:t>
            </a:r>
            <a:r>
              <a:rPr lang="en-US" sz="1350" dirty="0">
                <a:solidFill>
                  <a:srgbClr val="1C1C2A"/>
                </a:solidFill>
                <a:latin typeface="Calibri" pitchFamily="34" charset="0"/>
                <a:ea typeface="Calibri" pitchFamily="34" charset="-122"/>
                <a:cs typeface="Calibri" pitchFamily="34" charset="-120"/>
              </a:rPr>
              <a:t>.</a:t>
            </a:r>
            <a:endParaRPr lang="en-US" sz="1350" dirty="0"/>
          </a:p>
        </p:txBody>
      </p:sp>
      <p:sp>
        <p:nvSpPr>
          <p:cNvPr id="7" name="Shape 5"/>
          <p:cNvSpPr/>
          <p:nvPr/>
        </p:nvSpPr>
        <p:spPr>
          <a:xfrm>
            <a:off x="4017874" y="1737360"/>
            <a:ext cx="3301898" cy="3108960"/>
          </a:xfrm>
          <a:prstGeom prst="roundRect">
            <a:avLst>
              <a:gd name="adj" fmla="val 1471"/>
            </a:avLst>
          </a:prstGeom>
          <a:solidFill>
            <a:srgbClr val="F5F7FC"/>
          </a:solidFill>
          <a:ln w="12700">
            <a:solidFill>
              <a:srgbClr val="CADCFC"/>
            </a:solidFill>
            <a:prstDash val="solid"/>
          </a:ln>
        </p:spPr>
        <p:txBody>
          <a:bodyPr/>
          <a:lstStyle/>
          <a:p>
            <a:endParaRPr lang="es-AR"/>
          </a:p>
        </p:txBody>
      </p:sp>
      <p:sp>
        <p:nvSpPr>
          <p:cNvPr id="8" name="Text 6"/>
          <p:cNvSpPr txBox="1"/>
          <p:nvPr/>
        </p:nvSpPr>
        <p:spPr>
          <a:xfrm>
            <a:off x="4246474" y="1965960"/>
            <a:ext cx="2844698"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Temario</a:t>
            </a:r>
            <a:endParaRPr lang="en-US" sz="1800" dirty="0"/>
          </a:p>
        </p:txBody>
      </p:sp>
      <p:sp>
        <p:nvSpPr>
          <p:cNvPr id="9" name="Text 7"/>
          <p:cNvSpPr txBox="1"/>
          <p:nvPr/>
        </p:nvSpPr>
        <p:spPr>
          <a:xfrm>
            <a:off x="4246474" y="2514600"/>
            <a:ext cx="2844698" cy="2103120"/>
          </a:xfrm>
          <a:prstGeom prst="rect">
            <a:avLst/>
          </a:prstGeom>
          <a:noFill/>
          <a:ln/>
        </p:spPr>
        <p:txBody>
          <a:bodyPr wrap="square" lIns="0" tIns="0" rIns="0" bIns="0" rtlCol="0" anchor="t"/>
          <a:lstStyle/>
          <a:p>
            <a:pPr marL="0" indent="0">
              <a:buNone/>
            </a:pPr>
            <a:r>
              <a:rPr lang="en-US" sz="1350" dirty="0">
                <a:solidFill>
                  <a:srgbClr val="1C1C2A"/>
                </a:solidFill>
                <a:latin typeface="Calibri" pitchFamily="34" charset="0"/>
                <a:ea typeface="Calibri" pitchFamily="34" charset="-122"/>
                <a:cs typeface="Calibri" pitchFamily="34" charset="-120"/>
              </a:rPr>
              <a:t>Unidades I a IV: todo lo dado en las Clases 1 a 5 — TDA y notación, implementación estática, Cola con Prioridad, Conjunto, Diccionario, implementaciones dinámicas, Big O y complejidad espacial.</a:t>
            </a:r>
            <a:endParaRPr lang="en-US" sz="1350" dirty="0"/>
          </a:p>
        </p:txBody>
      </p:sp>
      <p:sp>
        <p:nvSpPr>
          <p:cNvPr id="10" name="Shape 8"/>
          <p:cNvSpPr/>
          <p:nvPr/>
        </p:nvSpPr>
        <p:spPr>
          <a:xfrm>
            <a:off x="7487107" y="1737360"/>
            <a:ext cx="3301898" cy="3108960"/>
          </a:xfrm>
          <a:prstGeom prst="roundRect">
            <a:avLst>
              <a:gd name="adj" fmla="val 1471"/>
            </a:avLst>
          </a:prstGeom>
          <a:solidFill>
            <a:srgbClr val="F5F7FC"/>
          </a:solidFill>
          <a:ln w="12700">
            <a:solidFill>
              <a:srgbClr val="CADCFC"/>
            </a:solidFill>
            <a:prstDash val="solid"/>
          </a:ln>
        </p:spPr>
        <p:txBody>
          <a:bodyPr/>
          <a:lstStyle/>
          <a:p>
            <a:endParaRPr lang="es-AR"/>
          </a:p>
        </p:txBody>
      </p:sp>
      <p:sp>
        <p:nvSpPr>
          <p:cNvPr id="11" name="Text 9"/>
          <p:cNvSpPr txBox="1"/>
          <p:nvPr/>
        </p:nvSpPr>
        <p:spPr>
          <a:xfrm>
            <a:off x="7715707" y="1965960"/>
            <a:ext cx="2844698"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Formato</a:t>
            </a:r>
            <a:endParaRPr lang="en-US" sz="1800" dirty="0"/>
          </a:p>
        </p:txBody>
      </p:sp>
      <p:sp>
        <p:nvSpPr>
          <p:cNvPr id="12" name="Text 10"/>
          <p:cNvSpPr txBox="1"/>
          <p:nvPr/>
        </p:nvSpPr>
        <p:spPr>
          <a:xfrm>
            <a:off x="7715707" y="2514600"/>
            <a:ext cx="2844698" cy="2103120"/>
          </a:xfrm>
          <a:prstGeom prst="rect">
            <a:avLst/>
          </a:prstGeom>
          <a:noFill/>
          <a:ln/>
        </p:spPr>
        <p:txBody>
          <a:bodyPr wrap="square" lIns="0" tIns="0" rIns="0" bIns="0" rtlCol="0" anchor="t"/>
          <a:lstStyle/>
          <a:p>
            <a:pPr marL="0" indent="0">
              <a:buNone/>
            </a:pPr>
            <a:r>
              <a:rPr lang="en-US" sz="1350" dirty="0">
                <a:solidFill>
                  <a:srgbClr val="1C1C2A"/>
                </a:solidFill>
                <a:latin typeface="Calibri" pitchFamily="34" charset="0"/>
                <a:ea typeface="Calibri" pitchFamily="34" charset="-122"/>
                <a:cs typeface="Calibri" pitchFamily="34" charset="-120"/>
              </a:rPr>
              <a:t>Teoria y TDA Individual, sin apuntes ni </a:t>
            </a:r>
            <a:r>
              <a:rPr lang="en-US" sz="1350" dirty="0" err="1">
                <a:solidFill>
                  <a:srgbClr val="1C1C2A"/>
                </a:solidFill>
                <a:latin typeface="Calibri" pitchFamily="34" charset="0"/>
                <a:ea typeface="Calibri" pitchFamily="34" charset="-122"/>
                <a:cs typeface="Calibri" pitchFamily="34" charset="-120"/>
              </a:rPr>
              <a:t>dispositivos</a:t>
            </a:r>
            <a:r>
              <a:rPr lang="en-US" sz="1350" dirty="0">
                <a:solidFill>
                  <a:srgbClr val="1C1C2A"/>
                </a:solidFill>
                <a:latin typeface="Calibri" pitchFamily="34" charset="0"/>
                <a:ea typeface="Calibri" pitchFamily="34" charset="-122"/>
                <a:cs typeface="Calibri" pitchFamily="34" charset="-120"/>
              </a:rPr>
              <a:t> </a:t>
            </a:r>
            <a:r>
              <a:rPr lang="en-US" sz="1350" dirty="0" err="1">
                <a:solidFill>
                  <a:srgbClr val="1C1C2A"/>
                </a:solidFill>
                <a:latin typeface="Calibri" pitchFamily="34" charset="0"/>
                <a:ea typeface="Calibri" pitchFamily="34" charset="-122"/>
                <a:cs typeface="Calibri" pitchFamily="34" charset="-120"/>
              </a:rPr>
              <a:t>electrónicos</a:t>
            </a:r>
            <a:r>
              <a:rPr lang="en-US" sz="1350" dirty="0">
                <a:solidFill>
                  <a:srgbClr val="1C1C2A"/>
                </a:solidFill>
                <a:latin typeface="Calibri" pitchFamily="34" charset="0"/>
                <a:ea typeface="Calibri" pitchFamily="34" charset="-122"/>
                <a:cs typeface="Calibri" pitchFamily="34" charset="-120"/>
              </a:rPr>
              <a:t>.</a:t>
            </a:r>
            <a:br>
              <a:rPr lang="en-US" sz="1350" dirty="0">
                <a:solidFill>
                  <a:srgbClr val="1C1C2A"/>
                </a:solidFill>
                <a:latin typeface="Calibri" pitchFamily="34" charset="0"/>
                <a:ea typeface="Calibri" pitchFamily="34" charset="-122"/>
                <a:cs typeface="Calibri" pitchFamily="34" charset="-120"/>
              </a:rPr>
            </a:br>
            <a:r>
              <a:rPr lang="en-US" sz="1350" dirty="0">
                <a:solidFill>
                  <a:srgbClr val="1C1C2A"/>
                </a:solidFill>
                <a:latin typeface="Calibri" pitchFamily="34" charset="0"/>
                <a:ea typeface="Calibri" pitchFamily="34" charset="-122"/>
                <a:cs typeface="Calibri" pitchFamily="34" charset="-120"/>
              </a:rPr>
              <a:t>Código java </a:t>
            </a:r>
            <a:r>
              <a:rPr lang="en-US" sz="1350" dirty="0" err="1">
                <a:solidFill>
                  <a:srgbClr val="1C1C2A"/>
                </a:solidFill>
                <a:latin typeface="Calibri" pitchFamily="34" charset="0"/>
                <a:ea typeface="Calibri" pitchFamily="34" charset="-122"/>
                <a:cs typeface="Calibri" pitchFamily="34" charset="-120"/>
              </a:rPr>
              <a:t>en</a:t>
            </a:r>
            <a:r>
              <a:rPr lang="en-US" sz="1350" dirty="0">
                <a:solidFill>
                  <a:srgbClr val="1C1C2A"/>
                </a:solidFill>
                <a:latin typeface="Calibri" pitchFamily="34" charset="0"/>
                <a:ea typeface="Calibri" pitchFamily="34" charset="-122"/>
                <a:cs typeface="Calibri" pitchFamily="34" charset="-120"/>
              </a:rPr>
              <a:t> notebook (</a:t>
            </a:r>
            <a:r>
              <a:rPr lang="en-US" sz="1350" dirty="0" err="1">
                <a:solidFill>
                  <a:srgbClr val="1C1C2A"/>
                </a:solidFill>
                <a:latin typeface="Calibri" pitchFamily="34" charset="0"/>
                <a:ea typeface="Calibri" pitchFamily="34" charset="-122"/>
                <a:cs typeface="Calibri" pitchFamily="34" charset="-120"/>
              </a:rPr>
              <a:t>traer</a:t>
            </a:r>
            <a:r>
              <a:rPr lang="en-US" sz="1350" dirty="0">
                <a:solidFill>
                  <a:srgbClr val="1C1C2A"/>
                </a:solidFill>
                <a:latin typeface="Calibri" pitchFamily="34" charset="0"/>
                <a:ea typeface="Calibri" pitchFamily="34" charset="-122"/>
                <a:cs typeface="Calibri" pitchFamily="34" charset="-120"/>
              </a:rPr>
              <a:t>)</a:t>
            </a:r>
            <a:endParaRPr lang="en-US" sz="1350" dirty="0"/>
          </a:p>
        </p:txBody>
      </p:sp>
      <p:sp>
        <p:nvSpPr>
          <p:cNvPr id="14" name="Text 12"/>
          <p:cNvSpPr txBox="1"/>
          <p:nvPr/>
        </p:nvSpPr>
        <p:spPr>
          <a:xfrm>
            <a:off x="457200" y="6537960"/>
            <a:ext cx="8229600" cy="274320"/>
          </a:xfrm>
          <a:prstGeom prst="rect">
            <a:avLst/>
          </a:prstGeom>
          <a:noFill/>
          <a:ln/>
        </p:spPr>
        <p:txBody>
          <a:bodyPr wrap="square" lIns="0" tIns="0" rIns="0" bIns="0" rtlCol="0" anchor="ctr"/>
          <a:lstStyle/>
          <a:p>
            <a:pPr marL="0" indent="0" algn="l">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5" name="Text 13"/>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16277-44B9-3F03-524D-9223121CEF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97542D-1FC2-1876-5D1E-3785D3320A88}"/>
              </a:ext>
            </a:extLst>
          </p:cNvPr>
          <p:cNvSpPr txBox="1"/>
          <p:nvPr/>
        </p:nvSpPr>
        <p:spPr>
          <a:xfrm>
            <a:off x="548640" y="320040"/>
            <a:ext cx="10972800" cy="320040"/>
          </a:xfrm>
          <a:prstGeom prst="rect">
            <a:avLst/>
          </a:prstGeom>
          <a:noFill/>
          <a:ln/>
        </p:spPr>
        <p:txBody>
          <a:bodyPr wrap="square" lIns="0" tIns="0" rIns="0" bIns="0" rtlCol="0" anchor="ctr"/>
          <a:lstStyle/>
          <a:p>
            <a:pPr marL="0" indent="0" algn="l">
              <a:buNone/>
            </a:pPr>
            <a:r>
              <a:rPr lang="en-US" sz="1300" b="1" kern="0" spc="200" dirty="0">
                <a:solidFill>
                  <a:srgbClr val="E8A33D"/>
                </a:solidFill>
                <a:latin typeface="Calibri" pitchFamily="34" charset="0"/>
                <a:ea typeface="Calibri" pitchFamily="34" charset="-122"/>
                <a:cs typeface="Calibri" pitchFamily="34" charset="-120"/>
              </a:rPr>
              <a:t>BLOQUE 26</a:t>
            </a:r>
            <a:endParaRPr lang="en-US" sz="1300" dirty="0"/>
          </a:p>
        </p:txBody>
      </p:sp>
      <p:sp>
        <p:nvSpPr>
          <p:cNvPr id="3" name="Text 1">
            <a:extLst>
              <a:ext uri="{FF2B5EF4-FFF2-40B4-BE49-F238E27FC236}">
                <a16:creationId xmlns:a16="http://schemas.microsoft.com/office/drawing/2014/main" id="{2C97EE0C-27D7-DFB7-03F4-A637ACE311AC}"/>
              </a:ext>
            </a:extLst>
          </p:cNvPr>
          <p:cNvSpPr txBox="1"/>
          <p:nvPr/>
        </p:nvSpPr>
        <p:spPr>
          <a:xfrm>
            <a:off x="548640" y="621792"/>
            <a:ext cx="10972800" cy="73152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1er Parcial: </a:t>
            </a:r>
            <a:r>
              <a:rPr lang="en-US" sz="2800" b="1" dirty="0" err="1">
                <a:solidFill>
                  <a:srgbClr val="1E2761"/>
                </a:solidFill>
                <a:latin typeface="Cambria" pitchFamily="34" charset="0"/>
                <a:ea typeface="Cambria" pitchFamily="34" charset="-122"/>
                <a:cs typeface="Cambria" pitchFamily="34" charset="-120"/>
              </a:rPr>
              <a:t>Teoría</a:t>
            </a:r>
            <a:endParaRPr lang="en-US" sz="2800" dirty="0"/>
          </a:p>
        </p:txBody>
      </p:sp>
      <p:sp>
        <p:nvSpPr>
          <p:cNvPr id="4" name="Shape 2">
            <a:extLst>
              <a:ext uri="{FF2B5EF4-FFF2-40B4-BE49-F238E27FC236}">
                <a16:creationId xmlns:a16="http://schemas.microsoft.com/office/drawing/2014/main" id="{E3B0395E-F6D8-B96E-561A-F7EBFA348E3D}"/>
              </a:ext>
            </a:extLst>
          </p:cNvPr>
          <p:cNvSpPr/>
          <p:nvPr/>
        </p:nvSpPr>
        <p:spPr>
          <a:xfrm>
            <a:off x="548640" y="1264778"/>
            <a:ext cx="10866120" cy="4559950"/>
          </a:xfrm>
          <a:prstGeom prst="roundRect">
            <a:avLst>
              <a:gd name="adj" fmla="val 1471"/>
            </a:avLst>
          </a:prstGeom>
          <a:solidFill>
            <a:srgbClr val="F5F7FC"/>
          </a:solidFill>
          <a:ln w="12700">
            <a:solidFill>
              <a:srgbClr val="CADCFC"/>
            </a:solidFill>
            <a:prstDash val="solid"/>
          </a:ln>
        </p:spPr>
        <p:txBody>
          <a:bodyPr/>
          <a:lstStyle/>
          <a:p>
            <a:endParaRPr lang="es-AR"/>
          </a:p>
        </p:txBody>
      </p:sp>
      <p:sp>
        <p:nvSpPr>
          <p:cNvPr id="6" name="Text 4">
            <a:extLst>
              <a:ext uri="{FF2B5EF4-FFF2-40B4-BE49-F238E27FC236}">
                <a16:creationId xmlns:a16="http://schemas.microsoft.com/office/drawing/2014/main" id="{1CAA874B-C6AC-F175-CA40-007B36CADAD6}"/>
              </a:ext>
            </a:extLst>
          </p:cNvPr>
          <p:cNvSpPr txBox="1"/>
          <p:nvPr/>
        </p:nvSpPr>
        <p:spPr>
          <a:xfrm>
            <a:off x="640578" y="1386213"/>
            <a:ext cx="10682243" cy="2103120"/>
          </a:xfrm>
          <a:prstGeom prst="rect">
            <a:avLst/>
          </a:prstGeom>
          <a:noFill/>
          <a:ln/>
        </p:spPr>
        <p:txBody>
          <a:bodyPr wrap="square" lIns="0" tIns="0" rIns="0" bIns="0" rtlCol="0" anchor="t"/>
          <a:lstStyle/>
          <a:p>
            <a:r>
              <a:rPr lang="es-ES" sz="1600" b="1" dirty="0">
                <a:solidFill>
                  <a:srgbClr val="1C1C2A"/>
                </a:solidFill>
                <a:latin typeface="Calibri" pitchFamily="34" charset="0"/>
                <a:ea typeface="Calibri" pitchFamily="34" charset="-122"/>
                <a:cs typeface="Calibri" pitchFamily="34" charset="-120"/>
              </a:rPr>
              <a:t>1. (Pila) </a:t>
            </a:r>
          </a:p>
          <a:p>
            <a:r>
              <a:rPr lang="es-ES" sz="1600" dirty="0">
                <a:solidFill>
                  <a:srgbClr val="1C1C2A"/>
                </a:solidFill>
                <a:latin typeface="Calibri" pitchFamily="34" charset="0"/>
                <a:ea typeface="Calibri" pitchFamily="34" charset="-122"/>
                <a:cs typeface="Calibri" pitchFamily="34" charset="-120"/>
              </a:rPr>
              <a:t>En la implementación estática de Pila, ¿por qué la estrategia “tope al final” logra que apilar() y </a:t>
            </a:r>
            <a:r>
              <a:rPr lang="es-ES" sz="1600" dirty="0" err="1">
                <a:solidFill>
                  <a:srgbClr val="1C1C2A"/>
                </a:solidFill>
                <a:latin typeface="Calibri" pitchFamily="34" charset="0"/>
                <a:ea typeface="Calibri" pitchFamily="34" charset="-122"/>
                <a:cs typeface="Calibri" pitchFamily="34" charset="-120"/>
              </a:rPr>
              <a:t>desapilar</a:t>
            </a:r>
            <a:r>
              <a:rPr lang="es-ES" sz="1600" dirty="0">
                <a:solidFill>
                  <a:srgbClr val="1C1C2A"/>
                </a:solidFill>
                <a:latin typeface="Calibri" pitchFamily="34" charset="0"/>
                <a:ea typeface="Calibri" pitchFamily="34" charset="-122"/>
                <a:cs typeface="Calibri" pitchFamily="34" charset="-120"/>
              </a:rPr>
              <a:t>() sean O(1), mientras que con “tope al inicio” son O(n)? Explique qué operación extra requiere cada estrategia.</a:t>
            </a:r>
          </a:p>
          <a:p>
            <a:r>
              <a:rPr lang="es-ES" sz="1600" b="1" dirty="0">
                <a:solidFill>
                  <a:srgbClr val="1C1C2A"/>
                </a:solidFill>
                <a:latin typeface="Calibri" pitchFamily="34" charset="0"/>
                <a:ea typeface="Calibri" pitchFamily="34" charset="-122"/>
                <a:cs typeface="Calibri" pitchFamily="34" charset="-120"/>
              </a:rPr>
              <a:t>2. (Cola) </a:t>
            </a:r>
          </a:p>
          <a:p>
            <a:r>
              <a:rPr lang="es-ES" sz="1600" dirty="0">
                <a:solidFill>
                  <a:srgbClr val="1C1C2A"/>
                </a:solidFill>
                <a:latin typeface="Calibri" pitchFamily="34" charset="0"/>
                <a:ea typeface="Calibri" pitchFamily="34" charset="-122"/>
                <a:cs typeface="Calibri" pitchFamily="34" charset="-120"/>
              </a:rPr>
              <a:t>La implementación estática no circular de Cola usa dos atributos, frente y cantidad. Explique por qué </a:t>
            </a:r>
            <a:r>
              <a:rPr lang="es-ES" sz="1600" dirty="0" err="1">
                <a:solidFill>
                  <a:srgbClr val="1C1C2A"/>
                </a:solidFill>
                <a:latin typeface="Calibri" pitchFamily="34" charset="0"/>
                <a:ea typeface="Calibri" pitchFamily="34" charset="-122"/>
                <a:cs typeface="Calibri" pitchFamily="34" charset="-120"/>
              </a:rPr>
              <a:t>esLlena</a:t>
            </a:r>
            <a:r>
              <a:rPr lang="es-ES" sz="1600" dirty="0">
                <a:solidFill>
                  <a:srgbClr val="1C1C2A"/>
                </a:solidFill>
                <a:latin typeface="Calibri" pitchFamily="34" charset="0"/>
                <a:ea typeface="Calibri" pitchFamily="34" charset="-122"/>
                <a:cs typeface="Calibri" pitchFamily="34" charset="-120"/>
              </a:rPr>
              <a:t>() se define como frente + cantidad == capacidad y no simplemente como cantidad == capacidad. ¿Qué “desperdicio” de espacio puede llegar a ocurrir con esta implementación?</a:t>
            </a:r>
          </a:p>
          <a:p>
            <a:r>
              <a:rPr lang="es-ES" sz="1600" b="1" dirty="0">
                <a:solidFill>
                  <a:srgbClr val="1C1C2A"/>
                </a:solidFill>
                <a:latin typeface="Calibri" pitchFamily="34" charset="0"/>
                <a:ea typeface="Calibri" pitchFamily="34" charset="-122"/>
                <a:cs typeface="Calibri" pitchFamily="34" charset="-120"/>
              </a:rPr>
              <a:t>3. (Cola con Prioridad) </a:t>
            </a:r>
          </a:p>
          <a:p>
            <a:r>
              <a:rPr lang="es-ES" sz="1600" dirty="0">
                <a:solidFill>
                  <a:srgbClr val="1C1C2A"/>
                </a:solidFill>
                <a:latin typeface="Calibri" pitchFamily="34" charset="0"/>
                <a:ea typeface="Calibri" pitchFamily="34" charset="-122"/>
                <a:cs typeface="Calibri" pitchFamily="34" charset="-120"/>
              </a:rPr>
              <a:t>Compare las dos estrategias de implementación estática de Cola con Prioridad (ordenada y desordenada) en términos del costo de encolar() y desencolar(). Si se espera hacer muchas más inserciones que extracciones, ¿cuál de las dos conviene usar? Justifique.</a:t>
            </a:r>
          </a:p>
          <a:p>
            <a:r>
              <a:rPr lang="es-ES" sz="1600" b="1" dirty="0">
                <a:solidFill>
                  <a:srgbClr val="1C1C2A"/>
                </a:solidFill>
                <a:latin typeface="Calibri" pitchFamily="34" charset="0"/>
                <a:ea typeface="Calibri" pitchFamily="34" charset="-122"/>
                <a:cs typeface="Calibri" pitchFamily="34" charset="-120"/>
              </a:rPr>
              <a:t>4. (Conjunto) </a:t>
            </a:r>
          </a:p>
          <a:p>
            <a:r>
              <a:rPr lang="es-ES" sz="1600" dirty="0">
                <a:solidFill>
                  <a:srgbClr val="1C1C2A"/>
                </a:solidFill>
                <a:latin typeface="Calibri" pitchFamily="34" charset="0"/>
                <a:ea typeface="Calibri" pitchFamily="34" charset="-122"/>
                <a:cs typeface="Calibri" pitchFamily="34" charset="-120"/>
              </a:rPr>
              <a:t>¿Por qué la operación agregar(c, x) del TDA Conjunto tiene como precondición que x no pertenezca a c? ¿Qué garantiza esa precondición sobre la estructura resultante?</a:t>
            </a:r>
          </a:p>
          <a:p>
            <a:r>
              <a:rPr lang="es-ES" sz="1600" b="1" dirty="0">
                <a:solidFill>
                  <a:srgbClr val="1C1C2A"/>
                </a:solidFill>
                <a:latin typeface="Calibri" pitchFamily="34" charset="0"/>
                <a:ea typeface="Calibri" pitchFamily="34" charset="-122"/>
                <a:cs typeface="Calibri" pitchFamily="34" charset="-120"/>
              </a:rPr>
              <a:t>5. (Conjunto) </a:t>
            </a:r>
          </a:p>
          <a:p>
            <a:r>
              <a:rPr lang="es-ES" sz="1600" dirty="0">
                <a:solidFill>
                  <a:srgbClr val="1C1C2A"/>
                </a:solidFill>
                <a:latin typeface="Calibri" pitchFamily="34" charset="0"/>
                <a:ea typeface="Calibri" pitchFamily="34" charset="-122"/>
                <a:cs typeface="Calibri" pitchFamily="34" charset="-120"/>
              </a:rPr>
              <a:t>En la implementación estática desordenada de Conjunto, explique cómo funciona sacar(x) sin tener que correr todos los elementos posteriores. ¿Por qué ese mismo truco no se puede aplicar en la versión ordenada?</a:t>
            </a:r>
          </a:p>
        </p:txBody>
      </p:sp>
      <p:sp>
        <p:nvSpPr>
          <p:cNvPr id="14" name="Text 12">
            <a:extLst>
              <a:ext uri="{FF2B5EF4-FFF2-40B4-BE49-F238E27FC236}">
                <a16:creationId xmlns:a16="http://schemas.microsoft.com/office/drawing/2014/main" id="{32027686-77A0-49E3-2CE8-47A15855E639}"/>
              </a:ext>
            </a:extLst>
          </p:cNvPr>
          <p:cNvSpPr txBox="1"/>
          <p:nvPr/>
        </p:nvSpPr>
        <p:spPr>
          <a:xfrm>
            <a:off x="457200" y="6537960"/>
            <a:ext cx="8229600" cy="274320"/>
          </a:xfrm>
          <a:prstGeom prst="rect">
            <a:avLst/>
          </a:prstGeom>
          <a:noFill/>
          <a:ln/>
        </p:spPr>
        <p:txBody>
          <a:bodyPr wrap="square" lIns="0" tIns="0" rIns="0" bIns="0" rtlCol="0" anchor="ctr"/>
          <a:lstStyle/>
          <a:p>
            <a:pPr marL="0" indent="0" algn="l">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5" name="Text 13">
            <a:extLst>
              <a:ext uri="{FF2B5EF4-FFF2-40B4-BE49-F238E27FC236}">
                <a16:creationId xmlns:a16="http://schemas.microsoft.com/office/drawing/2014/main" id="{99422DB6-2F31-4DC9-43FB-980CB8A79192}"/>
              </a:ext>
            </a:extLst>
          </p:cNvPr>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61</a:t>
            </a:r>
            <a:endParaRPr lang="en-US" sz="1000" dirty="0"/>
          </a:p>
        </p:txBody>
      </p:sp>
    </p:spTree>
    <p:extLst>
      <p:ext uri="{BB962C8B-B14F-4D97-AF65-F5344CB8AC3E}">
        <p14:creationId xmlns:p14="http://schemas.microsoft.com/office/powerpoint/2010/main" val="16416096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42E0D-B9E3-BCE8-A13A-E68AC09B28E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901281-61DA-3CF3-C078-8D62F70B729C}"/>
              </a:ext>
            </a:extLst>
          </p:cNvPr>
          <p:cNvSpPr txBox="1"/>
          <p:nvPr/>
        </p:nvSpPr>
        <p:spPr>
          <a:xfrm>
            <a:off x="548640" y="320040"/>
            <a:ext cx="10972800" cy="320040"/>
          </a:xfrm>
          <a:prstGeom prst="rect">
            <a:avLst/>
          </a:prstGeom>
          <a:noFill/>
          <a:ln/>
        </p:spPr>
        <p:txBody>
          <a:bodyPr wrap="square" lIns="0" tIns="0" rIns="0" bIns="0" rtlCol="0" anchor="ctr"/>
          <a:lstStyle/>
          <a:p>
            <a:pPr marL="0" indent="0" algn="l">
              <a:buNone/>
            </a:pPr>
            <a:r>
              <a:rPr lang="en-US" sz="1300" b="1" kern="0" spc="200" dirty="0">
                <a:solidFill>
                  <a:srgbClr val="E8A33D"/>
                </a:solidFill>
                <a:latin typeface="Calibri" pitchFamily="34" charset="0"/>
                <a:ea typeface="Calibri" pitchFamily="34" charset="-122"/>
                <a:cs typeface="Calibri" pitchFamily="34" charset="-120"/>
              </a:rPr>
              <a:t>BLOQUE 26</a:t>
            </a:r>
            <a:endParaRPr lang="en-US" sz="1300" dirty="0"/>
          </a:p>
        </p:txBody>
      </p:sp>
      <p:sp>
        <p:nvSpPr>
          <p:cNvPr id="3" name="Text 1">
            <a:extLst>
              <a:ext uri="{FF2B5EF4-FFF2-40B4-BE49-F238E27FC236}">
                <a16:creationId xmlns:a16="http://schemas.microsoft.com/office/drawing/2014/main" id="{59331862-204B-AA96-395F-D31C5F3DCAB3}"/>
              </a:ext>
            </a:extLst>
          </p:cNvPr>
          <p:cNvSpPr txBox="1"/>
          <p:nvPr/>
        </p:nvSpPr>
        <p:spPr>
          <a:xfrm>
            <a:off x="548640" y="621792"/>
            <a:ext cx="10972800" cy="73152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1er Parcial: </a:t>
            </a:r>
            <a:r>
              <a:rPr lang="en-US" sz="2800" b="1" dirty="0" err="1">
                <a:solidFill>
                  <a:srgbClr val="1E2761"/>
                </a:solidFill>
                <a:latin typeface="Cambria" pitchFamily="34" charset="0"/>
                <a:ea typeface="Cambria" pitchFamily="34" charset="-122"/>
                <a:cs typeface="Cambria" pitchFamily="34" charset="-120"/>
              </a:rPr>
              <a:t>Teoría</a:t>
            </a:r>
            <a:endParaRPr lang="en-US" sz="2800" dirty="0"/>
          </a:p>
        </p:txBody>
      </p:sp>
      <p:sp>
        <p:nvSpPr>
          <p:cNvPr id="4" name="Shape 2">
            <a:extLst>
              <a:ext uri="{FF2B5EF4-FFF2-40B4-BE49-F238E27FC236}">
                <a16:creationId xmlns:a16="http://schemas.microsoft.com/office/drawing/2014/main" id="{1C4C4D13-F3EB-3392-118D-ED6CE3197120}"/>
              </a:ext>
            </a:extLst>
          </p:cNvPr>
          <p:cNvSpPr/>
          <p:nvPr/>
        </p:nvSpPr>
        <p:spPr>
          <a:xfrm>
            <a:off x="548640" y="1264778"/>
            <a:ext cx="10866120" cy="4559950"/>
          </a:xfrm>
          <a:prstGeom prst="roundRect">
            <a:avLst>
              <a:gd name="adj" fmla="val 1471"/>
            </a:avLst>
          </a:prstGeom>
          <a:solidFill>
            <a:srgbClr val="F5F7FC"/>
          </a:solidFill>
          <a:ln w="12700">
            <a:solidFill>
              <a:srgbClr val="CADCFC"/>
            </a:solidFill>
            <a:prstDash val="solid"/>
          </a:ln>
        </p:spPr>
        <p:txBody>
          <a:bodyPr/>
          <a:lstStyle/>
          <a:p>
            <a:endParaRPr lang="es-AR"/>
          </a:p>
        </p:txBody>
      </p:sp>
      <p:sp>
        <p:nvSpPr>
          <p:cNvPr id="6" name="Text 4">
            <a:extLst>
              <a:ext uri="{FF2B5EF4-FFF2-40B4-BE49-F238E27FC236}">
                <a16:creationId xmlns:a16="http://schemas.microsoft.com/office/drawing/2014/main" id="{BE36CDB2-B4D3-84EB-B69B-F9AC45EF8F19}"/>
              </a:ext>
            </a:extLst>
          </p:cNvPr>
          <p:cNvSpPr txBox="1"/>
          <p:nvPr/>
        </p:nvSpPr>
        <p:spPr>
          <a:xfrm>
            <a:off x="640578" y="1386213"/>
            <a:ext cx="10682243" cy="4322378"/>
          </a:xfrm>
          <a:prstGeom prst="rect">
            <a:avLst/>
          </a:prstGeom>
          <a:noFill/>
          <a:ln/>
        </p:spPr>
        <p:txBody>
          <a:bodyPr wrap="square" lIns="0" tIns="0" rIns="0" bIns="0" rtlCol="0" anchor="t"/>
          <a:lstStyle/>
          <a:p>
            <a:r>
              <a:rPr lang="es-ES" sz="1600" b="1" dirty="0">
                <a:solidFill>
                  <a:srgbClr val="1C1C2A"/>
                </a:solidFill>
                <a:latin typeface="Calibri" pitchFamily="34" charset="0"/>
                <a:ea typeface="Calibri" pitchFamily="34" charset="-122"/>
                <a:cs typeface="Calibri" pitchFamily="34" charset="-120"/>
              </a:rPr>
              <a:t>6. (Diccionario) </a:t>
            </a:r>
          </a:p>
          <a:p>
            <a:r>
              <a:rPr lang="es-ES" sz="1600" dirty="0">
                <a:solidFill>
                  <a:srgbClr val="1C1C2A"/>
                </a:solidFill>
                <a:latin typeface="Calibri" pitchFamily="34" charset="0"/>
                <a:ea typeface="Calibri" pitchFamily="34" charset="-122"/>
                <a:cs typeface="Calibri" pitchFamily="34" charset="-120"/>
              </a:rPr>
              <a:t>¿En qué se diferencia estructuralmente un Diccionario de un Conjunto en su implementación estática? ¿Por qué el TDA Diccionario no puede reutilizar directamente un arreglo simple de enteros como hace Conjunto?</a:t>
            </a:r>
          </a:p>
          <a:p>
            <a:r>
              <a:rPr lang="es-ES" sz="1600" b="1" dirty="0">
                <a:solidFill>
                  <a:srgbClr val="1C1C2A"/>
                </a:solidFill>
                <a:latin typeface="Calibri" pitchFamily="34" charset="0"/>
                <a:ea typeface="Calibri" pitchFamily="34" charset="-122"/>
                <a:cs typeface="Calibri" pitchFamily="34" charset="-120"/>
              </a:rPr>
              <a:t>7. (Diccionario) </a:t>
            </a:r>
          </a:p>
          <a:p>
            <a:r>
              <a:rPr lang="es-ES" sz="1600" dirty="0">
                <a:solidFill>
                  <a:srgbClr val="1C1C2A"/>
                </a:solidFill>
                <a:latin typeface="Calibri" pitchFamily="34" charset="0"/>
                <a:ea typeface="Calibri" pitchFamily="34" charset="-122"/>
                <a:cs typeface="Calibri" pitchFamily="34" charset="-120"/>
              </a:rPr>
              <a:t>La operación recuperar(d, clave) tiene como precondición que clave pertenezca a d. ¿Qué podría llegar a pasar si se invoca esta operación sin que se cumpla la precondición? ¿Por qué el diseño del TDA no incluye ese chequeo dentro de la propia operación?</a:t>
            </a:r>
          </a:p>
          <a:p>
            <a:r>
              <a:rPr lang="es-ES" sz="1600" b="1" dirty="0">
                <a:solidFill>
                  <a:srgbClr val="1C1C2A"/>
                </a:solidFill>
                <a:latin typeface="Calibri" pitchFamily="34" charset="0"/>
                <a:ea typeface="Calibri" pitchFamily="34" charset="-122"/>
                <a:cs typeface="Calibri" pitchFamily="34" charset="-120"/>
              </a:rPr>
              <a:t>8. (Costos) </a:t>
            </a:r>
          </a:p>
          <a:p>
            <a:r>
              <a:rPr lang="es-ES" sz="1600" dirty="0">
                <a:solidFill>
                  <a:srgbClr val="1C1C2A"/>
                </a:solidFill>
                <a:latin typeface="Calibri" pitchFamily="34" charset="0"/>
                <a:ea typeface="Calibri" pitchFamily="34" charset="-122"/>
                <a:cs typeface="Calibri" pitchFamily="34" charset="-120"/>
              </a:rPr>
              <a:t>Para cada una de las siguientes operaciones, indique su costo — O(1), O(log n) u O(n) — y justifique brevemente: (a) pertenece() en Conjunto ordenado; (b) agregar() en Conjunto desordenado; (c) desencolar() en Cola con Prioridad ordenada; (d) apilar() en Pila con tope al final.</a:t>
            </a:r>
          </a:p>
          <a:p>
            <a:r>
              <a:rPr lang="es-ES" sz="1600" b="1" dirty="0">
                <a:solidFill>
                  <a:srgbClr val="1C1C2A"/>
                </a:solidFill>
                <a:latin typeface="Calibri" pitchFamily="34" charset="0"/>
                <a:ea typeface="Calibri" pitchFamily="34" charset="-122"/>
                <a:cs typeface="Calibri" pitchFamily="34" charset="-120"/>
              </a:rPr>
              <a:t>9. (Costos — Diccionario</a:t>
            </a:r>
            <a:r>
              <a:rPr lang="es-ES" sz="1600" dirty="0">
                <a:solidFill>
                  <a:srgbClr val="1C1C2A"/>
                </a:solidFill>
                <a:latin typeface="Calibri" pitchFamily="34" charset="0"/>
                <a:ea typeface="Calibri" pitchFamily="34" charset="-122"/>
                <a:cs typeface="Calibri" pitchFamily="34" charset="-120"/>
              </a:rPr>
              <a:t>) </a:t>
            </a:r>
          </a:p>
          <a:p>
            <a:r>
              <a:rPr lang="es-ES" sz="1600" dirty="0">
                <a:solidFill>
                  <a:srgbClr val="1C1C2A"/>
                </a:solidFill>
                <a:latin typeface="Calibri" pitchFamily="34" charset="0"/>
                <a:ea typeface="Calibri" pitchFamily="34" charset="-122"/>
                <a:cs typeface="Calibri" pitchFamily="34" charset="-120"/>
              </a:rPr>
              <a:t>Explique por qué agregar(), eliminar() y recuperar() en la implementación estática de Diccionario son las tres O(n), a pesar de que ninguna de ellas “recorre” el arreglo completo en su propia lógica de inserción o borrado.</a:t>
            </a:r>
          </a:p>
          <a:p>
            <a:r>
              <a:rPr lang="es-ES" sz="1600" b="1" dirty="0">
                <a:solidFill>
                  <a:srgbClr val="1C1C2A"/>
                </a:solidFill>
                <a:latin typeface="Calibri" pitchFamily="34" charset="0"/>
                <a:ea typeface="Calibri" pitchFamily="34" charset="-122"/>
                <a:cs typeface="Calibri" pitchFamily="34" charset="-120"/>
              </a:rPr>
              <a:t>10. (Conceptual) </a:t>
            </a:r>
          </a:p>
          <a:p>
            <a:r>
              <a:rPr lang="es-ES" sz="1600" dirty="0">
                <a:solidFill>
                  <a:srgbClr val="1C1C2A"/>
                </a:solidFill>
                <a:latin typeface="Calibri" pitchFamily="34" charset="0"/>
                <a:ea typeface="Calibri" pitchFamily="34" charset="-122"/>
                <a:cs typeface="Calibri" pitchFamily="34" charset="-120"/>
              </a:rPr>
              <a:t>En términos generales, ¿qué significa que una operación tenga complejidad O(1) frente a O(n)? Dé un ejemplo de cada una, tomado de las estructuras vistas en clase (distintos de los ya mencionados en preguntas anteriores).</a:t>
            </a:r>
            <a:r>
              <a:rPr lang="en-US" sz="1600" dirty="0">
                <a:solidFill>
                  <a:srgbClr val="1C1C2A"/>
                </a:solidFill>
                <a:latin typeface="Calibri" pitchFamily="34" charset="0"/>
                <a:ea typeface="Calibri" pitchFamily="34" charset="-122"/>
                <a:cs typeface="Calibri" pitchFamily="34" charset="-120"/>
              </a:rPr>
              <a:t>.</a:t>
            </a:r>
            <a:endParaRPr lang="en-US" sz="1600" dirty="0"/>
          </a:p>
        </p:txBody>
      </p:sp>
      <p:sp>
        <p:nvSpPr>
          <p:cNvPr id="14" name="Text 12">
            <a:extLst>
              <a:ext uri="{FF2B5EF4-FFF2-40B4-BE49-F238E27FC236}">
                <a16:creationId xmlns:a16="http://schemas.microsoft.com/office/drawing/2014/main" id="{081D4A01-40BC-1D2D-57D3-61FBAD58EC10}"/>
              </a:ext>
            </a:extLst>
          </p:cNvPr>
          <p:cNvSpPr txBox="1"/>
          <p:nvPr/>
        </p:nvSpPr>
        <p:spPr>
          <a:xfrm>
            <a:off x="457200" y="6537960"/>
            <a:ext cx="8229600" cy="274320"/>
          </a:xfrm>
          <a:prstGeom prst="rect">
            <a:avLst/>
          </a:prstGeom>
          <a:noFill/>
          <a:ln/>
        </p:spPr>
        <p:txBody>
          <a:bodyPr wrap="square" lIns="0" tIns="0" rIns="0" bIns="0" rtlCol="0" anchor="ctr"/>
          <a:lstStyle/>
          <a:p>
            <a:pPr marL="0" indent="0" algn="l">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5" name="Text 13">
            <a:extLst>
              <a:ext uri="{FF2B5EF4-FFF2-40B4-BE49-F238E27FC236}">
                <a16:creationId xmlns:a16="http://schemas.microsoft.com/office/drawing/2014/main" id="{EA5A6465-7CCB-814A-EC79-4754F3C39032}"/>
              </a:ext>
            </a:extLst>
          </p:cNvPr>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62</a:t>
            </a:r>
            <a:endParaRPr lang="en-US" sz="1000" dirty="0"/>
          </a:p>
        </p:txBody>
      </p:sp>
    </p:spTree>
    <p:extLst>
      <p:ext uri="{BB962C8B-B14F-4D97-AF65-F5344CB8AC3E}">
        <p14:creationId xmlns:p14="http://schemas.microsoft.com/office/powerpoint/2010/main" val="15733856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marL="0" indent="0" algn="l">
              <a:buNone/>
            </a:pPr>
            <a:r>
              <a:rPr lang="en-US" sz="1300" b="1" kern="0" spc="200" dirty="0">
                <a:solidFill>
                  <a:srgbClr val="E8A33D"/>
                </a:solidFill>
                <a:latin typeface="Calibri" pitchFamily="34" charset="0"/>
                <a:ea typeface="Calibri" pitchFamily="34" charset="-122"/>
                <a:cs typeface="Calibri" pitchFamily="34" charset="-120"/>
              </a:rPr>
              <a:t>RECORDATORIO</a:t>
            </a:r>
            <a:endParaRPr lang="en-US" sz="1300" dirty="0"/>
          </a:p>
        </p:txBody>
      </p:sp>
      <p:sp>
        <p:nvSpPr>
          <p:cNvPr id="3" name="Text 1"/>
          <p:cNvSpPr txBox="1"/>
          <p:nvPr/>
        </p:nvSpPr>
        <p:spPr>
          <a:xfrm>
            <a:off x="548640" y="621792"/>
            <a:ext cx="10972800" cy="73152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Hoy vence la fecha sugerida de entrega del TP2</a:t>
            </a:r>
            <a:endParaRPr lang="en-US" sz="2800" dirty="0"/>
          </a:p>
        </p:txBody>
      </p:sp>
      <p:sp>
        <p:nvSpPr>
          <p:cNvPr id="4" name="Shape 2"/>
          <p:cNvSpPr/>
          <p:nvPr/>
        </p:nvSpPr>
        <p:spPr>
          <a:xfrm>
            <a:off x="640080" y="1600200"/>
            <a:ext cx="502920" cy="502920"/>
          </a:xfrm>
          <a:prstGeom prst="ellipse">
            <a:avLst/>
          </a:prstGeom>
          <a:solidFill>
            <a:srgbClr val="1E2761"/>
          </a:solidFill>
          <a:ln/>
        </p:spPr>
        <p:txBody>
          <a:bodyPr/>
          <a:lstStyle/>
          <a:p>
            <a:endParaRPr lang="es-AR"/>
          </a:p>
        </p:txBody>
      </p:sp>
      <p:sp>
        <p:nvSpPr>
          <p:cNvPr id="5" name="Text 3"/>
          <p:cNvSpPr txBox="1"/>
          <p:nvPr/>
        </p:nvSpPr>
        <p:spPr>
          <a:xfrm>
            <a:off x="640080" y="1600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325880" y="1554480"/>
            <a:ext cx="987552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TP2: TDA Diccionario e Implementaciones Dinámicas</a:t>
            </a:r>
            <a:endParaRPr lang="en-US" sz="1500" dirty="0"/>
          </a:p>
        </p:txBody>
      </p:sp>
      <p:sp>
        <p:nvSpPr>
          <p:cNvPr id="7" name="Text 5"/>
          <p:cNvSpPr txBox="1"/>
          <p:nvPr/>
        </p:nvSpPr>
        <p:spPr>
          <a:xfrm>
            <a:off x="1325880" y="1965960"/>
            <a:ext cx="9875520" cy="807720"/>
          </a:xfrm>
          <a:prstGeom prst="rect">
            <a:avLst/>
          </a:prstGeom>
          <a:noFill/>
          <a:ln/>
        </p:spPr>
        <p:txBody>
          <a:bodyPr wrap="square" lIns="0" tIns="0" rIns="0" bIns="0" rtlCol="0" anchor="t"/>
          <a:lstStyle/>
          <a:p>
            <a:pPr marL="0" indent="0">
              <a:buNone/>
            </a:pPr>
            <a:r>
              <a:rPr lang="en-US" sz="1300" dirty="0">
                <a:solidFill>
                  <a:srgbClr val="1C1C2A"/>
                </a:solidFill>
                <a:latin typeface="Calibri" pitchFamily="34" charset="0"/>
                <a:ea typeface="Calibri" pitchFamily="34" charset="-122"/>
                <a:cs typeface="Calibri" pitchFamily="34" charset="-120"/>
              </a:rPr>
              <a:t>Si todavía no lo entregaron, hoy es la fecha sugerida — es el momento de terminarlo.</a:t>
            </a:r>
            <a:endParaRPr lang="en-US" sz="1300" dirty="0"/>
          </a:p>
        </p:txBody>
      </p:sp>
      <p:sp>
        <p:nvSpPr>
          <p:cNvPr id="8" name="Shape 6"/>
          <p:cNvSpPr/>
          <p:nvPr/>
        </p:nvSpPr>
        <p:spPr>
          <a:xfrm>
            <a:off x="640080" y="2773680"/>
            <a:ext cx="502920" cy="502920"/>
          </a:xfrm>
          <a:prstGeom prst="ellipse">
            <a:avLst/>
          </a:prstGeom>
          <a:solidFill>
            <a:srgbClr val="1E2761"/>
          </a:solidFill>
          <a:ln/>
        </p:spPr>
        <p:txBody>
          <a:bodyPr/>
          <a:lstStyle/>
          <a:p>
            <a:endParaRPr lang="es-AR"/>
          </a:p>
        </p:txBody>
      </p:sp>
      <p:sp>
        <p:nvSpPr>
          <p:cNvPr id="9" name="Text 7"/>
          <p:cNvSpPr txBox="1"/>
          <p:nvPr/>
        </p:nvSpPr>
        <p:spPr>
          <a:xfrm>
            <a:off x="640080" y="2773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325880" y="2727960"/>
            <a:ext cx="987552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Por qué importa para el parcial</a:t>
            </a:r>
            <a:endParaRPr lang="en-US" sz="1500" dirty="0"/>
          </a:p>
        </p:txBody>
      </p:sp>
      <p:sp>
        <p:nvSpPr>
          <p:cNvPr id="11" name="Text 9"/>
          <p:cNvSpPr txBox="1"/>
          <p:nvPr/>
        </p:nvSpPr>
        <p:spPr>
          <a:xfrm>
            <a:off x="1325880" y="3139440"/>
            <a:ext cx="9875520" cy="807720"/>
          </a:xfrm>
          <a:prstGeom prst="rect">
            <a:avLst/>
          </a:prstGeom>
          <a:noFill/>
          <a:ln/>
        </p:spPr>
        <p:txBody>
          <a:bodyPr wrap="square" lIns="0" tIns="0" rIns="0" bIns="0" rtlCol="0" anchor="t"/>
          <a:lstStyle/>
          <a:p>
            <a:pPr marL="0" indent="0">
              <a:buNone/>
            </a:pPr>
            <a:r>
              <a:rPr lang="en-US" sz="1300" dirty="0">
                <a:solidFill>
                  <a:srgbClr val="1C1C2A"/>
                </a:solidFill>
                <a:latin typeface="Calibri" pitchFamily="34" charset="0"/>
                <a:ea typeface="Calibri" pitchFamily="34" charset="-122"/>
                <a:cs typeface="Calibri" pitchFamily="34" charset="-120"/>
              </a:rPr>
              <a:t>Practica exactamente los mismos temas del Ejercicio 4 (uso de un TDA dinámico) y del Ejercicio 5 (complejidad espacial) del examen.</a:t>
            </a:r>
            <a:endParaRPr lang="en-US" sz="1300" dirty="0"/>
          </a:p>
        </p:txBody>
      </p:sp>
      <p:sp>
        <p:nvSpPr>
          <p:cNvPr id="12" name="Shape 10"/>
          <p:cNvSpPr/>
          <p:nvPr/>
        </p:nvSpPr>
        <p:spPr>
          <a:xfrm>
            <a:off x="640080" y="3947160"/>
            <a:ext cx="502920" cy="502920"/>
          </a:xfrm>
          <a:prstGeom prst="ellipse">
            <a:avLst/>
          </a:prstGeom>
          <a:solidFill>
            <a:srgbClr val="1E2761"/>
          </a:solidFill>
          <a:ln/>
        </p:spPr>
        <p:txBody>
          <a:bodyPr/>
          <a:lstStyle/>
          <a:p>
            <a:endParaRPr lang="es-AR"/>
          </a:p>
        </p:txBody>
      </p:sp>
      <p:sp>
        <p:nvSpPr>
          <p:cNvPr id="13" name="Text 11"/>
          <p:cNvSpPr txBox="1"/>
          <p:nvPr/>
        </p:nvSpPr>
        <p:spPr>
          <a:xfrm>
            <a:off x="640080" y="39471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1325880" y="3901440"/>
            <a:ext cx="987552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¿Dudas de último momento?</a:t>
            </a:r>
            <a:endParaRPr lang="en-US" sz="1500" dirty="0"/>
          </a:p>
        </p:txBody>
      </p:sp>
      <p:sp>
        <p:nvSpPr>
          <p:cNvPr id="15" name="Text 13"/>
          <p:cNvSpPr txBox="1"/>
          <p:nvPr/>
        </p:nvSpPr>
        <p:spPr>
          <a:xfrm>
            <a:off x="1325880" y="4312920"/>
            <a:ext cx="9875520" cy="807720"/>
          </a:xfrm>
          <a:prstGeom prst="rect">
            <a:avLst/>
          </a:prstGeom>
          <a:noFill/>
          <a:ln/>
        </p:spPr>
        <p:txBody>
          <a:bodyPr wrap="square" lIns="0" tIns="0" rIns="0" bIns="0" rtlCol="0" anchor="t"/>
          <a:lstStyle/>
          <a:p>
            <a:pPr marL="0" indent="0">
              <a:buNone/>
            </a:pPr>
            <a:r>
              <a:rPr lang="en-US" sz="1300" dirty="0">
                <a:solidFill>
                  <a:srgbClr val="1C1C2A"/>
                </a:solidFill>
                <a:latin typeface="Calibri" pitchFamily="34" charset="0"/>
                <a:ea typeface="Calibri" pitchFamily="34" charset="-122"/>
                <a:cs typeface="Calibri" pitchFamily="34" charset="-120"/>
              </a:rPr>
              <a:t>Este es el espacio para resolverlas, antes de la ronda de consultas abiertas del final de la clase.</a:t>
            </a:r>
            <a:endParaRPr lang="en-US" sz="1300" dirty="0"/>
          </a:p>
        </p:txBody>
      </p:sp>
      <p:sp>
        <p:nvSpPr>
          <p:cNvPr id="16" name="Shape 14"/>
          <p:cNvSpPr/>
          <p:nvPr/>
        </p:nvSpPr>
        <p:spPr>
          <a:xfrm>
            <a:off x="548640" y="5212080"/>
            <a:ext cx="11064240" cy="1051560"/>
          </a:xfrm>
          <a:prstGeom prst="roundRect">
            <a:avLst>
              <a:gd name="adj" fmla="val 3478"/>
            </a:avLst>
          </a:prstGeom>
          <a:solidFill>
            <a:srgbClr val="1E2761"/>
          </a:solidFill>
          <a:ln/>
        </p:spPr>
        <p:txBody>
          <a:bodyPr/>
          <a:lstStyle/>
          <a:p>
            <a:endParaRPr lang="es-AR"/>
          </a:p>
        </p:txBody>
      </p:sp>
      <p:sp>
        <p:nvSpPr>
          <p:cNvPr id="17" name="Text 15"/>
          <p:cNvSpPr txBox="1"/>
          <p:nvPr/>
        </p:nvSpPr>
        <p:spPr>
          <a:xfrm>
            <a:off x="822960" y="5212080"/>
            <a:ext cx="1060704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La entrega no bloquea seguir cursando, pero sí es la práctica más parecida al parcial que van a tener disponible antes del 14/9.</a:t>
            </a:r>
            <a:endParaRPr lang="en-US" sz="1300" dirty="0"/>
          </a:p>
        </p:txBody>
      </p:sp>
      <p:sp>
        <p:nvSpPr>
          <p:cNvPr id="18" name="Text 16"/>
          <p:cNvSpPr txBox="1"/>
          <p:nvPr/>
        </p:nvSpPr>
        <p:spPr>
          <a:xfrm>
            <a:off x="457200" y="6537960"/>
            <a:ext cx="8229600" cy="274320"/>
          </a:xfrm>
          <a:prstGeom prst="rect">
            <a:avLst/>
          </a:prstGeom>
          <a:noFill/>
          <a:ln/>
        </p:spPr>
        <p:txBody>
          <a:bodyPr wrap="square" lIns="0" tIns="0" rIns="0" bIns="0" rtlCol="0" anchor="ctr"/>
          <a:lstStyle/>
          <a:p>
            <a:pPr marL="0" indent="0" algn="l">
              <a:buNone/>
            </a:pPr>
            <a:r>
              <a:rPr lang="en-US" sz="1000" dirty="0">
                <a:solidFill>
                  <a:srgbClr val="5B6472"/>
                </a:solidFill>
                <a:latin typeface="Calibri" pitchFamily="34" charset="0"/>
                <a:ea typeface="Calibri" pitchFamily="34" charset="-122"/>
                <a:cs typeface="Calibri" pitchFamily="34" charset="-120"/>
              </a:rPr>
              <a:t>Algoritmos y Estructuras de Datos II  |  Clase 6</a:t>
            </a:r>
            <a:endParaRPr lang="en-US" sz="1000" dirty="0"/>
          </a:p>
        </p:txBody>
      </p:sp>
      <p:sp>
        <p:nvSpPr>
          <p:cNvPr id="19" name="Text 17"/>
          <p:cNvSpPr txBox="1"/>
          <p:nvPr/>
        </p:nvSpPr>
        <p:spPr>
          <a:xfrm>
            <a:off x="11521440" y="6537960"/>
            <a:ext cx="45720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63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TotalTime>
  <Words>9002</Words>
  <Application>Microsoft Office PowerPoint</Application>
  <PresentationFormat>Panorámica</PresentationFormat>
  <Paragraphs>804</Paragraphs>
  <Slides>63</Slides>
  <Notes>57</Notes>
  <HiddenSlides>0</HiddenSlides>
  <MMClips>8</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63</vt:i4>
      </vt:variant>
    </vt:vector>
  </HeadingPairs>
  <TitlesOfParts>
    <vt:vector size="68"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maximiliano coedo</cp:lastModifiedBy>
  <cp:revision>6</cp:revision>
  <dcterms:created xsi:type="dcterms:W3CDTF">2026-08-30T23:09:35Z</dcterms:created>
  <dcterms:modified xsi:type="dcterms:W3CDTF">2026-09-07T20:53:06Z</dcterms:modified>
</cp:coreProperties>
</file>